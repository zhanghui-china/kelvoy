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505421d3e4bc2" /><Relationship Type="http://schemas.openxmlformats.org/officeDocument/2006/relationships/extended-properties" Target="/docProps/app.xml" Id="R6438aa5f42544a18" /><Relationship Type="http://schemas.openxmlformats.org/officeDocument/2006/relationships/officeDocument" Target="/ppt/presentation.xml" Id="R3c000a812823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b5a559b0a44ce8"/>
  </p:sldMasterIdLst>
  <p:notesMasterIdLst>
    <p:notesMasterId xmlns:r="http://schemas.openxmlformats.org/officeDocument/2006/relationships" r:id="Radc9a1729ee14004"/>
  </p:notesMasterIdLst>
  <p:sldIdLst>
    <p:sldId xmlns:r="http://schemas.openxmlformats.org/officeDocument/2006/relationships" id="256" r:id="Re55c1e780972485e"/>
    <p:sldId xmlns:r="http://schemas.openxmlformats.org/officeDocument/2006/relationships" id="257" r:id="R84a106a2626c4bc9"/>
    <p:sldId xmlns:r="http://schemas.openxmlformats.org/officeDocument/2006/relationships" id="258" r:id="R638806dfb76c4717"/>
    <p:sldId xmlns:r="http://schemas.openxmlformats.org/officeDocument/2006/relationships" id="259" r:id="R51eeef6997ce4949"/>
    <p:sldId xmlns:r="http://schemas.openxmlformats.org/officeDocument/2006/relationships" id="260" r:id="Ree4dc7544c2f41fa"/>
    <p:sldId xmlns:r="http://schemas.openxmlformats.org/officeDocument/2006/relationships" id="261" r:id="R9b77ca076d514d55"/>
    <p:sldId xmlns:r="http://schemas.openxmlformats.org/officeDocument/2006/relationships" id="262" r:id="Rc89d9ccde0134f1c"/>
    <p:sldId xmlns:r="http://schemas.openxmlformats.org/officeDocument/2006/relationships" id="263" r:id="Rfd71e6a13b564e97"/>
    <p:sldId xmlns:r="http://schemas.openxmlformats.org/officeDocument/2006/relationships" id="264" r:id="R17d476c22e4343ed"/>
    <p:sldId xmlns:r="http://schemas.openxmlformats.org/officeDocument/2006/relationships" id="265" r:id="R62258508beb748f4"/>
    <p:sldId xmlns:r="http://schemas.openxmlformats.org/officeDocument/2006/relationships" id="266" r:id="Raaa2531433b94677"/>
    <p:sldId xmlns:r="http://schemas.openxmlformats.org/officeDocument/2006/relationships" id="267" r:id="R6925ea657e954071"/>
    <p:sldId xmlns:r="http://schemas.openxmlformats.org/officeDocument/2006/relationships" id="268" r:id="R5b8f3d60fe724d15"/>
    <p:sldId xmlns:r="http://schemas.openxmlformats.org/officeDocument/2006/relationships" id="269" r:id="R1ccd236c5bec4c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5ab9220b345a3" /><Relationship Type="http://schemas.openxmlformats.org/officeDocument/2006/relationships/slideMaster" Target="/ppt/slideMasters/slideMaster1.xml" Id="R86b5a559b0a44ce8" /><Relationship Type="http://schemas.openxmlformats.org/officeDocument/2006/relationships/notesMaster" Target="/ppt/notesMasters/notesMaster1.xml" Id="Radc9a1729ee14004" /><Relationship Type="http://schemas.openxmlformats.org/officeDocument/2006/relationships/presProps" Target="/ppt/presProps.xml" Id="Rb4d602976bbb483f" /><Relationship Type="http://schemas.openxmlformats.org/officeDocument/2006/relationships/tableStyles" Target="/ppt/tableStyles.xml" Id="R34216412eecd42ae" /><Relationship Type="http://schemas.openxmlformats.org/officeDocument/2006/relationships/slide" Target="/ppt/slides/slide1.xml" Id="Re55c1e780972485e" /><Relationship Type="http://schemas.openxmlformats.org/officeDocument/2006/relationships/slide" Target="/ppt/slides/slide2.xml" Id="R84a106a2626c4bc9" /><Relationship Type="http://schemas.openxmlformats.org/officeDocument/2006/relationships/slide" Target="/ppt/slides/slide3.xml" Id="R638806dfb76c4717" /><Relationship Type="http://schemas.openxmlformats.org/officeDocument/2006/relationships/slide" Target="/ppt/slides/slide4.xml" Id="R51eeef6997ce4949" /><Relationship Type="http://schemas.openxmlformats.org/officeDocument/2006/relationships/slide" Target="/ppt/slides/slide5.xml" Id="Ree4dc7544c2f41fa" /><Relationship Type="http://schemas.openxmlformats.org/officeDocument/2006/relationships/slide" Target="/ppt/slides/slide6.xml" Id="R9b77ca076d514d55" /><Relationship Type="http://schemas.openxmlformats.org/officeDocument/2006/relationships/slide" Target="/ppt/slides/slide7.xml" Id="Rc89d9ccde0134f1c" /><Relationship Type="http://schemas.openxmlformats.org/officeDocument/2006/relationships/slide" Target="/ppt/slides/slide8.xml" Id="Rfd71e6a13b564e97" /><Relationship Type="http://schemas.openxmlformats.org/officeDocument/2006/relationships/slide" Target="/ppt/slides/slide9.xml" Id="R17d476c22e4343ed" /><Relationship Type="http://schemas.openxmlformats.org/officeDocument/2006/relationships/slide" Target="/ppt/slides/slide10.xml" Id="R62258508beb748f4" /><Relationship Type="http://schemas.openxmlformats.org/officeDocument/2006/relationships/slide" Target="/ppt/slides/slide11.xml" Id="Raaa2531433b94677" /><Relationship Type="http://schemas.openxmlformats.org/officeDocument/2006/relationships/slide" Target="/ppt/slides/slide12.xml" Id="R6925ea657e954071" /><Relationship Type="http://schemas.openxmlformats.org/officeDocument/2006/relationships/slide" Target="/ppt/slides/slide13.xml" Id="R5b8f3d60fe724d15" /><Relationship Type="http://schemas.openxmlformats.org/officeDocument/2006/relationships/slide" Target="/ppt/slides/slide14.xml" Id="R1ccd236c5bec4c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ed3c469e249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1a58cab294343" /><Relationship Type="http://schemas.openxmlformats.org/officeDocument/2006/relationships/notesMaster" Target="/ppt/notesMasters/notesMaster1.xml" Id="R6209c14a697d42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f76b9ad2404346" /><Relationship Type="http://schemas.openxmlformats.org/officeDocument/2006/relationships/notesMaster" Target="/ppt/notesMasters/notesMaster1.xml" Id="R1c8738a31dd1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af6e8143e14d41" /><Relationship Type="http://schemas.openxmlformats.org/officeDocument/2006/relationships/notesMaster" Target="/ppt/notesMasters/notesMaster1.xml" Id="R13790ef0294e44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74f1f829eb4492" /><Relationship Type="http://schemas.openxmlformats.org/officeDocument/2006/relationships/notesMaster" Target="/ppt/notesMasters/notesMaster1.xml" Id="Rd376edb148db45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dbd1cd3a54c86" /><Relationship Type="http://schemas.openxmlformats.org/officeDocument/2006/relationships/notesMaster" Target="/ppt/notesMasters/notesMaster1.xml" Id="R0da4441e2c734f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a8ed8cf90e409a" /><Relationship Type="http://schemas.openxmlformats.org/officeDocument/2006/relationships/notesMaster" Target="/ppt/notesMasters/notesMaster1.xml" Id="R33cad8afe162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8d3d4d60934295" /><Relationship Type="http://schemas.openxmlformats.org/officeDocument/2006/relationships/notesMaster" Target="/ppt/notesMasters/notesMaster1.xml" Id="R0506eca4b84a49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be907101142f3" /><Relationship Type="http://schemas.openxmlformats.org/officeDocument/2006/relationships/notesMaster" Target="/ppt/notesMasters/notesMaster1.xml" Id="R0c59aa6b8404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7353babe0a480d" /><Relationship Type="http://schemas.openxmlformats.org/officeDocument/2006/relationships/notesMaster" Target="/ppt/notesMasters/notesMaster1.xml" Id="R018d17d0d84849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85c2d4b1744c7c" /><Relationship Type="http://schemas.openxmlformats.org/officeDocument/2006/relationships/notesMaster" Target="/ppt/notesMasters/notesMaster1.xml" Id="R1bd550230f4842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a928aa18e24b04" /><Relationship Type="http://schemas.openxmlformats.org/officeDocument/2006/relationships/notesMaster" Target="/ppt/notesMasters/notesMaster1.xml" Id="Rd637c19bb80647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ce6b4d782240ce" /><Relationship Type="http://schemas.openxmlformats.org/officeDocument/2006/relationships/notesMaster" Target="/ppt/notesMasters/notesMaster1.xml" Id="R15463d5e36e347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655f72b49340d8" /><Relationship Type="http://schemas.openxmlformats.org/officeDocument/2006/relationships/notesMaster" Target="/ppt/notesMasters/notesMaster1.xml" Id="R62ccfaddf89549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4b3ea96d3740bd" /><Relationship Type="http://schemas.openxmlformats.org/officeDocument/2006/relationships/notesMaster" Target="/ppt/notesMasters/notesMaster1.xml" Id="Re2a1ae2e9a12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来源：docs/AI旅行Vlog生产工作台_PRD_v0.2.md §1；docs/Kelvoy_AI旅行Vlog生产工作台项目说明文档.md。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§1「为什么做 / 定位」；项目说明文档 §1.3。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 一句话定义、FR-14；assets/demo/catalog.json。实景图仅作产品演示。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 定位（差异点）；项目说明文档 §1.3。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§4 核心流程、§18 固定一秒剪辑；项目说明文档 §2.1。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v0.2「当前实施补充：人物与场景直出视频」「§18 固定一秒剪辑迁移」。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§18 固定一秒剪辑迁移；§8 合规（AI 标识）。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来源：docs/architecture.md；docs/decisions/0004-local-sqlite-no-cloud-infra.md；项目说明文档 §3.1。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§7 模型与工具适配层；services/inference/README.md；项目说明文档 §3.5。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来源：apps/worker 源码与 README；docs/decisions/0007；docs/audit/。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价格与估算口径：packages/store/src/schema.ts（credit_prices）、packages/engine/src/rules/credits.ts、PRD v0.2「当前实施补充」。图表为 28 镜理论估算。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来源：PRD v0.2 §8 非功能需求（合规 / 内容安全 / 质量）；项目说明文档 §五。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来源：apps/web/src/frontend/guide.ts（六步指引）；PRD v0.2 §10 比赛 Demo 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项目团队；项目说明文档 §十。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f2f0df94a4c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7c2c9993846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8c60eb4684a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e1608043c4f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5f12938fd47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a135de5a3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4820488-F258-470A-A0BC-1E7DE833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FA4EC1-5804-451E-A832-C0120F553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10B79F7-1EF5-4F8F-9B22-5B6FD45E22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B4A057E-5574-457A-899B-5041689A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095AA5-824A-4C55-92A1-6D27C8A9B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231AFC3-C459-4553-A24C-05620F40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6A6198-EC9C-4A84-A22C-9830C99CA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361CA7E-7586-4E90-9FF9-1B1B42A2E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4A2FA15-90FA-4C86-9FF3-DB5A48B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01C47A-8D80-4C5A-91B7-85D96D7020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8F01C8-9DBB-47AC-ADCE-D6F47188D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48F7C8-8117-475D-8523-34621A5EC3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4075F6E-CE03-43DA-B477-66A95B05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73F6EE-BE3E-4683-9793-A3591E430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188EF0-05FC-4EF7-8EBE-456178B1E3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7cdf16bf54f6d" /><Relationship Type="http://schemas.openxmlformats.org/officeDocument/2006/relationships/slideLayout" Target="/ppt/slideLayouts/slideLayout1.xml" Id="R54f2bfc7dc434b9c" /><Relationship Type="http://schemas.openxmlformats.org/officeDocument/2006/relationships/slideLayout" Target="/ppt/slideLayouts/slideLayout2.xml" Id="Rc1849fc97aad482c" /><Relationship Type="http://schemas.openxmlformats.org/officeDocument/2006/relationships/slideLayout" Target="/ppt/slideLayouts/slideLayout3.xml" Id="Re799d5bf478542ec" /><Relationship Type="http://schemas.openxmlformats.org/officeDocument/2006/relationships/slideLayout" Target="/ppt/slideLayouts/slideLayout4.xml" Id="Rf5ece6a40d004a0d" /><Relationship Type="http://schemas.openxmlformats.org/officeDocument/2006/relationships/slideLayout" Target="/ppt/slideLayouts/slideLayout5.xml" Id="Red3d0c58c65346f0" /><Relationship Type="http://schemas.openxmlformats.org/officeDocument/2006/relationships/slideLayout" Target="/ppt/slideLayouts/slideLayout6.xml" Id="R72b3aab10f93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2bfc7dc434b9c"/>
    <p:sldLayoutId xmlns:r="http://schemas.openxmlformats.org/officeDocument/2006/relationships" id="2147483650" r:id="Rc1849fc97aad482c"/>
    <p:sldLayoutId xmlns:r="http://schemas.openxmlformats.org/officeDocument/2006/relationships" id="2147483651" r:id="Re799d5bf478542ec"/>
    <p:sldLayoutId xmlns:r="http://schemas.openxmlformats.org/officeDocument/2006/relationships" id="2147483652" r:id="Rf5ece6a40d004a0d"/>
    <p:sldLayoutId xmlns:r="http://schemas.openxmlformats.org/officeDocument/2006/relationships" id="2147483653" r:id="Red3d0c58c65346f0"/>
    <p:sldLayoutId xmlns:r="http://schemas.openxmlformats.org/officeDocument/2006/relationships" id="2147483654" r:id="R72b3aab10f93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1380f8b95432b" /><Relationship Type="http://schemas.openxmlformats.org/officeDocument/2006/relationships/image" Target="/ppt/media/image.jpeg" Id="R6a9a202593b24145" /><Relationship Type="http://schemas.openxmlformats.org/officeDocument/2006/relationships/notesSlide" Target="/ppt/notesSlides/notesSlide1.xml" Id="Ra9cc3f29f0c4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64a70ff74a4564" /><Relationship Type="http://schemas.openxmlformats.org/officeDocument/2006/relationships/notesSlide" Target="/ppt/notesSlides/notesSlide2.xml" Id="R9ec80342f9e24f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0e41de9e84f0c" /><Relationship Type="http://schemas.openxmlformats.org/officeDocument/2006/relationships/image" Target="/ppt/media/image2.jpeg" Id="Ra87caca1ba7348b1" /><Relationship Type="http://schemas.openxmlformats.org/officeDocument/2006/relationships/image" Target="/ppt/media/image3.jpeg" Id="R5cdb826a186849c6" /><Relationship Type="http://schemas.openxmlformats.org/officeDocument/2006/relationships/image" Target="/ppt/media/image4.jpeg" Id="Rd25e67e0dce440bc" /><Relationship Type="http://schemas.openxmlformats.org/officeDocument/2006/relationships/image" Target="/ppt/media/image5.jpeg" Id="Rcedc27f5ac974f58" /><Relationship Type="http://schemas.openxmlformats.org/officeDocument/2006/relationships/image" Target="/ppt/media/image6.jpeg" Id="R8cd1ba19594a432f" /><Relationship Type="http://schemas.openxmlformats.org/officeDocument/2006/relationships/image" Target="/ppt/media/image7.jpeg" Id="Raa982520fc534b72" /><Relationship Type="http://schemas.openxmlformats.org/officeDocument/2006/relationships/notesSlide" Target="/ppt/notesSlides/notesSlide3.xml" Id="R212a217906bc4e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19fde8b53d4b30" /><Relationship Type="http://schemas.openxmlformats.org/officeDocument/2006/relationships/notesSlide" Target="/ppt/notesSlides/notesSlide4.xml" Id="Re36e4a07f7dc48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9f0633ffe4bc8" /><Relationship Type="http://schemas.openxmlformats.org/officeDocument/2006/relationships/notesSlide" Target="/ppt/notesSlides/notesSlide5.xml" Id="R6642ab5b85b34a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d6069b7a04056" /><Relationship Type="http://schemas.openxmlformats.org/officeDocument/2006/relationships/notesSlide" Target="/ppt/notesSlides/notesSlide6.xml" Id="Rb55dd2c7885f46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212f79ad847c8" /><Relationship Type="http://schemas.openxmlformats.org/officeDocument/2006/relationships/notesSlide" Target="/ppt/notesSlides/notesSlide7.xml" Id="R7197751099f941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0afea560a4ab2" /><Relationship Type="http://schemas.openxmlformats.org/officeDocument/2006/relationships/notesSlide" Target="/ppt/notesSlides/notesSlide8.xml" Id="Re3e93d06f7034f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967225ed34ed5" /><Relationship Type="http://schemas.openxmlformats.org/officeDocument/2006/relationships/notesSlide" Target="/ppt/notesSlides/notesSlide9.xml" Id="R48220de50d9246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ee122dc9c4746" /><Relationship Type="http://schemas.openxmlformats.org/officeDocument/2006/relationships/notesSlide" Target="/ppt/notesSlides/notesSlide10.xml" Id="Rca700c2eb94449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241dfe7f44004" /><Relationship Type="http://schemas.openxmlformats.org/officeDocument/2006/relationships/chart" Target="/ppt/slides/charts/chart1.xml" Id="R4a2eb28fe87643f0" /><Relationship Type="http://schemas.openxmlformats.org/officeDocument/2006/relationships/notesSlide" Target="/ppt/notesSlides/notesSlide11.xml" Id="Rc60af5990b864d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1098e2e264ad8" /><Relationship Type="http://schemas.openxmlformats.org/officeDocument/2006/relationships/notesSlide" Target="/ppt/notesSlides/notesSlide12.xml" Id="Re795b3f117f643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005384cba4197" /><Relationship Type="http://schemas.openxmlformats.org/officeDocument/2006/relationships/notesSlide" Target="/ppt/notesSlides/notesSlide13.xml" Id="R8523d3524c8143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ba87deda14295" /><Relationship Type="http://schemas.openxmlformats.org/officeDocument/2006/relationships/notesSlide" Target="/ppt/notesSlides/notesSlide14.xml" Id="Rb69193640007487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一期积分</c:v>
          </c:tx>
          <c:spPr>
            <a:solidFill xmlns:a="http://schemas.openxmlformats.org/drawingml/2006/main">
              <a:srgbClr val="2563FF"/>
            </a:solidFill>
          </c:spPr>
          <c:cat>
            <c:strRef>
              <c:f>'Chart Data'!$A$2:$A$5</c:f>
              <c:strCache>
                <c:ptCount val="4"/>
                <c:pt idx="0">
                  <c:v>直出视频</c:v>
                </c:pt>
                <c:pt idx="1">
                  <c:v>关键帧 ×1</c:v>
                </c:pt>
                <c:pt idx="2">
                  <c:v>关键帧 ×2</c:v>
                </c:pt>
                <c:pt idx="3">
                  <c:v>关键帧 ×3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282</c:v>
                </c:pt>
                <c:pt idx="1">
                  <c:v>310</c:v>
                </c:pt>
                <c:pt idx="2">
                  <c:v>338</c:v>
                </c:pt>
                <c:pt idx="3">
                  <c:v>366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a202593b24145"/>
          <a:srcRect xmlns:a="http://schemas.openxmlformats.org/drawingml/2006/main" l="0" t="22807" r="0" b="22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095750"/>
            <a:ext cx="12192000" cy="2762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30D9D-CBB8-400C-ABA6-52EAF824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95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D477A-B662-4AC5-AAF5-B7C1941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第三届 NVIDIA DGX Spark 黑客松 ·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3AB5F-7692-45E0-8EBF-491A453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Kelvoy 可旅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BC451-02BF-49A6-B010-8E7E695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AI 旅行 Vlog 生产工作台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0CF10-DB9F-4264-A11B-B0B624F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选一个角色，去一个真实的地方，一期旅行 Vlog 自动生成。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86A8E-92AF-4756-BBA3-1D0928F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24–30 镜 · 每镜 1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5B778-F55F-4301-B036-CC03352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9:16 /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E1993-7958-4A0B-BAC9-5FD72A0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三个审核点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860BB-03FD-434E-BC4D-17EF194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本地 DGX Spark</a:t>
            </a:r>
          </a:p>
        </p:txBody>
      </p:sp>
    </p:spTree>
    <p:extLst>
      <p:ext uri="{BB962C8B-B14F-4D97-AF65-F5344CB8AC3E}">
        <p14:creationId xmlns:p14="http://schemas.microsoft.com/office/powerpoint/2010/main" val="632400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0852D-7DE4-4DF9-BD8F-A8586AB3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D642-74CC-4D95-916D-76F5675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旅行内容持续生产，卡在三件事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02289-5E62-4CE0-B000-298CAAD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B430C-9E86-4CFB-9D36-984B887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B7C7A-BFB2-4309-B7D8-6644EE13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D7FF2-9887-457A-AAFF-7B7FB5FD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25FD0-722D-4D47-A0B8-D21807A2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真人出镜成本高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4E082-3D21-413E-8516-5674CDBE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拍摄与档期贵，人设跨期难一致；换一期就换一张脸，账号资产沉淀不下来。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D029E-91B4-462A-8261-5B494F45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B424C-D9C8-4BFD-8A21-1C4CAE7E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265C5-7EED-41D1-A5DC-6B04D408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71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FF7BD-D803-459A-994B-B950BEE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通用 AI 工具是黑盒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6FA01-E253-4796-B93E-BA14805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一键生成不可控、不可改；通用剪辑器只管剪，不管内容从哪来。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A7DCB-072D-490A-882F-3EBED863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811FF-FDA4-406D-86A9-7556D084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F7EA6-2DE1-4299-BC75-AE811B9C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71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90731-3D6F-4FD6-B0F3-28E1BB6C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479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文旅与代运营要持续产出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F72FD-BDC5-4242-833A-D58CB66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同一账号、多个目的地、稳定更新——现有工具没有为这个场景设计。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C2CB5-1430-4A69-9674-67DCB0E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solidFill>
              <a:srgbClr val="2563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25270-9396-4143-B2B3-54D175F8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80EFE-ACA3-4F46-BF7B-E47064AC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参考片验证了「静帧锁一致性 + 1 秒一镜」可稳定出片；DGX Spark 128GB 统一内存让脚本、图像、视频、合成在单机跑成流水线。</a:t>
            </a:r>
          </a:p>
        </p:txBody>
      </p:sp>
    </p:spTree>
    <p:extLst>
      <p:ext uri="{BB962C8B-B14F-4D97-AF65-F5344CB8AC3E}">
        <p14:creationId xmlns:p14="http://schemas.microsoft.com/office/powerpoint/2010/main" val="694519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64468-A6E6-4B68-B8C3-9FFA0DB2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产品定义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E40A1-EBFB-4C85-B101-DF7CD856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一个角色 + 一个景区，换回一期 30 秒旅行 Vlog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CDD50-8763-49B3-9EF0-852163D9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72CF8-F9E1-4E66-9883-30FEC1E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caca1ba7348b1"/>
          <a:srcRect xmlns:a="http://schemas.openxmlformats.org/drawingml/2006/main" l="476" t="0" r="4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990600" cy="12001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BF8DA-4F07-408A-A941-304D672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A123D-3325-4B6F-B595-F1E3F6A8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虚拟角色（账号级资产）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C94AA-0E9F-47B6-8287-1FCA480D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三视图参考锁定外形，每期可换穿搭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537AA-0FA3-44EC-ABEE-0C73359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533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9573A-63E7-4660-89DE-5C47E87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28750"/>
            <a:ext cx="30099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8AE4A-C7EE-46F0-9FB8-0488AD8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三个人工选择点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A180B-3E1E-4D1C-B78E-C61C716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240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1 · 脚本：改、删、重生成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20227-63E8-4CB0-9994-C9E5B33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2 · 关键帧：逐镜挑图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BED5F-613B-4895-A21A-FE12D143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3 · 片段：选 1 秒 + 红线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96605-56A3-4129-A868-4C3BAF2A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533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34189-0D73-4825-848C-87FD7BA4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505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solidFill>
              <a:srgbClr val="2563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12C82-E79B-483E-B699-CFDF99E0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71FBE-A0CA-47F1-8110-E1330673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一期旅行 Vlog 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86A68-B0F8-4158-A8C1-4892CAC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· 24–30 镜 · 每镜 1 秒 · 约 30 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07848-5149-4C67-B177-09EDFA51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· 9:16 竖屏（默认）或 16:9 横屏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B8E5B-8FA6-4CCC-BDC2-2D290225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9F0FF"/>
                </a:solidFill>
                <a:latin typeface="Microsoft YaHei"/>
                <a:ea typeface="Microsoft YaHei"/>
                <a:cs typeface="Microsoft YaHei"/>
              </a:rPr>
              <a:t>· 带字幕、LUT、AI 标识；可分享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8FC26-076E-4BD5-A94B-4D90E4E7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目的地是共享资产：官方维护景区级符号包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b826a186849c6"/>
          <a:srcRect xmlns:a="http://schemas.openxmlformats.org/drawingml/2006/main" l="0" t="9119" r="0" b="9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D0BCC-9E49-49A1-8D4C-6E257C3B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无锡南长街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e67e0dce440bc"/>
          <a:srcRect xmlns:a="http://schemas.openxmlformats.org/drawingml/2006/main" l="0" t="9119" r="0" b="9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93973-A8D2-4262-A049-6299B9FA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无锡拈花湾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c27f5ac974f58"/>
          <a:srcRect xmlns:a="http://schemas.openxmlformats.org/drawingml/2006/main" l="0" t="2538" r="0" b="2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2B02E8-F7DE-44B5-A732-466AAC3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无锡灵山大佛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1ba19594a432f"/>
          <a:srcRect xmlns:a="http://schemas.openxmlformats.org/drawingml/2006/main" l="0" t="861" r="0" b="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0E49A-782B-40D5-97B7-179F9E7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泰山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82520fc534b72"/>
          <a:srcRect xmlns:a="http://schemas.openxmlformats.org/drawingml/2006/main" l="0" t="9119" r="0" b="9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4324350"/>
            <a:ext cx="20193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A5CEA-57F7-4BC6-AC86-6B54FED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7685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341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A38618-F57F-4805-81D1-A24C04B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每个地标 3–10 张实景参考图 + 最佳机位 / 时段 + 必须保真特征；首批内置五个景区</a:t>
            </a:r>
          </a:p>
        </p:txBody>
      </p:sp>
    </p:spTree>
    <p:extLst>
      <p:ext uri="{BB962C8B-B14F-4D97-AF65-F5344CB8AC3E}">
        <p14:creationId xmlns:p14="http://schemas.microsoft.com/office/powerpoint/2010/main" val="1312895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492BF-15E0-4F08-A0E5-358FB80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7F676-8A1C-4108-BC82-5454F926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不做通用视频生成器，只做「角色 × 目的地」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FD063-ADBE-4D8D-AA18-6226411A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0234"/>
                <a:gridCol w="3783724"/>
                <a:gridCol w="4918841"/>
              </a:tblGrid>
              <a:tr h="682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 AI 视频工具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Kelvoy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每次重新描述，形象随机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账号级资产：外形跨期一致，每期换穿搭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目的地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不懂地标，容易失真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景区级符号包 + 实景参考图保真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叙事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自由发挥，质量看运气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六种目的地类型对应六种镜头语法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一键黑盒，不可干预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六阶段 + 人工审核点，可改、可重跑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按次付费，不可控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DGX 为主 + API 溢出，整期上限 ¥20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A637D-EE7D-43FD-80C1-EA3F319C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护城河不在模型，在角色资产、目的地库和跨期一致性</a:t>
            </a:r>
          </a:p>
        </p:txBody>
      </p:sp>
    </p:spTree>
    <p:extLst>
      <p:ext uri="{BB962C8B-B14F-4D97-AF65-F5344CB8AC3E}">
        <p14:creationId xmlns:p14="http://schemas.microsoft.com/office/powerpoint/2010/main" val="1765042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C4E3A5-47F2-415B-A0D5-1D537964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流水线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2847E-4B8C-492E-BB30-ADA9E502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六阶段生成，三个人工审核点兜住质量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8F5E4-F8EF-49C7-A104-7A7835F7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B5325-0D12-44AC-8C1F-397EF86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E3E71-5763-4B52-BA7B-24194481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FE9A5-220C-4421-8637-03D020E6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建期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02C15-D783-40AE-9CCA-CA063EB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角色 / 目的地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模板 / 画幅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7ECF-200C-4BEA-8FD5-7CC8D3AA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BB71B-D9A3-4A9E-BE0E-2D8161C6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9313D-BA91-4D23-947F-88A788B3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11292-FE82-45F7-8354-8B7FA25D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脚本生成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C2952-AB2E-459D-8F3E-3FAE7AE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24–30 镜 JSON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含逐镜字幕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67067-F8E2-4F90-810F-9DAB44AF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09F7F-4BFF-4B6C-B8AA-A87BC669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3B7FD-756C-4DDC-A557-970741BB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0E58B-85B1-4109-A153-58118BF0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角色资产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665CC-6CEC-4A72-8F1D-0DE00742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版本快照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参考图集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BEA7C-E9A7-4BA1-B33D-D719D0F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842B7-03E4-4692-93B0-A50C73D3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4C841-D30F-4AD5-8A48-9DE821DA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5CA2F-2ABB-45B9-B4F9-572D97D4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关键帧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C642A-71BF-4051-BD95-EF8E200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每镜 1–3 候选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（传统路径）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10731-429C-498C-AE6E-3CD8C3A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48251-3D97-4B54-8DEF-3A5493F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C043D-67C5-4561-AB84-4460AB7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8D5B7-0C4F-4909-9CB0-0EC41E1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视频生成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A8E2D-BA14-4214-BE7A-A937320A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3–5 秒片段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截取 1 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5A4194-9A52-4659-A649-77985148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C4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90A1C-A932-48D2-9AD5-75298E69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9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AFD23-BCB5-4F4D-B754-AE23560A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62150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7DC46C-F357-42E5-B6EB-2397CF1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合成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9CB7DD-DB39-4609-9004-C0AEBC65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卡拍 / LUT / 字幕</a:t>
            </a:r>
          </a:p>
          <a:p xmlns:a="http://schemas.openxmlformats.org/drawingml/2006/main">
            <a:pPr algn="l">
              <a:def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AI 标识 MP4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2524F-3745-49E8-BAED-04F0F98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385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7794DB-9F8F-4F2B-B904-A3682031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581400"/>
            <a:ext cx="1485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 1 · 改脚本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9BBBA4-CAE3-401F-B371-FE662D53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385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FE56FB-F29A-4E11-BD72-4EF0FF64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81400"/>
            <a:ext cx="1485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 2 · 挑关键帧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4D6D7E-25F6-4A8C-9689-331EB08B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385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180CDE-5D37-4936-9D4B-66000EF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81400"/>
            <a:ext cx="1485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 3 · 挑片段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246C1C-9944-41A2-85E0-C0B7EDEB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C4C28B-F9AD-4310-968C-850D1617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设计理念：不确定性压在便宜的静帧阶段，视频环节只让模型「动一下」，剪辑节奏交给合成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B7A6E-53D2-4F88-B5A9-11BD7E1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片段全部通过后进入 compose_ready 合成设置，用户确认并点「开始合成」才入队</a:t>
            </a:r>
          </a:p>
        </p:txBody>
      </p:sp>
    </p:spTree>
    <p:extLst>
      <p:ext uri="{BB962C8B-B14F-4D97-AF65-F5344CB8AC3E}">
        <p14:creationId xmlns:p14="http://schemas.microsoft.com/office/powerpoint/2010/main" val="589962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96B7F-1727-4C0D-A40C-B7B3F9BA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创作路径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1F64A-3E62-4035-A464-E6049533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默认直出视频，需要精修再走关键帧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33642-74BA-423D-8611-97A7410F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9AF05-144C-4CD8-9E0B-05EF6158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72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9FC59-EB0F-4F89-978B-27A7C464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直出视频（新项目默认）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7CFCC-D0B3-45DF-A5A3-02129B4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1905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7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video_source: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D2B30-EF98-4999-AD3D-F588FC3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838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脚本审核 → 素材检查 → 视频生成 → 片段审核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18E1B-2376-4ADB-9709-1B8A79B5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838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角色第一张参考图 + 地标第一张实景图，按序送 MiniMax H3 双参考图生视频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跳过图片候选与关键帧审核，不产生图片积分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生成 3–5 秒素材，用户截取严格 1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18064-7C7C-46DA-9A20-E405949C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372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0EE4A-CDDF-4A50-9A58-F9CBF88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关键帧（传统路径）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2F10B-D369-43F8-8F90-29781E4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76400"/>
            <a:ext cx="1905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video_source: keyframe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07FED-934F-4232-92A5-8403D9A5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838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脚本审核 → 关键帧候选 → 挑图 → 视频 → 片段审核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C3904-4324-436E-ABCD-99FFBCCD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838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每镜 1–3 张候选（Qwen-Image 2.1，角色 / 地标双参考）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人工逐镜挑图，可改 prompt 后重生成</a:t>
            </a:r>
          </a:p>
          <a:p xmlns:a="http://schemas.openxmlformats.org/drawingml/2006/main">
            <a:pPr marL="190500" indent="-114300" algn="l">
              <a:spcAft>
                <a:spcPts val="1000"/>
              </a:spcAft>
              <a:buChar char="•"/>
              <a:def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选定的关键帧作为首帧图生视频（MiniMax H3）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FAC18-4545-4033-9C1D-177D707E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旧项目按原流程运行、不自动转换；旧逐镜项目可显式迁移为「新版 1 秒剪辑」</a:t>
            </a:r>
          </a:p>
        </p:txBody>
      </p:sp>
    </p:spTree>
    <p:extLst>
      <p:ext uri="{BB962C8B-B14F-4D97-AF65-F5344CB8AC3E}">
        <p14:creationId xmlns:p14="http://schemas.microsoft.com/office/powerpoint/2010/main" val="12026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E83991-0796-48C8-96FE-7F5FB4A3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剪辑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DEEEE-9E7E-4319-97A3-9E1BCE56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每镜严格 1 秒：30 帧 @30fps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BCFD0-E3FE-4F76-89D7-3074CCE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F426B-D7F4-45B2-938E-F310534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788A0-9031-49B9-9263-4935B74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0s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C5596-B000-4A73-92D4-9FC9BF5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E727C-DD1E-43B6-A249-0EDC7C7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1s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B65D1-44FD-46FF-B31A-06A2929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364AC-50E6-4484-9025-F50C245C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220D3-8C8E-442C-96F7-FA27135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CAE68-698D-46B8-BDB3-923F1A1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3s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CA815-BC7F-42DF-906A-FCC93638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4C344-5FEA-44F2-BEF5-880F1D2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4s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410E9-F881-4FE7-B171-BCBC97D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DC7CC-3614-4D3B-96FD-AF9533F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5s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113DE-F7E8-475C-BB95-882D496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6192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4C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4D077-9D4E-435D-9565-419A329E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733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6s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C1E49-5815-4C33-92C5-665DE93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1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4A9F1-EFEB-4F81-8867-F5A8C5DB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ABCAD-6BAD-43C6-9DBD-E178E1F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2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5F561-ECA3-4542-93CD-D2D0206A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A805D-2FF2-40C1-B61A-398A8E38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E7A91-ED87-4F63-AB03-718B53E8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3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97B26-DB9A-474F-9AC4-9604F2CB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EF257-6287-4FE5-9B8B-EAD269EF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45B01-42BE-4573-AF13-2CEC4AC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4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8BD95-07C3-436B-AF8C-78CEC6DC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F92A5-A2E1-4873-A2AA-21850A77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34D11-4645-489A-8D33-73C5787D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5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CF872-2A7D-4236-BF02-1EF2CB94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67BF3-FBE8-4714-AAF2-A5D91F1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4148B-005E-4A53-BE3F-0766CB9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14288">
            <a:solidFill>
              <a:srgbClr val="2563FF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镜头 6</a:t>
            </a:r>
          </a:p>
          <a:p xmlns:a="http://schemas.openxmlformats.org/drawingml/2006/main">
            <a:pPr algn="ctr">
              <a:def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B44C8"/>
                </a:solidFill>
                <a:latin typeface="Microsoft YaHei"/>
                <a:ea typeface="Microsoft YaHei"/>
                <a:cs typeface="Microsoft YaHei"/>
              </a:rPr>
              <a:t>1.0s · 30 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A5A9AF-BC05-4103-8D24-63E8DE94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1676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字幕烧录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511B46-16E1-481E-BEB2-67434E8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002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66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83813F-5768-42BE-AB80-154EE539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绿色竖线 = 切点；相邻镜头前后各 2 帧片内淡入淡出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F7C29B-2821-400B-A05D-0151BEE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E32AEA-FDAB-4FAB-9689-56FB86E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整数帧窗口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604175-33AB-4794-8EA9-2D54FF0F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起点按 1/30 秒吸附，Worker 校验选段不越片尾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FD809C-1E94-4FE8-9509-53D8B1E5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46BE6-9BC7-49F5-81AC-0F6152F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字幕默认开启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59DE17-7B2C-4382-A083-1C0C9E3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每镜一秒窗口烧录 Shot.caption，片头偏移由拼接自然带入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C1133B-E9D6-4173-8518-BD24B5B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D6DFD3-E274-4E06-A66C-D581DF47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片头片尾默认关闭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AE0E80-C8AB-4095-8C33-2E5546D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合成设置里可选用已交付素材；配乐只覆盖全片、不移动切点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1BCC5B-0B07-4C42-A17B-43950D8F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4345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7030CB-F00E-4044-B4D2-E2424B0F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95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AI 标识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B68CF6-4E6A-45B4-B489-E41B0A1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81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右下角半透明水印 + 文件元数据，符合 2025-09 施行标识办法</a:t>
            </a:r>
          </a:p>
        </p:txBody>
      </p:sp>
    </p:spTree>
    <p:extLst>
      <p:ext uri="{BB962C8B-B14F-4D97-AF65-F5344CB8AC3E}">
        <p14:creationId xmlns:p14="http://schemas.microsoft.com/office/powerpoint/2010/main" val="137006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7BA2E-98BF-4B66-9C34-561723C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14C6F-3471-4AA1-965A-C5980755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本地优先的单机闭环，SQLite 是唯一真源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0B9B4-8BB0-42E0-A5EC-9B86041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7B294-7405-4306-B970-BC88241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" y="1504950"/>
            <a:ext cx="593598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8B006-63AD-4166-9498-EF297C77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1619250"/>
            <a:ext cx="547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浏览器 · React +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827AA-E410-4681-B485-FB45337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1866900"/>
            <a:ext cx="54787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官网 / 登录 / 建期 / 审片台 / 用量 / 分享页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5A3B6-8BE2-4A05-B6D8-7EFE0A5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678DC-C389-48E0-96EB-FF9BEFB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" y="2343150"/>
            <a:ext cx="593598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9AE60-A44E-487C-8872-EE99CB9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2457450"/>
            <a:ext cx="547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apps/web · Hono :3000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BB5E7-579E-41CD-9B67-B169502A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2705100"/>
            <a:ext cx="54787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auth · episodes · review · share ·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2D935-3FCE-4314-9A64-80D308A1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6F079-5687-446A-9240-7E8ACC54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723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2EE7A-12A3-4FE2-9068-B2830571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packages/store · 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D2D42-6ECD-4DD7-8373-BE6332A9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678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rPr>
              <a:t>期 / 角色 / 目的地 / 模板 / 任务 / 积分 —— 唯一真源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AA896-5963-4D0B-A98E-407801A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E2CAC-4B76-451A-8F75-DB51B6A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6515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BE4F3-4196-466B-BC0B-0124FA74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apps/worker · 消费循环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FDF47-66B5-46CB-94CE-2C662CEF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605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任务租约 · 生成适配 · 产物归档 · ffmpeg 合成 · 积分结算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5ACE3-9B9C-4545-B6DA-267A55E3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4C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3B449-6281-49CA-8DA3-5FD432F1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6515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94255-0093-4D18-B23B-49B1A126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7205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services/inference :8100 → ComfyUI :8188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1CAE3-6D0A-4063-A98C-9C97E5B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605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Qwen-Image 2.1 · MiniMax H3（comfyui-bridge 工作流）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58856-6EC1-4E60-BE0D-B75C81D0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200400" cy="40767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5B0A9-0186-4278-B02E-A0960B9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14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架构红线（ADR-0004）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EE8BE-BDFB-4525-BC0E-22881AE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7432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无 Redis / Postgres / 对象存储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web 与 worker 直调 store，无内部 HTTP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compose 唯一碰 ffmpeg，只在 worker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providers 可插拔，换模型不改上层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产物落本地磁盘 projects/&lt;期号&gt;/…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store 保持 async，为拆机留边界</a:t>
            </a:r>
          </a:p>
        </p:txBody>
      </p:sp>
    </p:spTree>
    <p:extLst>
      <p:ext uri="{BB962C8B-B14F-4D97-AF65-F5344CB8AC3E}">
        <p14:creationId xmlns:p14="http://schemas.microsoft.com/office/powerpoint/2010/main" val="771336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2E080-DA15-4792-AA52-7914AEA7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94388-FB4F-441F-A765-D9AE0BB0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每个环节一个接口，本地为主、API 溢出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F2A54-0C99-4D98-9CC7-BE4A8FC2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108960"/>
                <a:gridCol w="6217920"/>
              </a:tblGrid>
              <a:tr h="6395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 / 服务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StepFun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brief + 目的地包 → 24–30 镜结构化 JSON；支持按指令优化重生成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Qwen-Image 2.1（ComfyUI）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单参考 = 角色；双参考 = 角色 + 地标；每镜 1–3 候选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MiniMax H3（ComfyUI）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双参考直出 / 关键帧图生视频；生成预算 240–270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溢出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可灵 / 即梦 API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本地重试 ≤ 2 次自动切换；排队超阈值也直接溢出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授权素材库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tone 检索授权曲目，MVP 不生成音乐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FFmpeg（Worker）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帧整数窗口、LUT、ASS 字幕、转场、AI 标识、封装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F7F22-ACC1-4A77-82C1-3178677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每次调用记录 provider / 模型 / 版本 / seed / 参考图哈希 / 费用，期级汇总成成本报告</a:t>
            </a:r>
          </a:p>
        </p:txBody>
      </p:sp>
    </p:spTree>
    <p:extLst>
      <p:ext uri="{BB962C8B-B14F-4D97-AF65-F5344CB8AC3E}">
        <p14:creationId xmlns:p14="http://schemas.microsoft.com/office/powerpoint/2010/main" val="1454210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2EDDC-3446-4611-A145-145A7221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工程底座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FFD27-D96E-4F65-A524-0934733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敢在现场重试的六个设计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78DAD-2201-4B6F-8547-97AAFB5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46443-4302-4A4D-90BA-32CDA7B0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C4D1-6E96-409F-ACB1-4E22ECC2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F6B6D-989C-4F1D-BD64-65A46EC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1742D-F6E4-4BA5-B30C-44059C2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任务租约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30692-07A7-4F29-802D-2802489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租约到期由下一次队列领取回收；Worker 重启不丢任务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15B44-A2B1-4286-819D-EEE6C38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BAE02-8CB5-4F1A-8414-FCC9D568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E665B-5597-4039-9E8A-FA31B9B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490BE-7DDF-4A14-B2A0-90B27BE9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事务化结果提交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C3AA6-8534-4F2B-8FA4-5E46CBCA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任务结果、期状态、积分结算单事务落库（ADR-0007）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079D5-3404-4D1A-8345-467D402D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4DE7A-5483-4407-A557-65AD18EC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FFE1D-4CE8-4580-8027-77A3BE2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D0874-CEC6-41A8-A165-A4FBAB74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失败重试复用候选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DB550-C911-4D6B-9CEF-9FF7FD9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沿用原 generation_id，已成功落盘的候选不重复烧 GPU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5B4F3-1D65-4748-A092-E178AEF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0FE52-72AD-4FD6-B18C-016D8F1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97F81-D7BB-4F91-94B9-674ED9E1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03141-FD36-49E7-8D6F-FA431F94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优雅停机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BC9D3-C9CA-4902-A41B-57685E8A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SIGTERM 停止领新任务，等待在跑任务收尾再退出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A7FA6-AB01-4621-9626-5DB4742B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A41D5-CFAF-4B13-A286-440A38A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CE451-1BCF-4D70-B4C1-19D56FF1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67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88B6B-B366-440B-886C-A86E0633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媒体完整性校验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00225-61F3-4279-B7D3-4AB2A6FA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流式下载限 512 MiB；Pillow 验图、ffmpeg 验流，损坏即取消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9BB00-160F-413F-B818-2389EDF8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3505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158ED-66C1-4C08-9FEF-F680992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E9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8C2A8-12F1-45DF-B822-0103B3F5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6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78956A-7BF9-4278-97E1-4C70E5A7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95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过期产物清扫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4FEEF1-A8C2-42C1-B8EF-ECFBAAEB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Worker 每小时清理过期推理媒体与发布暂存，控磁盘水位</a:t>
            </a:r>
          </a:p>
        </p:txBody>
      </p:sp>
    </p:spTree>
    <p:extLst>
      <p:ext uri="{BB962C8B-B14F-4D97-AF65-F5344CB8AC3E}">
        <p14:creationId xmlns:p14="http://schemas.microsoft.com/office/powerpoint/2010/main" val="795618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2FBC1-3AE2-45F7-8B37-FE81080F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积分与成本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E5172-869D-40DB-B601-C5C5F4A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动作级计价，原子预留、结算、释放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E8FE2-3677-4D22-B81A-5ADEFEE2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40957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单价（积分）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张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次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32311-E241-469A-8E83-A0AB2F6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8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积分由团队 CLI 发放，不接购买与支付</a:t>
            </a:r>
          </a:p>
          <a:p xmlns:a="http://schemas.openxmlformats.org/drawingml/2006/main">
            <a:pPr marL="190500" indent="-114300" algn="l">
              <a:spcAft>
                <a:spcPts val="8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建期 / 阶段提交先预留，成功结算、失败释放</a:t>
            </a:r>
          </a:p>
          <a:p xmlns:a="http://schemas.openxmlformats.org/drawingml/2006/main">
            <a:pPr marL="190500" indent="-114300" algn="l">
              <a:spcAft>
                <a:spcPts val="8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流水不可变且幂等；用量页按期按模型展示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86A2C-99D5-45CC-B57A-12ACFEE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811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一期积分对比（按 28 镜估算）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0" y="1905000"/>
          <a:ext xmlns:a="http://schemas.openxmlformats.org/drawingml/2006/main" cx="61531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2eb28fe87643f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5842D-1B49-4C26-BB7D-71D7F6C3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615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直出路径省掉图片积分，比关键帧 ×3 省约 23%；GPU 用量另按「镜数 × 候选 × 单位成本 × 1.5」独立估算展示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C84F6-EE28-4404-AC04-5344398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成本红线：整期所有环节都走国内 API 的费用上限 ¥20 —— 团队预算约束，不是定价</a:t>
            </a:r>
          </a:p>
        </p:txBody>
      </p:sp>
    </p:spTree>
    <p:extLst>
      <p:ext uri="{BB962C8B-B14F-4D97-AF65-F5344CB8AC3E}">
        <p14:creationId xmlns:p14="http://schemas.microsoft.com/office/powerpoint/2010/main" val="2094795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4EF04-20E3-4EDE-A341-8BBB5AD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合规与安全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072B7-B8EC-460B-90E5-AB1A3E5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成片可溯源，内容有护栏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263D7-3F94-47E2-B3E5-B672B89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BEEC8-27BC-42BD-8955-8BF1F5C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E9412-F88B-4D89-8398-083882A3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BC601-8392-4C39-9937-41BB3D09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AI 标识（显式 + 隐式）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2A662-BAC2-4C85-B301-75321ED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右下角半透明「AI 生成 · 虚构角色 · 真实目的地」水印 + 文件元数据；模型自带 SynthID / C2PA 不剥离，符合 2025-09 施行的《人工智能生成合成内容标识办法》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048B3-2420-42BF-8EB9-34A87C6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859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C5834-8CDC-4D28-9ED3-20B6D6C1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1534E-0722-450E-B570-D3B2D4A5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内容拦截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86A69-1E85-43FA-A871-379793C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prompt 层关键词黑名单，命中即拒绝并提示修改创作要求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D65F3-24C2-42EB-8040-B776FCDA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D82CF-B0AB-47C9-8BD4-BE77C137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FD403-3EE3-4506-AAFA-4432B7C3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数据隔离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9E8AA-3B68-4034-A959-C451F4CE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多租户行级 owner_id 过滤；密钥只在 worker / 推理侧；分享页不含账号信息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2485A-52F8-45A6-9844-EE7B9D2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5372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2A820-7104-415A-8459-E66099A3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66A88-FD80-4533-84B4-9C00C35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版权与保真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898F8-0944-4335-9428-B168128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68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音乐只用授权曲库；不生成他人商标；私营店铺一律虚构；地标失真属质量红线</a:t>
            </a:r>
          </a:p>
        </p:txBody>
      </p:sp>
    </p:spTree>
    <p:extLst>
      <p:ext uri="{BB962C8B-B14F-4D97-AF65-F5344CB8AC3E}">
        <p14:creationId xmlns:p14="http://schemas.microsoft.com/office/powerpoint/2010/main" val="81802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A66CD3-07FE-4C0A-8C15-225F50F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0E372-13B7-491C-AA9F-93FACAAF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六步走完一条片，全程可干预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7645B-B63F-462F-B08D-864FB51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07613-B543-4DD2-BD1D-55098E0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116E-C77E-49A0-9585-DEF9EC3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62AB-6032-458B-8D3C-EBA51AF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新建一期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62012-372C-4DF0-8DD8-96D766D4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选官方角色 + 灵山大佛，9:16，直出方式，看实时预估积分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88F66-8BDE-46F1-8084-8D8C178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1C78D-3379-4A1A-8FEA-7DE275A3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054CA-6F61-4EBB-A4F1-30B7586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1 · 脚本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B792D-F675-444E-8648-9AADFA2E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改一镜字幕、删一镜；写优化指令重生成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02108-6C71-40DC-B143-B9440DA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28472-CD37-427F-B544-11B48EA3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842F7-6BEE-443D-874C-7DF3D2FB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14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视频生成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46EEA-53BA-474E-9632-AF0FDC10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素材检查后双参考直出；进度页轮询任务状态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605B5-35B2-47E3-A172-B4B9DDB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FF4AE-8241-4D0C-8264-E5908ECC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58A26-1961-4C82-BF6A-82998E4A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909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审核 3 · 片段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BC0EE-532B-4157-B016-48857598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拖滑块选 1 秒；勾五项质量红线；标一镜坏镜重生成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A0E7D-CDFA-48C9-82B3-64D6D805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0520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96E5E-15F6-412E-9C7B-C6714FE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77582-8BC8-48AA-A08B-BDE3DC6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909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合成设置 → 成片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2BDB0-83B3-4F77-83DF-ED506940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标题 + 配乐 + 字幕确认后开始合成；ffprobe 验证后交付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E318B-40BC-4F8B-A3AE-CBFEC48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052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4EBF5-6ED5-47A9-8B54-5256EF36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60C5C-2EA2-4FAE-A520-C77AF6D3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下载与分享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454B0-F398-47C5-964D-E932EC69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播放成片、下载 MP4；开启分享链接（含二维码与文案）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574A2-1A51-466A-8D68-B024EB8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9525">
            <a:solidFill>
              <a:srgbClr val="D8E3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预计 10–15 分钟 · 备用：同角色已完成的多期成片与公开分享链接</a:t>
            </a:r>
          </a:p>
        </p:txBody>
      </p:sp>
    </p:spTree>
    <p:extLst>
      <p:ext uri="{BB962C8B-B14F-4D97-AF65-F5344CB8AC3E}">
        <p14:creationId xmlns:p14="http://schemas.microsoft.com/office/powerpoint/2010/main" val="15001234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5DB65-8A9C-44D6-B803-9F8FD63D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F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E8203-B8FB-4A71-96BB-80EA6BD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Kelvoy 项目组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4C7D5-87CE-459C-9C95-3BED99A5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A0B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6096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7143"/>
                <a:gridCol w="3918857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>
                    <a:solidFill>
                      <a:srgbClr val="2563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张小白（张辉）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队长 · 项目策划 · PRD · 环境部署 · 演示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小腾子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原型设计 · 测试 · DEMO 视频录制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般度五子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ComfyUI 部署与开发 · 图像 / 视频管线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23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馄饨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69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前后台 · 审片台 · 积分系统</a:t>
                      </a:r>
                    </a:p>
                  </a:txBody>
                  <a:tcPr marL="91440" marR="91440" marT="45720" marB="45720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797FF-0A91-400D-9C28-0833ADF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开源协议：Apache License 2.0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仓库：github.com/zhanghui-china/Kelvoy</a:t>
            </a:r>
          </a:p>
          <a:p xmlns:a="http://schemas.openxmlformats.org/drawingml/2006/main">
            <a:pPr marL="190500" indent="-114300" algn="l">
              <a:spcAft>
                <a:spcPts val="900"/>
              </a:spcAft>
              <a:buChar char="•"/>
              <a:def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57697F"/>
                </a:solidFill>
                <a:latin typeface="Microsoft YaHei"/>
                <a:ea typeface="Microsoft YaHei"/>
                <a:cs typeface="Microsoft YaHei"/>
              </a:rPr>
              <a:t>感谢 NVIDIA DGX Spark 黑客松 · StepFun · Qwen-Image · MiniMax · ComfyUI · FFmpeg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E602F-0EF2-4A61-816F-E34747E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85900"/>
            <a:ext cx="4343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solidFill>
              <a:srgbClr val="2563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0A865-9A7C-4D98-BA2E-E41A7275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选一个角色，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去一个真实的地方，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一期旅行 Vlog 自动生成。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B0387-7018-49CD-B9DF-B874120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6FF"/>
                </a:solidFill>
                <a:latin typeface="Microsoft YaHei"/>
                <a:ea typeface="Microsoft YaHei"/>
                <a:cs typeface="Microsoft YaHei"/>
              </a:rPr>
              <a:t>可旅，让每一场旅行都有 vlog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F0855-3A1B-4E8A-ABE4-150076D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672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9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F98F3-456A-43E8-9406-A049597C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rPr>
              <a:t>Kelvoy · AI 旅行 Vlog 生产工作台</a:t>
            </a:r>
          </a:p>
          <a:p xmlns:a="http://schemas.openxmlformats.org/drawingml/2006/main">
            <a:pPr algn="l">
              <a:def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9DBFF"/>
                </a:solidFill>
                <a:latin typeface="Microsoft YaHei"/>
                <a:ea typeface="Microsoft YaHei"/>
                <a:cs typeface="Microsoft YaHei"/>
              </a:rPr>
              <a:t>第三届 NVIDIA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628764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2026-09-28T17:57:43.0040000Z</dcterms:created>
  <dcterms:modified xsi:type="dcterms:W3CDTF">2026-09-28T17:57:43.0040000Z</dcterms:modified>
</coreProperties>
</file>