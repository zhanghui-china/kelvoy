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一期积分</c:f>
              <c:strCache>
                <c:ptCount val="1"/>
                <c:pt idx="0">
                  <c:v>一期积分</c:v>
                </c:pt>
              </c:strCache>
            </c:strRef>
          </c:tx>
          <c:spPr>
            <a:solidFill>
              <a:srgbClr val="2563F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直出视频</c:v>
                </c:pt>
                <c:pt idx="1">
                  <c:v>关键帧 ×1</c:v>
                </c:pt>
                <c:pt idx="2">
                  <c:v>关键帧 ×2</c:v>
                </c:pt>
                <c:pt idx="3">
                  <c:v>关键帧 ×3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282</c:v>
                </c:pt>
                <c:pt idx="1">
                  <c:v>310</c:v>
                </c:pt>
                <c:pt idx="2">
                  <c:v>338</c:v>
                </c:pt>
                <c:pt idx="3">
                  <c:v>366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5ce25bd-9a0e-4129-b52f-9135f0e6fb9e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各位评委老师、现场的伙伴们，大家好！我是</a:t>
            </a:r>
            <a:r>
              <a:rPr lang="en-US" altLang="zh-CN">
                <a:ea typeface="宋体" panose="02010600030101010101" pitchFamily="2" charset="-122"/>
              </a:rPr>
              <a:t>Kelvoy</a:t>
            </a:r>
            <a:r>
              <a:rPr lang="zh-CN" altLang="en-US">
                <a:ea typeface="宋体" panose="02010600030101010101" pitchFamily="2" charset="-122"/>
              </a:rPr>
              <a:t>可旅项目的</a:t>
            </a:r>
            <a:r>
              <a:rPr lang="zh-CN" altLang="en-US">
                <a:ea typeface="宋体" panose="02010600030101010101" pitchFamily="2" charset="-122"/>
              </a:rPr>
              <a:t>小腾子，非常荣幸能带着我们的产品来到第三届</a:t>
            </a:r>
            <a:r>
              <a:rPr lang="en-US" altLang="zh-CN">
                <a:ea typeface="宋体" panose="02010600030101010101" pitchFamily="2" charset="-122"/>
              </a:rPr>
              <a:t>NVIDIA DGX Spark</a:t>
            </a:r>
            <a:r>
              <a:rPr lang="zh-CN" altLang="en-US">
                <a:ea typeface="宋体" panose="02010600030101010101" pitchFamily="2" charset="-122"/>
              </a:rPr>
              <a:t>黑客松的</a:t>
            </a:r>
            <a:r>
              <a:rPr lang="en-US" altLang="zh-CN">
                <a:ea typeface="宋体" panose="02010600030101010101" pitchFamily="2" charset="-122"/>
              </a:rPr>
              <a:t>DEMO</a:t>
            </a:r>
            <a:r>
              <a:rPr lang="zh-CN" altLang="en-US">
                <a:ea typeface="宋体" panose="02010600030101010101" pitchFamily="2" charset="-122"/>
              </a:rPr>
              <a:t>展示现场。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我们今天带来的是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旅行</a:t>
            </a:r>
            <a:r>
              <a:rPr lang="en-US" altLang="zh-CN">
                <a:ea typeface="宋体" panose="02010600030101010101" pitchFamily="2" charset="-122"/>
              </a:rPr>
              <a:t>Vlog</a:t>
            </a:r>
            <a:r>
              <a:rPr lang="zh-CN" altLang="en-US">
                <a:ea typeface="宋体" panose="02010600030101010101" pitchFamily="2" charset="-122"/>
              </a:rPr>
              <a:t>生产工作台，它的核心能力非常清晰：只需要选好一个固定角色、一个真实目的地，就能自动生成一期符合短视频发布要求的旅行</a:t>
            </a:r>
            <a:r>
              <a:rPr lang="en-US" altLang="zh-CN">
                <a:ea typeface="宋体" panose="02010600030101010101" pitchFamily="2" charset="-122"/>
              </a:rPr>
              <a:t>Vlog</a:t>
            </a:r>
            <a:r>
              <a:rPr lang="zh-CN" altLang="en-US">
                <a:ea typeface="宋体" panose="02010600030101010101" pitchFamily="2" charset="-122"/>
              </a:rPr>
              <a:t>，支持</a:t>
            </a:r>
            <a:r>
              <a:rPr lang="en-US" altLang="zh-CN">
                <a:ea typeface="宋体" panose="02010600030101010101" pitchFamily="2" charset="-122"/>
              </a:rPr>
              <a:t>9:16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16:9</a:t>
            </a:r>
            <a:r>
              <a:rPr lang="zh-CN" altLang="en-US">
                <a:ea typeface="宋体" panose="02010600030101010101" pitchFamily="2" charset="-122"/>
              </a:rPr>
              <a:t>多种画幅比例，全程设置三个人工审核节点把控质量，整套生成流水线都可以在本地</a:t>
            </a:r>
            <a:r>
              <a:rPr lang="en-US" altLang="zh-CN">
                <a:ea typeface="宋体" panose="02010600030101010101" pitchFamily="2" charset="-122"/>
              </a:rPr>
              <a:t>DGX Spark</a:t>
            </a:r>
            <a:r>
              <a:rPr lang="zh-CN" altLang="en-US">
                <a:ea typeface="宋体" panose="02010600030101010101" pitchFamily="2" charset="-122"/>
              </a:rPr>
              <a:t>上闭环运行。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接下来，我就从行业痛点出发，给大家全面介绍我们的产品设计与技术实现。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文旅赛道持续产出旅行内容的从业者，一直被三个共性难题困住，没有工具能完美解决。首先是真人出镜模式，拍摄成本和档期协调成本居高不下，更麻烦的是长期更新很难维持人设外形的一致性，频繁换脸直接冲散账号积累的粉丝信任，无法沉淀可复用的账号资产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其次是现有的通用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视频生成工具，大多是不可控的黑盒产品，一键产出的内容不符合预期也没法调整，普通剪辑工具只负责后期剪辑，完全不覆盖从脚本到素材的内容生产环节，没法解决源头的问题。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最后针对文旅代运营这类有批量生产需求的主体，同一账号要覆盖多个目的地、还要维持稳定更新节奏，现有工具没有针对这个特定场景做优化，根本满足不了需求。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我们刚好找到了破局的方向，前期测试的参考片已经验证，用静帧锁定人设一致性、再做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秒一镜的剪辑，完全可以稳定产出合格内容，加上</a:t>
            </a:r>
            <a:r>
              <a:rPr lang="en-US" altLang="zh-CN">
                <a:ea typeface="宋体" panose="02010600030101010101" pitchFamily="2" charset="-122"/>
              </a:rPr>
              <a:t>NVIDIA DGX Spark</a:t>
            </a:r>
            <a:r>
              <a:rPr lang="zh-CN" altLang="en-US">
                <a:ea typeface="宋体" panose="02010600030101010101" pitchFamily="2" charset="-122"/>
              </a:rPr>
              <a:t>提供的</a:t>
            </a:r>
            <a:r>
              <a:rPr lang="en-US" altLang="zh-CN">
                <a:ea typeface="宋体" panose="02010600030101010101" pitchFamily="2" charset="-122"/>
              </a:rPr>
              <a:t>128GB</a:t>
            </a:r>
            <a:r>
              <a:rPr lang="zh-CN" altLang="en-US">
                <a:ea typeface="宋体" panose="02010600030101010101" pitchFamily="2" charset="-122"/>
              </a:rPr>
              <a:t>统一大内存，支持脚本生成、图像创作、视频生成、后期合成全流程在单机完成，让这个解决方案落地成为可能。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我们这款产品围绕旅行</a:t>
            </a:r>
            <a:r>
              <a:rPr lang="en-US" altLang="zh-CN">
                <a:ea typeface="宋体" panose="02010600030101010101" pitchFamily="2" charset="-122"/>
              </a:rPr>
              <a:t>Vlog</a:t>
            </a:r>
            <a:r>
              <a:rPr lang="zh-CN" altLang="en-US">
                <a:ea typeface="宋体" panose="02010600030101010101" pitchFamily="2" charset="-122"/>
              </a:rPr>
              <a:t>批量生产的核心痛点，设计了极简的使用逻辑。用户只需提供固定虚拟角色，搭配一个目标景区，就能快速生成一期约</a:t>
            </a:r>
            <a:r>
              <a:rPr lang="en-US" altLang="zh-CN">
                <a:ea typeface="宋体" panose="02010600030101010101" pitchFamily="2" charset="-122"/>
              </a:rPr>
              <a:t>30</a:t>
            </a:r>
            <a:r>
              <a:rPr lang="zh-CN" altLang="en-US">
                <a:ea typeface="宋体" panose="02010600030101010101" pitchFamily="2" charset="-122"/>
              </a:rPr>
              <a:t>秒的标准化旅行</a:t>
            </a:r>
            <a:r>
              <a:rPr lang="en-US" altLang="zh-CN">
                <a:ea typeface="宋体" panose="02010600030101010101" pitchFamily="2" charset="-122"/>
              </a:rPr>
              <a:t>Vlog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角色作为账号级长期资产，我们支持用三视图锁定外形，同一角色每期可以更换穿搭，解决真人出镜人设不一致、账号资产无法沉淀的问题。产品设置三个人工审核节点，分别对脚本、关键帧、最终片段做调整，创作者可以完全掌控内容方向，打破通用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工具不可控的黑盒问题。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最终输出支持默认竖屏、可选横屏两种画幅，自带字幕、统一调色和合规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标识，生成文件可直接分享。我们提前完成了主流景区的资产整理，由官方维护每个地标的实景参考、机位特征，首批就内置了无锡南长街、拈花湾、灵山大佛以及泰山、黄山五个热门景区，开箱就能使用。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刚才我们梳理了当前旅行内容生产的三大核心痛点，也明确了我们这款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旅行</a:t>
            </a:r>
            <a:r>
              <a:rPr lang="en-US" altLang="zh-CN">
                <a:ea typeface="宋体" panose="02010600030101010101" pitchFamily="2" charset="-122"/>
              </a:rPr>
              <a:t>Vlog</a:t>
            </a:r>
            <a:r>
              <a:rPr lang="zh-CN" altLang="en-US">
                <a:ea typeface="宋体" panose="02010600030101010101" pitchFamily="2" charset="-122"/>
              </a:rPr>
              <a:t>生产工作台的核心产品定位与基础形态。接下来这页，我们就来聊聊我们和市面上通用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视频生成工具的核心差异，拆解这款产品真正的竞争护城河，看看它和通用方案的本质区别究竟在哪里。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整个生成流程拆解为六个清晰阶段，搭配三个人工审核节点牢牢把控最终成片质量。创作者首先完成项目初始化，选定固定的虚拟角色、目标目的地，再确定内容模板和输出画幅，完成基础准备。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接下来进入自动化生成阶段：第一步生成结构化脚本，输出包含逐镜字幕的</a:t>
            </a:r>
            <a:r>
              <a:rPr lang="en-US" altLang="zh-CN">
                <a:ea typeface="宋体" panose="02010600030101010101" pitchFamily="2" charset="-122"/>
              </a:rPr>
              <a:t>24</a:t>
            </a:r>
            <a:r>
              <a:rPr lang="zh-CN" altLang="en-US">
                <a:ea typeface="宋体" panose="02010600030101010101" pitchFamily="2" charset="-122"/>
              </a:rPr>
              <a:t>至</a:t>
            </a:r>
            <a:r>
              <a:rPr lang="en-US" altLang="zh-CN">
                <a:ea typeface="宋体" panose="02010600030101010101" pitchFamily="2" charset="-122"/>
              </a:rPr>
              <a:t>30</a:t>
            </a:r>
            <a:r>
              <a:rPr lang="zh-CN" altLang="en-US">
                <a:ea typeface="宋体" panose="02010600030101010101" pitchFamily="2" charset="-122"/>
              </a:rPr>
              <a:t>镜</a:t>
            </a:r>
            <a:r>
              <a:rPr lang="en-US" altLang="zh-CN">
                <a:ea typeface="宋体" panose="02010600030101010101" pitchFamily="2" charset="-122"/>
              </a:rPr>
              <a:t>JSON</a:t>
            </a:r>
            <a:r>
              <a:rPr lang="zh-CN" altLang="en-US">
                <a:ea typeface="宋体" panose="02010600030101010101" pitchFamily="2" charset="-122"/>
              </a:rPr>
              <a:t>配置；第二步固化当前角色资产，生成版本快照整理参考图集；第三步针对传统创作路径，为每一镜生成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到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张关键帧候选图；第四步基于选定的关键帧生成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到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秒原始视频片段，最终选取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个</a:t>
            </a:r>
            <a:r>
              <a:rPr lang="zh-CN" altLang="en-US">
                <a:ea typeface="宋体" panose="02010600030101010101" pitchFamily="2" charset="-122"/>
              </a:rPr>
              <a:t>片段用于最终成片；第五步完成全片合成，统一适配卡点节奏、色彩</a:t>
            </a:r>
            <a:r>
              <a:rPr lang="en-US" altLang="zh-CN">
                <a:ea typeface="宋体" panose="02010600030101010101" pitchFamily="2" charset="-122"/>
              </a:rPr>
              <a:t>LUT</a:t>
            </a:r>
            <a:r>
              <a:rPr lang="zh-CN" altLang="en-US">
                <a:ea typeface="宋体" panose="02010600030101010101" pitchFamily="2" charset="-122"/>
              </a:rPr>
              <a:t>、内嵌字幕，最终输出带合规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标识的</a:t>
            </a:r>
            <a:r>
              <a:rPr lang="en-US" altLang="zh-CN">
                <a:ea typeface="宋体" panose="02010600030101010101" pitchFamily="2" charset="-122"/>
              </a:rPr>
              <a:t>MP4</a:t>
            </a:r>
            <a:r>
              <a:rPr lang="zh-CN" altLang="en-US">
                <a:ea typeface="宋体" panose="02010600030101010101" pitchFamily="2" charset="-122"/>
              </a:rPr>
              <a:t>文件。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三次人工审核分别锚定脚本、关键帧、视频片段三个核心节点，把创作不确定性全部压缩在成本更低的静帧审核阶段，视频生成环节只需要让模型完成静帧动效，最终的剪辑节奏完全交由合成阶段可控调整。所有片段审核通过后，才会进入合成准备状态，需要用户主动确认设置后才启动合成排队，充分尊重创作者的创作节奏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我们设计了两种创作路径适配不同需求，平衡生成效率和创作灵活性。所有新项目默认启用直出视频路径，这套路径砍掉多余的中间环节，直接用角色首张参考图搭配地标首张实景图，送入</a:t>
            </a:r>
            <a:r>
              <a:rPr lang="en-US" altLang="zh-CN">
                <a:ea typeface="宋体" panose="02010600030101010101" pitchFamily="2" charset="-122"/>
              </a:rPr>
              <a:t>MiniMax H3</a:t>
            </a:r>
            <a:r>
              <a:rPr lang="zh-CN" altLang="en-US">
                <a:ea typeface="宋体" panose="02010600030101010101" pitchFamily="2" charset="-122"/>
              </a:rPr>
              <a:t>双参考图生视频模型。它跳过关键帧选图环节，不产生额外的图片积分消耗，只需要生成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到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秒素材后截取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秒片段，就能快速得到成品，大幅降低普通创作者的使用门槛。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如果你对画面细节有更高要求，可以选择传统的关键帧路径。这套路径会先为每一镜生成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到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张候选关键帧，同样采用角色和地标双参考生成，你可以逐镜挑选符合预期的图片，不满意还可以修改提示词后重新生成，最终把选定的关键帧作为首帧生成视频，满足精细创作的需求。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这套剪辑规则完全匹配产品「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秒一镜」的核心设计，能稳定输出节奏明快、适配短视频用户观看习惯的内容。每一个镜头严格切割为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秒时长，按照</a:t>
            </a:r>
            <a:r>
              <a:rPr lang="en-US" altLang="zh-CN">
                <a:ea typeface="宋体" panose="02010600030101010101" pitchFamily="2" charset="-122"/>
              </a:rPr>
              <a:t>30fps</a:t>
            </a:r>
            <a:r>
              <a:rPr lang="zh-CN" altLang="en-US">
                <a:ea typeface="宋体" panose="02010600030101010101" pitchFamily="2" charset="-122"/>
              </a:rPr>
              <a:t>帧率计算刚好对应</a:t>
            </a:r>
            <a:r>
              <a:rPr lang="en-US" altLang="zh-CN">
                <a:ea typeface="宋体" panose="02010600030101010101" pitchFamily="2" charset="-122"/>
              </a:rPr>
              <a:t>30</a:t>
            </a:r>
            <a:r>
              <a:rPr lang="zh-CN" altLang="en-US">
                <a:ea typeface="宋体" panose="02010600030101010101" pitchFamily="2" charset="-122"/>
              </a:rPr>
              <a:t>帧，既保证画面完整性，也让整体视频节奏符合</a:t>
            </a:r>
            <a:r>
              <a:rPr lang="en-US" altLang="zh-CN">
                <a:ea typeface="宋体" panose="02010600030101010101" pitchFamily="2" charset="-122"/>
              </a:rPr>
              <a:t>9:16</a:t>
            </a:r>
            <a:r>
              <a:rPr lang="zh-CN" altLang="en-US">
                <a:ea typeface="宋体" panose="02010600030101010101" pitchFamily="2" charset="-122"/>
              </a:rPr>
              <a:t>竖屏信息流的传播要求。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绿色竖线标记剪辑切点，相邻镜头前后各预留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帧做片内淡入淡出，有效避免镜头切换的生硬感，提升观看流畅度。系统强制要求剪辑起点按</a:t>
            </a:r>
            <a:r>
              <a:rPr lang="en-US" altLang="zh-CN">
                <a:ea typeface="宋体" panose="02010600030101010101" pitchFamily="2" charset="-122"/>
              </a:rPr>
              <a:t>1/30</a:t>
            </a:r>
            <a:r>
              <a:rPr lang="zh-CN" altLang="en-US">
                <a:ea typeface="宋体" panose="02010600030101010101" pitchFamily="2" charset="-122"/>
              </a:rPr>
              <a:t>秒吸附，</a:t>
            </a:r>
            <a:r>
              <a:rPr lang="en-US" altLang="zh-CN">
                <a:ea typeface="宋体" panose="02010600030101010101" pitchFamily="2" charset="-122"/>
              </a:rPr>
              <a:t>Worker</a:t>
            </a:r>
            <a:r>
              <a:rPr lang="zh-CN" altLang="en-US">
                <a:ea typeface="宋体" panose="02010600030101010101" pitchFamily="2" charset="-122"/>
              </a:rPr>
              <a:t>会自动校验选段不超出片尾范围，从规则层面避免剪辑出错。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字幕默认开启，直接将对应字幕烧录进每一个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秒镜头窗口，片头位置偏移由拼接流程自然带入，不需要额外手动调整。片头片尾默认关闭，支持在合成设置中自主添加已交付素材，配乐只会整体覆盖全片，不会改动已经设置好的剪辑切点，保证节奏不会被打乱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最后产品严格遵循最新的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生成内容规范，会自动在右下角添加半透明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标识水印，同时在文件元数据中嵌入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生成标注，完全符合</a:t>
            </a:r>
            <a:r>
              <a:rPr lang="en-US" altLang="zh-CN">
                <a:ea typeface="宋体" panose="02010600030101010101" pitchFamily="2" charset="-122"/>
              </a:rPr>
              <a:t>2025</a:t>
            </a:r>
            <a:r>
              <a:rPr lang="zh-CN" altLang="en-US">
                <a:ea typeface="宋体" panose="02010600030101010101" pitchFamily="2" charset="-122"/>
              </a:rPr>
              <a:t>年</a:t>
            </a:r>
            <a:r>
              <a:rPr lang="en-US" altLang="zh-CN">
                <a:ea typeface="宋体" panose="02010600030101010101" pitchFamily="2" charset="-122"/>
              </a:rPr>
              <a:t>9</a:t>
            </a:r>
            <a:r>
              <a:rPr lang="zh-CN" altLang="en-US">
                <a:ea typeface="宋体" panose="02010600030101010101" pitchFamily="2" charset="-122"/>
              </a:rPr>
              <a:t>月正式施行的管理要求。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这套技术架构选择了本地优先的单机闭环设计，确立了</a:t>
            </a:r>
            <a:r>
              <a:rPr lang="en-US" altLang="zh-CN">
                <a:ea typeface="宋体" panose="02010600030101010101" pitchFamily="2" charset="-122"/>
              </a:rPr>
              <a:t>SQLite</a:t>
            </a:r>
            <a:r>
              <a:rPr lang="zh-CN" altLang="en-US">
                <a:ea typeface="宋体" panose="02010600030101010101" pitchFamily="2" charset="-122"/>
              </a:rPr>
              <a:t>作为全系统唯一真源的核心定位，能最大限度降低部署运维的复杂度，减少多存储组件带来的一致性问题。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前端交互层依托</a:t>
            </a:r>
            <a:r>
              <a:rPr lang="en-US" altLang="zh-CN">
                <a:ea typeface="宋体" panose="02010600030101010101" pitchFamily="2" charset="-122"/>
              </a:rPr>
              <a:t>React</a:t>
            </a:r>
            <a:r>
              <a:rPr lang="zh-CN" altLang="en-US">
                <a:ea typeface="宋体" panose="02010600030101010101" pitchFamily="2" charset="-122"/>
              </a:rPr>
              <a:t>结合</a:t>
            </a:r>
            <a:r>
              <a:rPr lang="en-US" altLang="zh-CN">
                <a:ea typeface="宋体" panose="02010600030101010101" pitchFamily="2" charset="-122"/>
              </a:rPr>
              <a:t>Vite</a:t>
            </a:r>
            <a:r>
              <a:rPr lang="zh-CN" altLang="en-US">
                <a:ea typeface="宋体" panose="02010600030101010101" pitchFamily="2" charset="-122"/>
              </a:rPr>
              <a:t>搭建浏览器端应用，覆盖官网、登录、项目创建、审核、用量统计与内容分享全场景交互。后端服务层用</a:t>
            </a:r>
            <a:r>
              <a:rPr lang="en-US" altLang="zh-CN">
                <a:ea typeface="宋体" panose="02010600030101010101" pitchFamily="2" charset="-122"/>
              </a:rPr>
              <a:t>Hono</a:t>
            </a:r>
            <a:r>
              <a:rPr lang="zh-CN" altLang="en-US">
                <a:ea typeface="宋体" panose="02010600030101010101" pitchFamily="2" charset="-122"/>
              </a:rPr>
              <a:t>框架搭建</a:t>
            </a:r>
            <a:r>
              <a:rPr lang="en-US" altLang="zh-CN">
                <a:ea typeface="宋体" panose="02010600030101010101" pitchFamily="2" charset="-122"/>
              </a:rPr>
              <a:t>Web</a:t>
            </a:r>
            <a:r>
              <a:rPr lang="zh-CN" altLang="en-US">
                <a:ea typeface="宋体" panose="02010600030101010101" pitchFamily="2" charset="-122"/>
              </a:rPr>
              <a:t>服务，负责处理权限校验、项目管理、素材管理等核心业务逻辑。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核心数据层统一用</a:t>
            </a:r>
            <a:r>
              <a:rPr lang="en-US" altLang="zh-CN">
                <a:ea typeface="宋体" panose="02010600030101010101" pitchFamily="2" charset="-122"/>
              </a:rPr>
              <a:t>SQLite</a:t>
            </a:r>
            <a:r>
              <a:rPr lang="zh-CN" altLang="en-US">
                <a:ea typeface="宋体" panose="02010600030101010101" pitchFamily="2" charset="-122"/>
              </a:rPr>
              <a:t>存储所有核心数据，大到项目配置、角色资产，小到任务状态、积分流水，所有数据都保存在这里，避免了跨组件数据同步的风险。任务处理层由独立</a:t>
            </a:r>
            <a:r>
              <a:rPr lang="en-US" altLang="zh-CN">
                <a:ea typeface="宋体" panose="02010600030101010101" pitchFamily="2" charset="-122"/>
              </a:rPr>
              <a:t>Worker</a:t>
            </a:r>
            <a:r>
              <a:rPr lang="zh-CN" altLang="en-US">
                <a:ea typeface="宋体" panose="02010600030101010101" pitchFamily="2" charset="-122"/>
              </a:rPr>
              <a:t>节点承接全链路消费循环，涵盖任务租约管理、模型生成适配、产物归档、视频合成、积分结算全流程。推理层通过自研服务桥接</a:t>
            </a:r>
            <a:r>
              <a:rPr lang="en-US" altLang="zh-CN">
                <a:ea typeface="宋体" panose="02010600030101010101" pitchFamily="2" charset="-122"/>
              </a:rPr>
              <a:t>ComfyUI</a:t>
            </a:r>
            <a:r>
              <a:rPr lang="zh-CN" altLang="en-US">
                <a:ea typeface="宋体" panose="02010600030101010101" pitchFamily="2" charset="-122"/>
              </a:rPr>
              <a:t>工作流，接入通义千问图像模型与</a:t>
            </a:r>
            <a:r>
              <a:rPr lang="en-US" altLang="zh-CN">
                <a:ea typeface="宋体" panose="02010600030101010101" pitchFamily="2" charset="-122"/>
              </a:rPr>
              <a:t>MiniMax</a:t>
            </a:r>
            <a:r>
              <a:rPr lang="zh-CN" altLang="en-US">
                <a:ea typeface="宋体" panose="02010600030101010101" pitchFamily="2" charset="-122"/>
              </a:rPr>
              <a:t>视频模型，保证生成能力的稳定输出。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架构明确设定六条核心红线：不引入</a:t>
            </a:r>
            <a:r>
              <a:rPr lang="en-US" altLang="zh-CN">
                <a:ea typeface="宋体" panose="02010600030101010101" pitchFamily="2" charset="-122"/>
              </a:rPr>
              <a:t>Redis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Postgres</a:t>
            </a:r>
            <a:r>
              <a:rPr lang="zh-CN" altLang="en-US">
                <a:ea typeface="宋体" panose="02010600030101010101" pitchFamily="2" charset="-122"/>
              </a:rPr>
              <a:t>这类额外存储组件，不依赖对象存储服务；</a:t>
            </a:r>
            <a:r>
              <a:rPr lang="en-US" altLang="zh-CN">
                <a:ea typeface="宋体" panose="02010600030101010101" pitchFamily="2" charset="-122"/>
              </a:rPr>
              <a:t>Web</a:t>
            </a:r>
            <a:r>
              <a:rPr lang="zh-CN" altLang="en-US">
                <a:ea typeface="宋体" panose="02010600030101010101" pitchFamily="2" charset="-122"/>
              </a:rPr>
              <a:t>服务与</a:t>
            </a:r>
            <a:r>
              <a:rPr lang="en-US" altLang="zh-CN">
                <a:ea typeface="宋体" panose="02010600030101010101" pitchFamily="2" charset="-122"/>
              </a:rPr>
              <a:t>Worker</a:t>
            </a:r>
            <a:r>
              <a:rPr lang="zh-CN" altLang="en-US">
                <a:ea typeface="宋体" panose="02010600030101010101" pitchFamily="2" charset="-122"/>
              </a:rPr>
              <a:t>直接读取</a:t>
            </a:r>
            <a:r>
              <a:rPr lang="en-US" altLang="zh-CN">
                <a:ea typeface="宋体" panose="02010600030101010101" pitchFamily="2" charset="-122"/>
              </a:rPr>
              <a:t>SQLite</a:t>
            </a:r>
            <a:r>
              <a:rPr lang="zh-CN" altLang="en-US">
                <a:ea typeface="宋体" panose="02010600030101010101" pitchFamily="2" charset="-122"/>
              </a:rPr>
              <a:t>存储，省去内部</a:t>
            </a:r>
            <a:r>
              <a:rPr lang="en-US" altLang="zh-CN">
                <a:ea typeface="宋体" panose="02010600030101010101" pitchFamily="2" charset="-122"/>
              </a:rPr>
              <a:t>HTTP</a:t>
            </a:r>
            <a:r>
              <a:rPr lang="zh-CN" altLang="en-US">
                <a:ea typeface="宋体" panose="02010600030101010101" pitchFamily="2" charset="-122"/>
              </a:rPr>
              <a:t>调用的额外开销；只有合成环节调用</a:t>
            </a:r>
            <a:r>
              <a:rPr lang="en-US" altLang="zh-CN">
                <a:ea typeface="宋体" panose="02010600030101010101" pitchFamily="2" charset="-122"/>
              </a:rPr>
              <a:t>ffmpeg</a:t>
            </a:r>
            <a:r>
              <a:rPr lang="zh-CN" altLang="en-US">
                <a:ea typeface="宋体" panose="02010600030101010101" pitchFamily="2" charset="-122"/>
              </a:rPr>
              <a:t>，且全部由</a:t>
            </a:r>
            <a:r>
              <a:rPr lang="en-US" altLang="zh-CN">
                <a:ea typeface="宋体" panose="02010600030101010101" pitchFamily="2" charset="-122"/>
              </a:rPr>
              <a:t>Worker</a:t>
            </a:r>
            <a:r>
              <a:rPr lang="zh-CN" altLang="en-US">
                <a:ea typeface="宋体" panose="02010600030101010101" pitchFamily="2" charset="-122"/>
              </a:rPr>
              <a:t>处理，职责边界清晰；模型支持可插拔替换，更换底层模型无需改动上层业务逻辑；所有生成产物直接存储在本地项目目录，方便管理；存储层保持异步接口设计，预留未来分布式扩展的空间。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这套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生成流水线采用模块化接口设计，为每个生产环节单独定义标准化接口，隔离底层实现与上层业务逻辑。核心计算资源优先依托本地部署完成，当本地算力不足或需要大模型能力支持时，自动溢出到第三方</a:t>
            </a:r>
            <a:r>
              <a:rPr lang="en-US" altLang="zh-CN">
                <a:ea typeface="宋体" panose="02010600030101010101" pitchFamily="2" charset="-122"/>
              </a:rPr>
              <a:t>API</a:t>
            </a:r>
            <a:r>
              <a:rPr lang="zh-CN" altLang="en-US">
                <a:ea typeface="宋体" panose="02010600030101010101" pitchFamily="2" charset="-122"/>
              </a:rPr>
              <a:t>调用，兼顾部署成本与弹性扩容需求。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为了实现清晰的成本管控，系统会对每一次模型调用完整记录关键元信息：包括调用的服务商、具体模型、模型版本、随机种子、参考图哈希以及本次调用产生的费用。所有数据会按单个创作周期汇总，自动生成清晰直观的成本报告，让创作者随时掌握资源消耗情况，也方便后续优化创作流程、调整成本结构。这种设计既保留了模型替换的灵活性，也保证了成本的可追溯可管控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稳定可靠的工程底座，支撑起整个系统的现场运行，这套体系通过六个核心设计，保障系统能随时处理失败、从容重试，不出现任务丢失、资源浪费这类问题。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第一个设计是任务租约机制。任务分配给工作节点后，会绑定有效租期，租期结束若未完成，自动由队列中其他节点回收领取，工作节点意外重启也不会丢失任务，彻底解决了单点故障导致的任务悬空问题。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第二个设计采用事务化结果提交，把任务结果、项目状态、积分结算这三类操作绑定成单个事务落库，遵循架构决策记录</a:t>
            </a:r>
            <a:r>
              <a:rPr lang="en-US" altLang="zh-CN">
                <a:ea typeface="宋体" panose="02010600030101010101" pitchFamily="2" charset="-122"/>
              </a:rPr>
              <a:t>ADR-0007</a:t>
            </a:r>
            <a:r>
              <a:rPr lang="zh-CN" altLang="en-US">
                <a:ea typeface="宋体" panose="02010600030101010101" pitchFamily="2" charset="-122"/>
              </a:rPr>
              <a:t>的规范，保证数据一致性，不会出现部分成功部分失败的脏数据。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第三个设计优化了失败重试的资源消耗，重试时沿用原有生成</a:t>
            </a:r>
            <a:r>
              <a:rPr lang="en-US" altLang="zh-CN">
                <a:ea typeface="宋体" panose="02010600030101010101" pitchFamily="2" charset="-122"/>
              </a:rPr>
              <a:t>ID</a:t>
            </a:r>
            <a:r>
              <a:rPr lang="zh-CN" altLang="en-US">
                <a:ea typeface="宋体" panose="02010600030101010101" pitchFamily="2" charset="-122"/>
              </a:rPr>
              <a:t>，已经成功落盘的候选结果不需要重复生成，避免浪费</a:t>
            </a:r>
            <a:r>
              <a:rPr lang="en-US" altLang="zh-CN">
                <a:ea typeface="宋体" panose="02010600030101010101" pitchFamily="2" charset="-122"/>
              </a:rPr>
              <a:t>GPU</a:t>
            </a:r>
            <a:r>
              <a:rPr lang="zh-CN" altLang="en-US">
                <a:ea typeface="宋体" panose="02010600030101010101" pitchFamily="2" charset="-122"/>
              </a:rPr>
              <a:t>算力，大幅降低失败重试的成本。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第四个设计支持优雅停机，收到终止信号后，节点立刻停止领取新任务，等待当前正在运行的任务全部处理完成再退出，不会中断正在进行的生成任务。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第五个设计增加了媒体完整性校验，限制流式下载单文件最大体积，同时用工具分别校验图片和视频的完整性，一旦发现文件损坏直接取消任务，避免不合格产物流入后续环节。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第六个设计是过期产物自动清扫，工作节点每小时定期清理过期的推理临时文件和发布暂存文件，自动控制磁盘占用水位，保障系统长期稳定运行。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这套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生成系统采用动作级计价逻辑，核心机制是原子化的预留、结算与释放流程，从底层保障成本核算的精准性。目前项目处于团队内部研发阶段，积分仅通过团队命令行工具发放，不开放任何购买支付通道。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用户发起新建项目、提交生成阶段时，系统会预先锁定对应积分；生成任务成功完成则正式扣除积分，任务失败会立刻全额释放预留额度，不会产生无效消耗。所有积分流水保持不可篡改的特性，同时支持幂等操作避免重复扣费，用量页面会按项目和模型分类展示清晰的消耗明细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我们对比两种生成路径的成本：按单条视频</a:t>
            </a:r>
            <a:r>
              <a:rPr lang="en-US" altLang="zh-CN">
                <a:ea typeface="宋体" panose="02010600030101010101" pitchFamily="2" charset="-122"/>
              </a:rPr>
              <a:t>28</a:t>
            </a:r>
            <a:r>
              <a:rPr lang="zh-CN" altLang="en-US">
                <a:ea typeface="宋体" panose="02010600030101010101" pitchFamily="2" charset="-122"/>
              </a:rPr>
              <a:t>镜估算，默认直出路径跳过了关键帧生成环节，省下全部图片生成积分，比传统三候选关键帧路径节省约</a:t>
            </a:r>
            <a:r>
              <a:rPr lang="en-US" altLang="zh-CN">
                <a:ea typeface="宋体" panose="02010600030101010101" pitchFamily="2" charset="-122"/>
              </a:rPr>
              <a:t>23%</a:t>
            </a:r>
            <a:r>
              <a:rPr lang="zh-CN" altLang="en-US">
                <a:ea typeface="宋体" panose="02010600030101010101" pitchFamily="2" charset="-122"/>
              </a:rPr>
              <a:t>的消耗。</a:t>
            </a:r>
            <a:r>
              <a:rPr lang="en-US" altLang="zh-CN">
                <a:ea typeface="宋体" panose="02010600030101010101" pitchFamily="2" charset="-122"/>
              </a:rPr>
              <a:t>GPU</a:t>
            </a:r>
            <a:r>
              <a:rPr lang="zh-CN" altLang="en-US">
                <a:ea typeface="宋体" panose="02010600030101010101" pitchFamily="2" charset="-122"/>
              </a:rPr>
              <a:t>资源消耗也会单独估算展示，计算公式清晰可追溯。需要说明的是，整期全环节走国内</a:t>
            </a:r>
            <a:r>
              <a:rPr lang="en-US" altLang="zh-CN">
                <a:ea typeface="宋体" panose="02010600030101010101" pitchFamily="2" charset="-122"/>
              </a:rPr>
              <a:t>API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20</a:t>
            </a:r>
            <a:r>
              <a:rPr lang="zh-CN" altLang="en-US">
                <a:ea typeface="宋体" panose="02010600030101010101" pitchFamily="2" charset="-122"/>
              </a:rPr>
              <a:t>元人民币费用上限，是团队研发阶段的预算约束，并非面向用户的定价。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生成内容的合规性始终是行业红线，这套生产体系从设计之初就把合规安全嵌进了每个核心环节，全方位筑牢内容安全护栏。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这套体系同时满足显性与隐式的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标识要求，成品右下角会添加规范的半透明水印，明确标注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生成属性，同时保留模型原生的</a:t>
            </a:r>
            <a:r>
              <a:rPr lang="en-US" altLang="zh-CN">
                <a:ea typeface="宋体" panose="02010600030101010101" pitchFamily="2" charset="-122"/>
              </a:rPr>
              <a:t>SynthID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C2PA</a:t>
            </a:r>
            <a:r>
              <a:rPr lang="zh-CN" altLang="en-US">
                <a:ea typeface="宋体" panose="02010600030101010101" pitchFamily="2" charset="-122"/>
              </a:rPr>
              <a:t>溯源标识，完整写入文件元数据，完全符合</a:t>
            </a:r>
            <a:r>
              <a:rPr lang="en-US" altLang="zh-CN">
                <a:ea typeface="宋体" panose="02010600030101010101" pitchFamily="2" charset="-122"/>
              </a:rPr>
              <a:t>2025</a:t>
            </a:r>
            <a:r>
              <a:rPr lang="zh-CN" altLang="en-US">
                <a:ea typeface="宋体" panose="02010600030101010101" pitchFamily="2" charset="-122"/>
              </a:rPr>
              <a:t>年</a:t>
            </a:r>
            <a:r>
              <a:rPr lang="en-US" altLang="zh-CN">
                <a:ea typeface="宋体" panose="02010600030101010101" pitchFamily="2" charset="-122"/>
              </a:rPr>
              <a:t>9</a:t>
            </a:r>
            <a:r>
              <a:rPr lang="zh-CN" altLang="en-US">
                <a:ea typeface="宋体" panose="02010600030101010101" pitchFamily="2" charset="-122"/>
              </a:rPr>
              <a:t>月即将正式施行的《人工智能生成合成内容标识办法》要求。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内容安全层面，系统会在</a:t>
            </a:r>
            <a:r>
              <a:rPr lang="en-US" altLang="zh-CN">
                <a:ea typeface="宋体" panose="02010600030101010101" pitchFamily="2" charset="-122"/>
              </a:rPr>
              <a:t>prompt</a:t>
            </a:r>
            <a:r>
              <a:rPr lang="zh-CN" altLang="en-US">
                <a:ea typeface="宋体" panose="02010600030101010101" pitchFamily="2" charset="-122"/>
              </a:rPr>
              <a:t>输入阶段就启用关键词黑名单拦截机制，违规内容会第一时间被拒绝，同时提示用户调整创作要求，从源头阻断风险生成。针对用户数据安全，系统采用多租户行级数据隔离，每个用户仅能访问自己权限内的内容，访问密钥只保存在后端推理环节，公开分享的作品也不会泄露用户账号隐私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版权与内容保真层面，系统仅使用正式授权的商用音乐素材，严格避免侵权风险；同时规则明确禁止生成他人注册商标，所有涉及的私营店铺都做虚构化处理，保证内容的合规性，地标景观还原失真也被纳入核心质量红线，从各个维度守住内容安全底线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接下来我们走一遍完整的生成流程，帮大家直观感受整个系统的运作逻辑。这套流程全程开放人工干预节点，创作者可以随时调整内容，不会出现生成结果完全失控的情况。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第一步我们新建一期项目，选择官方预设的角色和目的地灵山大佛，确定</a:t>
            </a:r>
            <a:r>
              <a:rPr lang="en-US" altLang="zh-CN">
                <a:ea typeface="宋体" panose="02010600030101010101" pitchFamily="2" charset="-122"/>
              </a:rPr>
              <a:t>9:16</a:t>
            </a:r>
            <a:r>
              <a:rPr lang="zh-CN" altLang="en-US">
                <a:ea typeface="宋体" panose="02010600030101010101" pitchFamily="2" charset="-122"/>
              </a:rPr>
              <a:t>的竖画幅适配移动端，选用默认的直出路径，页面会直接给出本次创作的积分预估，大家可以提前确认成本再开始。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第二步进入第一轮人工审核，我们可以修改生成好的逐镜字幕，删掉不符合预期的镜头，也可以直接输入优化指令让系统重新生成脚本，灵活调整创作方向。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第三步启动视频生成，系统会先自动完成素材检查，再调用双参考图生成模型输出内容，创作者可以在进度页实时查看每一步的任务状态。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第四步进入第三轮人工审核，我们拖动滑块截取符合节奏的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秒片段，逐一核对质量要求，标记出不合格的坏镜直接触发重生成，把问题拦截在合成之前。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第五步确认合成设置，填写作品标题、选择授权配乐、核对字幕信息后启动合成，系统完成音视频校验后就会输出最终成片。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最后一步我们可以在线预览成片，下载成品</a:t>
            </a:r>
            <a:r>
              <a:rPr lang="en-US" altLang="zh-CN">
                <a:ea typeface="宋体" panose="02010600030101010101" pitchFamily="2" charset="-122"/>
              </a:rPr>
              <a:t>MP4</a:t>
            </a:r>
            <a:r>
              <a:rPr lang="zh-CN" altLang="en-US">
                <a:ea typeface="宋体" panose="02010600030101010101" pitchFamily="2" charset="-122"/>
              </a:rPr>
              <a:t>，也可以直接生成带二维码的分享链接，快速分发作品。整个演示预计耗时</a:t>
            </a:r>
            <a:r>
              <a:rPr lang="en-US" altLang="zh-CN">
                <a:ea typeface="宋体" panose="02010600030101010101" pitchFamily="2" charset="-122"/>
              </a:rPr>
              <a:t>10</a:t>
            </a:r>
            <a:r>
              <a:rPr lang="zh-CN" altLang="en-US">
                <a:ea typeface="宋体" panose="02010600030101010101" pitchFamily="2" charset="-122"/>
              </a:rPr>
              <a:t>到</a:t>
            </a:r>
            <a:r>
              <a:rPr lang="en-US" altLang="zh-CN">
                <a:ea typeface="宋体" panose="02010600030101010101" pitchFamily="2" charset="-122"/>
              </a:rPr>
              <a:t>15</a:t>
            </a:r>
            <a:r>
              <a:rPr lang="zh-CN" altLang="en-US">
                <a:ea typeface="宋体" panose="02010600030101010101" pitchFamily="2" charset="-122"/>
              </a:rPr>
              <a:t>分钟，如果现场网络出现波动，我们也准备了提前生成好的成品和公开分享链接供大家查看。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panose="02010600030101010101" pitchFamily="2" charset="-122"/>
              </a:rPr>
              <a:t>刚才我们已经从生成流程、技术架构到现场演示，完整给大家介绍了我们的项目，我是</a:t>
            </a:r>
            <a:r>
              <a:rPr lang="en-US" altLang="zh-CN">
                <a:ea typeface="宋体" panose="02010600030101010101" pitchFamily="2" charset="-122"/>
              </a:rPr>
              <a:t>Kelvoy</a:t>
            </a:r>
            <a:r>
              <a:rPr lang="zh-CN" altLang="en-US">
                <a:ea typeface="宋体" panose="02010600030101010101" pitchFamily="2" charset="-122"/>
              </a:rPr>
              <a:t>项目组的分享成员。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我们本次参加第三届</a:t>
            </a:r>
            <a:r>
              <a:rPr lang="en-US" altLang="zh-CN">
                <a:ea typeface="宋体" panose="02010600030101010101" pitchFamily="2" charset="-122"/>
              </a:rPr>
              <a:t>NVIDIA DGX Spark</a:t>
            </a:r>
            <a:r>
              <a:rPr lang="zh-CN" altLang="en-US">
                <a:ea typeface="宋体" panose="02010600030101010101" pitchFamily="2" charset="-122"/>
              </a:rPr>
              <a:t>黑客松的作品</a:t>
            </a:r>
            <a:r>
              <a:rPr lang="en-US" altLang="zh-CN">
                <a:ea typeface="宋体" panose="02010600030101010101" pitchFamily="2" charset="-122"/>
              </a:rPr>
              <a:t>Kelvoy</a:t>
            </a:r>
            <a:r>
              <a:rPr lang="zh-CN" altLang="en-US">
                <a:ea typeface="宋体" panose="02010600030101010101" pitchFamily="2" charset="-122"/>
              </a:rPr>
              <a:t>，是</a:t>
            </a:r>
            <a:r>
              <a:rPr lang="en-US" altLang="zh-CN">
                <a:ea typeface="宋体" panose="02010600030101010101" pitchFamily="2" charset="-122"/>
              </a:rPr>
              <a:t>AI</a:t>
            </a:r>
            <a:r>
              <a:rPr lang="zh-CN" altLang="en-US">
                <a:ea typeface="宋体" panose="02010600030101010101" pitchFamily="2" charset="-122"/>
              </a:rPr>
              <a:t>旅行</a:t>
            </a:r>
            <a:r>
              <a:rPr lang="en-US" altLang="zh-CN">
                <a:ea typeface="宋体" panose="02010600030101010101" pitchFamily="2" charset="-122"/>
              </a:rPr>
              <a:t>Vlog</a:t>
            </a:r>
            <a:r>
              <a:rPr lang="zh-CN" altLang="en-US">
                <a:ea typeface="宋体" panose="02010600030101010101" pitchFamily="2" charset="-122"/>
              </a:rPr>
              <a:t>生产工作台，目标就是实现「选一个角色，去一个真实的地方，就能自动生成一期旅行</a:t>
            </a:r>
            <a:r>
              <a:rPr lang="en-US" altLang="zh-CN">
                <a:ea typeface="宋体" panose="02010600030101010101" pitchFamily="2" charset="-122"/>
              </a:rPr>
              <a:t>Vlog</a:t>
            </a:r>
            <a:r>
              <a:rPr lang="zh-CN" altLang="en-US">
                <a:ea typeface="宋体" panose="02010600030101010101" pitchFamily="2" charset="-122"/>
              </a:rPr>
              <a:t>」，践行我们「可旅，让每一场旅行都有</a:t>
            </a:r>
            <a:r>
              <a:rPr lang="en-US" altLang="zh-CN">
                <a:ea typeface="宋体" panose="02010600030101010101" pitchFamily="2" charset="-122"/>
              </a:rPr>
              <a:t>vlog</a:t>
            </a:r>
            <a:r>
              <a:rPr lang="zh-CN" altLang="en-US">
                <a:ea typeface="宋体" panose="02010600030101010101" pitchFamily="2" charset="-122"/>
              </a:rPr>
              <a:t>」的初衷。整个项目完全遵循</a:t>
            </a:r>
            <a:r>
              <a:rPr lang="en-US" altLang="zh-CN">
                <a:ea typeface="宋体" panose="02010600030101010101" pitchFamily="2" charset="-122"/>
              </a:rPr>
              <a:t>Apache License 2.0</a:t>
            </a:r>
            <a:r>
              <a:rPr lang="zh-CN" altLang="en-US">
                <a:ea typeface="宋体" panose="02010600030101010101" pitchFamily="2" charset="-122"/>
              </a:rPr>
              <a:t>开源，代码已经放在页上的</a:t>
            </a:r>
            <a:r>
              <a:rPr lang="en-US" altLang="zh-CN">
                <a:ea typeface="宋体" panose="02010600030101010101" pitchFamily="2" charset="-122"/>
              </a:rPr>
              <a:t>GitHub</a:t>
            </a:r>
            <a:r>
              <a:rPr lang="zh-CN" altLang="en-US">
                <a:ea typeface="宋体" panose="02010600030101010101" pitchFamily="2" charset="-122"/>
              </a:rPr>
              <a:t>仓库，欢迎大家体验交流。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在这里我们项目组也由衷感谢所有提供支持的赛事方与合作伙伴，谢谢大家。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4" name="Accent rule"/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3" name="Accent rule"/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4" name="Accent rule"/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5" name="Accent rule"/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3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4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4" name="Accent rule"/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3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t="22807" b="22807"/>
          <a:stretch>
            <a:fillRect/>
          </a:stretch>
        </p:blipFill>
        <p:spPr>
          <a:xfrm>
            <a:off x="0" y="4095750"/>
            <a:ext cx="12192000" cy="276225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4019550"/>
            <a:ext cx="12192000" cy="76200"/>
          </a:xfrm>
          <a:prstGeom prst="rect">
            <a:avLst/>
          </a:prstGeom>
          <a:solidFill>
            <a:srgbClr val="F3F7FC"/>
          </a:solidFill>
          <a:ln w="0">
            <a:noFill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876300"/>
            <a:ext cx="2857500" cy="323850"/>
          </a:xfrm>
          <a:prstGeom prst="roundRect">
            <a:avLst>
              <a:gd name="adj" fmla="val 23529"/>
            </a:avLst>
          </a:prstGeom>
          <a:solidFill>
            <a:srgbClr val="DFE9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第三届 NVIDIA DGX Spark 黑客松 · DEMO</a:t>
            </a:r>
            <a:endParaRPr sz="975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09700"/>
            <a:ext cx="6667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45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Kelvoy 可旅</a:t>
            </a:r>
            <a:endParaRPr sz="450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286000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旅行 Vlog 生产工作台</a:t>
            </a:r>
            <a:endParaRPr sz="202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2952750"/>
            <a:ext cx="68580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选一个角色，去一个真实的地方，一期旅行 Vlog 自动生成。</a:t>
            </a:r>
            <a:endParaRPr sz="142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37719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</a:t>
            </a:r>
            <a:r>
              <a:rPr lang="en-US"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镜 · 每镜 </a:t>
            </a:r>
            <a:r>
              <a:rPr lang="en-US"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3-4</a:t>
            </a: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秒</a:t>
            </a:r>
            <a:endParaRPr sz="94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381250" y="37719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9:16 / 16:9</a:t>
            </a:r>
            <a:endParaRPr sz="94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152900" y="37719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三个审核点</a:t>
            </a:r>
            <a:endParaRPr sz="94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924550" y="37719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DGX Spark</a:t>
            </a:r>
            <a:endParaRPr sz="94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旅行内容持续生产，卡在三件事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428750"/>
            <a:ext cx="35052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76300" y="16954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FE9FF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7716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247900"/>
            <a:ext cx="2971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真人出镜成本高</a:t>
            </a:r>
            <a:endParaRPr sz="142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609850"/>
            <a:ext cx="2971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9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拍摄与档期贵，人设跨期难一致；换一期就换一张脸，账号资产沉淀不下来。</a:t>
            </a:r>
            <a:endParaRPr sz="109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43400" y="1428750"/>
            <a:ext cx="35052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610100" y="16954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FE9F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10100" y="17716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247900"/>
            <a:ext cx="2971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 AI 工具是黑盒</a:t>
            </a:r>
            <a:endParaRPr sz="142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609850"/>
            <a:ext cx="2971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9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一键生成不可控、不可改；通用剪辑器只管剪，不管内容从哪来。</a:t>
            </a:r>
            <a:endParaRPr sz="109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077200" y="1428750"/>
            <a:ext cx="35052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8343900" y="16954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FE9FF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43900" y="17716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43900" y="2247900"/>
            <a:ext cx="2971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文旅与代运营要持续产出</a:t>
            </a:r>
            <a:endParaRPr sz="142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43900" y="2609850"/>
            <a:ext cx="2971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9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同一账号、多个目的地、稳定更新——现有工具没有为这个场景设计。</a:t>
            </a:r>
            <a:endParaRPr sz="109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" y="3810000"/>
            <a:ext cx="10972800" cy="1238250"/>
          </a:xfrm>
          <a:prstGeom prst="roundRect">
            <a:avLst>
              <a:gd name="adj" fmla="val 6154"/>
            </a:avLst>
          </a:prstGeom>
          <a:solidFill>
            <a:srgbClr val="2563FF"/>
          </a:solidFill>
          <a:ln w="0">
            <a:solidFill>
              <a:srgbClr val="2563FF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40767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90600" y="44196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E9F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E9F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参考片验证了「静帧锁一致性 + 1 秒一镜」可稳定出片；DGX Spark 128GB 统一内存让脚本、图像、视频、合成在单机跑成流水线。</a:t>
            </a:r>
            <a:endParaRPr sz="1200" b="0">
              <a:solidFill>
                <a:srgbClr val="E9F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产品定义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一个角色 + 一个景区，换回一期 30 秒旅行 Vlog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428750"/>
            <a:ext cx="2857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rcRect l="476" r="476"/>
          <a:stretch>
            <a:fillRect/>
          </a:stretch>
        </p:blipFill>
        <p:spPr>
          <a:xfrm>
            <a:off x="838200" y="1676400"/>
            <a:ext cx="990600" cy="1200150"/>
          </a:xfrm>
          <a:prstGeom prst="roundRect">
            <a:avLst>
              <a:gd name="adj" fmla="val 7692"/>
            </a:avLst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38200" y="142875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900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97180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9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虚拟角色（账号级资产）</a:t>
            </a:r>
            <a:endParaRPr sz="109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321945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三视图参考锁定外形，每期可换穿搭</a:t>
            </a:r>
            <a:endParaRPr sz="97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581400" y="2400300"/>
            <a:ext cx="533400" cy="342900"/>
          </a:xfrm>
          <a:prstGeom prst="rightArrow">
            <a:avLst/>
          </a:prstGeom>
          <a:solidFill>
            <a:srgbClr val="AEC4E8"/>
          </a:solidFill>
          <a:ln w="0">
            <a:noFill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267200" y="1428750"/>
            <a:ext cx="30099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33900" y="163830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三个人工选择点</a:t>
            </a:r>
            <a:endParaRPr sz="900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533900" y="1924050"/>
            <a:ext cx="2476500" cy="438150"/>
          </a:xfrm>
          <a:prstGeom prst="roundRect">
            <a:avLst>
              <a:gd name="adj" fmla="val 17391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l">
              <a:defRPr sz="1015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 1 · 脚本：改、删、重生成</a:t>
            </a:r>
            <a:endParaRPr sz="1015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533900" y="2476500"/>
            <a:ext cx="2476500" cy="438150"/>
          </a:xfrm>
          <a:prstGeom prst="roundRect">
            <a:avLst>
              <a:gd name="adj" fmla="val 17391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l">
              <a:defRPr sz="1015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 2 · 关键帧：逐镜挑图</a:t>
            </a:r>
            <a:endParaRPr sz="1015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533900" y="3028950"/>
            <a:ext cx="2476500" cy="438150"/>
          </a:xfrm>
          <a:prstGeom prst="roundRect">
            <a:avLst>
              <a:gd name="adj" fmla="val 17391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l">
              <a:defRPr sz="1015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 3 · 片段：选 1 秒 + 红线</a:t>
            </a:r>
            <a:endParaRPr sz="1015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7391400" y="2400300"/>
            <a:ext cx="533400" cy="342900"/>
          </a:xfrm>
          <a:prstGeom prst="rightArrow">
            <a:avLst/>
          </a:prstGeom>
          <a:solidFill>
            <a:srgbClr val="AEC4E8"/>
          </a:solidFill>
          <a:ln w="0">
            <a:noFill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8077200" y="1428750"/>
            <a:ext cx="3505200" cy="2286000"/>
          </a:xfrm>
          <a:prstGeom prst="roundRect">
            <a:avLst>
              <a:gd name="adj" fmla="val 3333"/>
            </a:avLst>
          </a:prstGeom>
          <a:solidFill>
            <a:srgbClr val="2563FF"/>
          </a:solidFill>
          <a:ln w="0">
            <a:solidFill>
              <a:srgbClr val="2563FF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43900" y="1676400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1">
                <a:solidFill>
                  <a:srgbClr val="C9D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9D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900" b="1">
              <a:solidFill>
                <a:srgbClr val="C9D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43900" y="1943100"/>
            <a:ext cx="2971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一期旅行 Vlog MP4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43900" y="2552700"/>
            <a:ext cx="3009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E9F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E9F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24–30 镜 · 每镜 1 秒 · 约 30 秒</a:t>
            </a:r>
            <a:endParaRPr sz="1050" b="0">
              <a:solidFill>
                <a:srgbClr val="E9F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43900" y="2876550"/>
            <a:ext cx="3009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E9F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E9F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9:16 竖屏（默认）或 16:9 横屏</a:t>
            </a:r>
            <a:endParaRPr sz="1050" b="0">
              <a:solidFill>
                <a:srgbClr val="E9F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43900" y="3200400"/>
            <a:ext cx="3009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E9F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E9F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带字幕、LUT、AI 标识；可分享</a:t>
            </a:r>
            <a:endParaRPr sz="1050" b="0">
              <a:solidFill>
                <a:srgbClr val="E9F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4000500"/>
            <a:ext cx="5715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目的地是共享资产：官方维护景区级符号包</a:t>
            </a:r>
            <a:endParaRPr sz="120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2"/>
          <a:srcRect t="9119" b="9119"/>
          <a:stretch>
            <a:fillRect/>
          </a:stretch>
        </p:blipFill>
        <p:spPr>
          <a:xfrm>
            <a:off x="609600" y="4324350"/>
            <a:ext cx="2019300" cy="1238250"/>
          </a:xfrm>
          <a:prstGeom prst="roundRect">
            <a:avLst>
              <a:gd name="adj" fmla="val 6154"/>
            </a:avLst>
          </a:prstGeom>
        </p:spPr>
      </p:pic>
      <p:sp>
        <p:nvSpPr>
          <p:cNvPr id="24" name="圆角矩形 23"/>
          <p:cNvSpPr>
            <a:spLocks noGrp="1"/>
          </p:cNvSpPr>
          <p:nvPr/>
        </p:nvSpPr>
        <p:spPr>
          <a:xfrm>
            <a:off x="609600" y="5276850"/>
            <a:ext cx="2019300" cy="285750"/>
          </a:xfrm>
          <a:prstGeom prst="roundRect">
            <a:avLst>
              <a:gd name="adj" fmla="val 26667"/>
            </a:avLst>
          </a:prstGeom>
          <a:solidFill>
            <a:srgbClr val="33415C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无锡南长街</a:t>
            </a:r>
            <a:endParaRPr sz="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3"/>
          <a:srcRect t="9119" b="9119"/>
          <a:stretch>
            <a:fillRect/>
          </a:stretch>
        </p:blipFill>
        <p:spPr>
          <a:xfrm>
            <a:off x="2857500" y="4324350"/>
            <a:ext cx="2019300" cy="1238250"/>
          </a:xfrm>
          <a:prstGeom prst="roundRect">
            <a:avLst>
              <a:gd name="adj" fmla="val 6154"/>
            </a:avLst>
          </a:prstGeom>
        </p:spPr>
      </p:pic>
      <p:sp>
        <p:nvSpPr>
          <p:cNvPr id="26" name="圆角矩形 25"/>
          <p:cNvSpPr>
            <a:spLocks noGrp="1"/>
          </p:cNvSpPr>
          <p:nvPr/>
        </p:nvSpPr>
        <p:spPr>
          <a:xfrm>
            <a:off x="2857500" y="5276850"/>
            <a:ext cx="2019300" cy="285750"/>
          </a:xfrm>
          <a:prstGeom prst="roundRect">
            <a:avLst>
              <a:gd name="adj" fmla="val 26667"/>
            </a:avLst>
          </a:prstGeom>
          <a:solidFill>
            <a:srgbClr val="33415C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无锡拈花湾</a:t>
            </a:r>
            <a:endParaRPr sz="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4"/>
          <a:srcRect t="2538" b="2538"/>
          <a:stretch>
            <a:fillRect/>
          </a:stretch>
        </p:blipFill>
        <p:spPr>
          <a:xfrm>
            <a:off x="5105400" y="4324350"/>
            <a:ext cx="2019300" cy="1238250"/>
          </a:xfrm>
          <a:prstGeom prst="roundRect">
            <a:avLst>
              <a:gd name="adj" fmla="val 6154"/>
            </a:avLst>
          </a:prstGeom>
        </p:spPr>
      </p:pic>
      <p:sp>
        <p:nvSpPr>
          <p:cNvPr id="28" name="圆角矩形 27"/>
          <p:cNvSpPr>
            <a:spLocks noGrp="1"/>
          </p:cNvSpPr>
          <p:nvPr/>
        </p:nvSpPr>
        <p:spPr>
          <a:xfrm>
            <a:off x="5105400" y="5276850"/>
            <a:ext cx="2019300" cy="285750"/>
          </a:xfrm>
          <a:prstGeom prst="roundRect">
            <a:avLst>
              <a:gd name="adj" fmla="val 26667"/>
            </a:avLst>
          </a:prstGeom>
          <a:solidFill>
            <a:srgbClr val="33415C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无锡灵山大佛</a:t>
            </a:r>
            <a:endParaRPr sz="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5"/>
          <a:srcRect t="861" b="861"/>
          <a:stretch>
            <a:fillRect/>
          </a:stretch>
        </p:blipFill>
        <p:spPr>
          <a:xfrm>
            <a:off x="7353300" y="4324350"/>
            <a:ext cx="2019300" cy="1238250"/>
          </a:xfrm>
          <a:prstGeom prst="roundRect">
            <a:avLst>
              <a:gd name="adj" fmla="val 6154"/>
            </a:avLst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7353300" y="5276850"/>
            <a:ext cx="2019300" cy="285750"/>
          </a:xfrm>
          <a:prstGeom prst="roundRect">
            <a:avLst>
              <a:gd name="adj" fmla="val 26667"/>
            </a:avLst>
          </a:prstGeom>
          <a:solidFill>
            <a:srgbClr val="33415C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泰山</a:t>
            </a:r>
            <a:endParaRPr sz="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6"/>
          <a:srcRect t="9119" b="9119"/>
          <a:stretch>
            <a:fillRect/>
          </a:stretch>
        </p:blipFill>
        <p:spPr>
          <a:xfrm>
            <a:off x="9601200" y="4324350"/>
            <a:ext cx="2019300" cy="1238250"/>
          </a:xfrm>
          <a:prstGeom prst="roundRect">
            <a:avLst>
              <a:gd name="adj" fmla="val 6154"/>
            </a:avLst>
          </a:prstGeom>
        </p:spPr>
      </p:pic>
      <p:sp>
        <p:nvSpPr>
          <p:cNvPr id="32" name="圆角矩形 31"/>
          <p:cNvSpPr>
            <a:spLocks noGrp="1"/>
          </p:cNvSpPr>
          <p:nvPr/>
        </p:nvSpPr>
        <p:spPr>
          <a:xfrm>
            <a:off x="9601200" y="5276850"/>
            <a:ext cx="2019300" cy="285750"/>
          </a:xfrm>
          <a:prstGeom prst="roundRect">
            <a:avLst>
              <a:gd name="adj" fmla="val 26667"/>
            </a:avLst>
          </a:prstGeom>
          <a:solidFill>
            <a:srgbClr val="33415C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黄山</a:t>
            </a:r>
            <a:endParaRPr sz="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09600" y="57721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每个地标 3–10 张实景参考图 + 最佳机位 / 时段 + 必须保真特征；首批内置五个景区</a:t>
            </a:r>
            <a:endParaRPr sz="97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不做通用视频生成器，只做「角色 × 目的地」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485900"/>
          <a:ext cx="10972800" cy="4095750"/>
        </p:xfrm>
        <a:graphic>
          <a:graphicData uri="http://schemas.openxmlformats.org/drawingml/2006/table">
            <a:tbl>
              <a:tblPr/>
              <a:tblGrid>
                <a:gridCol w="2270234"/>
                <a:gridCol w="3783724"/>
                <a:gridCol w="4918841"/>
              </a:tblGrid>
              <a:tr h="682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通用 AI 视频工具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Kelvoy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2563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角色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每次重新描述，形象随机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账号级资产：外形跨期一致，每期换穿搭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目的地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不懂地标，容易失真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景区级符号包 + 实景参考图保真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叙事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自由发挥，质量看运气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六种目的地类型对应六种镜头语法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过程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一键黑盒，不可干预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六阶段 + 人工审核点，可改、可重跑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成本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按次付费，不可控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本地 DGX 为主 + API 溢出，整期上限 ¥20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09600" y="5829300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护城河不在模型，在角色资产、目的地库和跨期一致性</a:t>
            </a:r>
            <a:endParaRPr sz="105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流水线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六阶段生成，三个人工审核点兜住质量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8097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742950" y="1962150"/>
            <a:ext cx="514350" cy="247650"/>
          </a:xfrm>
          <a:prstGeom prst="roundRect">
            <a:avLst>
              <a:gd name="adj" fmla="val 30769"/>
            </a:avLst>
          </a:prstGeom>
          <a:solidFill>
            <a:srgbClr val="DFE9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Brief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23050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建期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590800"/>
            <a:ext cx="12763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 / 目的地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 / 画幅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2152650" y="2400300"/>
            <a:ext cx="247650" cy="228600"/>
          </a:xfrm>
          <a:prstGeom prst="rightArrow">
            <a:avLst/>
          </a:prstGeom>
          <a:solidFill>
            <a:srgbClr val="AEC4E8"/>
          </a:solidFill>
          <a:ln w="0">
            <a:noFill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2438400" y="18097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2571750" y="1962150"/>
            <a:ext cx="514350" cy="247650"/>
          </a:xfrm>
          <a:prstGeom prst="roundRect">
            <a:avLst>
              <a:gd name="adj" fmla="val 30769"/>
            </a:avLst>
          </a:prstGeom>
          <a:solidFill>
            <a:srgbClr val="DFE9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71750" y="23050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脚本生成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71750" y="2590800"/>
            <a:ext cx="12763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24–30 镜 JSON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含逐镜字幕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3981450" y="2400300"/>
            <a:ext cx="247650" cy="228600"/>
          </a:xfrm>
          <a:prstGeom prst="rightArrow">
            <a:avLst/>
          </a:prstGeom>
          <a:solidFill>
            <a:srgbClr val="AEC4E8"/>
          </a:solidFill>
          <a:ln w="0">
            <a:noFill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267200" y="18097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4400550" y="1962150"/>
            <a:ext cx="514350" cy="247650"/>
          </a:xfrm>
          <a:prstGeom prst="roundRect">
            <a:avLst>
              <a:gd name="adj" fmla="val 30769"/>
            </a:avLst>
          </a:prstGeom>
          <a:solidFill>
            <a:srgbClr val="DFE9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23050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角色资产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2590800"/>
            <a:ext cx="12763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版本快照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参考图集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5810250" y="2400300"/>
            <a:ext cx="247650" cy="228600"/>
          </a:xfrm>
          <a:prstGeom prst="rightArrow">
            <a:avLst/>
          </a:prstGeom>
          <a:solidFill>
            <a:srgbClr val="AEC4E8"/>
          </a:solidFill>
          <a:ln w="0">
            <a:noFill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0" y="18097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29350" y="1962150"/>
            <a:ext cx="514350" cy="247650"/>
          </a:xfrm>
          <a:prstGeom prst="roundRect">
            <a:avLst>
              <a:gd name="adj" fmla="val 30769"/>
            </a:avLst>
          </a:prstGeom>
          <a:solidFill>
            <a:srgbClr val="DFE9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29350" y="23050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关键帧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29350" y="2590800"/>
            <a:ext cx="12763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每镜 1–3 候选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（传统路径）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7639050" y="2400300"/>
            <a:ext cx="247650" cy="228600"/>
          </a:xfrm>
          <a:prstGeom prst="rightArrow">
            <a:avLst/>
          </a:prstGeom>
          <a:solidFill>
            <a:srgbClr val="AEC4E8"/>
          </a:solidFill>
          <a:ln w="0">
            <a:noFill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7924800" y="18097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8058150" y="1962150"/>
            <a:ext cx="514350" cy="247650"/>
          </a:xfrm>
          <a:prstGeom prst="roundRect">
            <a:avLst>
              <a:gd name="adj" fmla="val 30769"/>
            </a:avLst>
          </a:prstGeom>
          <a:solidFill>
            <a:srgbClr val="DFE9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S4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058150" y="23050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视频生成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58150" y="2590800"/>
            <a:ext cx="12763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3–5 秒片段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截取 1 秒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右箭头 27"/>
          <p:cNvSpPr>
            <a:spLocks noGrp="1"/>
          </p:cNvSpPr>
          <p:nvPr/>
        </p:nvSpPr>
        <p:spPr>
          <a:xfrm>
            <a:off x="9467850" y="2400300"/>
            <a:ext cx="247650" cy="228600"/>
          </a:xfrm>
          <a:prstGeom prst="rightArrow">
            <a:avLst/>
          </a:prstGeom>
          <a:solidFill>
            <a:srgbClr val="AEC4E8"/>
          </a:solidFill>
          <a:ln w="0">
            <a:noFill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9753600" y="18097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9886950" y="1962150"/>
            <a:ext cx="514350" cy="247650"/>
          </a:xfrm>
          <a:prstGeom prst="roundRect">
            <a:avLst>
              <a:gd name="adj" fmla="val 30769"/>
            </a:avLst>
          </a:prstGeom>
          <a:solidFill>
            <a:srgbClr val="DFE9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S5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886950" y="23050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886950" y="2590800"/>
            <a:ext cx="12763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卡拍 / LUT / 字幕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标识 MP4</a:t>
            </a:r>
            <a:endParaRPr sz="90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3190875" y="3238500"/>
            <a:ext cx="0" cy="323850"/>
          </a:xfrm>
          <a:prstGeom prst="line">
            <a:avLst/>
          </a:prstGeom>
          <a:noFill/>
          <a:ln w="19050">
            <a:solidFill>
              <a:srgbClr val="2563FF"/>
            </a:solidFill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2447925" y="3581400"/>
            <a:ext cx="1485900" cy="304800"/>
          </a:xfrm>
          <a:prstGeom prst="roundRect">
            <a:avLst>
              <a:gd name="adj" fmla="val 25000"/>
            </a:avLst>
          </a:prstGeom>
          <a:solidFill>
            <a:srgbClr val="2563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 1 · 改脚本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848475" y="3238500"/>
            <a:ext cx="0" cy="323850"/>
          </a:xfrm>
          <a:prstGeom prst="line">
            <a:avLst/>
          </a:prstGeom>
          <a:noFill/>
          <a:ln w="19050">
            <a:solidFill>
              <a:srgbClr val="2563FF"/>
            </a:solidFill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6105525" y="3581400"/>
            <a:ext cx="1485900" cy="304800"/>
          </a:xfrm>
          <a:prstGeom prst="roundRect">
            <a:avLst>
              <a:gd name="adj" fmla="val 25000"/>
            </a:avLst>
          </a:prstGeom>
          <a:solidFill>
            <a:srgbClr val="2563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 2 · 挑关键帧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8677275" y="3238500"/>
            <a:ext cx="0" cy="323850"/>
          </a:xfrm>
          <a:prstGeom prst="line">
            <a:avLst/>
          </a:prstGeom>
          <a:noFill/>
          <a:ln w="19050">
            <a:solidFill>
              <a:srgbClr val="2563FF"/>
            </a:solidFill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7934325" y="3581400"/>
            <a:ext cx="1485900" cy="304800"/>
          </a:xfrm>
          <a:prstGeom prst="roundRect">
            <a:avLst>
              <a:gd name="adj" fmla="val 25000"/>
            </a:avLst>
          </a:prstGeom>
          <a:solidFill>
            <a:srgbClr val="2563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 3 · 挑片段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09600" y="4572000"/>
            <a:ext cx="10972800" cy="1143000"/>
          </a:xfrm>
          <a:prstGeom prst="roundRect">
            <a:avLst>
              <a:gd name="adj" fmla="val 6667"/>
            </a:avLst>
          </a:prstGeom>
          <a:solidFill>
            <a:srgbClr val="EDF3FB"/>
          </a:solidFill>
          <a:ln w="9525">
            <a:solidFill>
              <a:srgbClr val="D8E3F0"/>
            </a:solidFill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14400" y="48196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设计理念：不确定性压在便宜的静帧阶段，视频环节只让模型「动一下」，剪辑节奏交给合成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5162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9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片段全部通过后进入 compose_ready 合成设置，用户确认并点「开始合成」才入队</a:t>
            </a:r>
            <a:endParaRPr sz="109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创作路径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默认直出视频，需要精修再走关键帧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428750"/>
            <a:ext cx="5372100" cy="914400"/>
          </a:xfrm>
          <a:prstGeom prst="roundRect">
            <a:avLst>
              <a:gd name="adj" fmla="val 8333"/>
            </a:avLst>
          </a:prstGeom>
          <a:solidFill>
            <a:srgbClr val="2563FF"/>
          </a:solidFill>
          <a:ln w="9525">
            <a:solidFill>
              <a:srgbClr val="D8E3F0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6383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直出视频（新项目默认）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3810000" y="1676400"/>
            <a:ext cx="1905000" cy="266700"/>
          </a:xfrm>
          <a:prstGeom prst="roundRect">
            <a:avLst>
              <a:gd name="adj" fmla="val 28571"/>
            </a:avLst>
          </a:prstGeom>
          <a:solidFill>
            <a:srgbClr val="3D71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8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video_source: references</a:t>
            </a:r>
            <a:endParaRPr sz="8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76300" y="2514600"/>
            <a:ext cx="4838700" cy="381000"/>
          </a:xfrm>
          <a:prstGeom prst="roundRect">
            <a:avLst>
              <a:gd name="adj" fmla="val 20000"/>
            </a:avLst>
          </a:prstGeom>
          <a:solidFill>
            <a:srgbClr val="DFE9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脚本审核 → 素材检查 → 视频生成 → 片段审核</a:t>
            </a:r>
            <a:endParaRPr sz="975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3143250"/>
            <a:ext cx="483870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190500" indent="-114300" algn="l">
              <a:spcAft>
                <a:spcPts val="1000"/>
              </a:spcAft>
              <a:buChar char="•"/>
              <a:def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角色第一张参考图 + 地标第一张实景图，按序送 MiniMax H3 双参考图生视频</a:t>
            </a:r>
            <a:endParaRPr sz="10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1000"/>
              </a:spcAft>
              <a:buChar char="•"/>
              <a:def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跳过图片候选与关键帧审核，不产生图片积分</a:t>
            </a:r>
            <a:endParaRPr sz="10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1000"/>
              </a:spcAft>
              <a:buChar char="•"/>
              <a:def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 3–5 秒素材，用户截取严格 1 秒</a:t>
            </a:r>
            <a:endParaRPr sz="10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210300" y="1428750"/>
            <a:ext cx="53721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0" y="16383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关键帧（传统路径）</a:t>
            </a:r>
            <a:endParaRPr sz="150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410700" y="1676400"/>
            <a:ext cx="1905000" cy="266700"/>
          </a:xfrm>
          <a:prstGeom prst="roundRect">
            <a:avLst>
              <a:gd name="adj" fmla="val 28571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865" b="1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video_source: keyframe</a:t>
            </a:r>
            <a:endParaRPr sz="865" b="1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477000" y="2514600"/>
            <a:ext cx="4838700" cy="381000"/>
          </a:xfrm>
          <a:prstGeom prst="roundRect">
            <a:avLst>
              <a:gd name="adj" fmla="val 20000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脚本审核 → 关键帧候选 → 挑图 → 视频 → 片段审核</a:t>
            </a:r>
            <a:endParaRPr sz="975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96050" y="3143250"/>
            <a:ext cx="483870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190500" indent="-114300" algn="l">
              <a:spcAft>
                <a:spcPts val="1000"/>
              </a:spcAft>
              <a:buChar char="•"/>
              <a:def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每镜 1–3 张候选（Qwen-Image 2.1，角色 / 地标双参考）</a:t>
            </a:r>
            <a:endParaRPr sz="10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1000"/>
              </a:spcAft>
              <a:buChar char="•"/>
              <a:def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人工逐镜挑图，可改 prompt 后重生成</a:t>
            </a:r>
            <a:endParaRPr sz="10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1000"/>
              </a:spcAft>
              <a:buChar char="•"/>
              <a:def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选定的关键帧作为首帧图生视频（MiniMax H3）</a:t>
            </a:r>
            <a:endParaRPr sz="10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5334000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旧项目按原流程运行、不自动转换；旧逐镜项目可显式迁移为「新版剪辑」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" name="矩形 47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剪辑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每镜严格 1 秒：30 帧 @30fps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09600" y="1619250"/>
            <a:ext cx="0" cy="95250"/>
          </a:xfrm>
          <a:prstGeom prst="line">
            <a:avLst/>
          </a:prstGeom>
          <a:noFill/>
          <a:ln w="14288">
            <a:solidFill>
              <a:srgbClr val="9FB4CC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7335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0s</a:t>
            </a:r>
            <a:endParaRPr sz="82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438400" y="1619250"/>
            <a:ext cx="0" cy="95250"/>
          </a:xfrm>
          <a:prstGeom prst="line">
            <a:avLst/>
          </a:prstGeom>
          <a:noFill/>
          <a:ln w="14288">
            <a:solidFill>
              <a:srgbClr val="9FB4CC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266950" y="17335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1s</a:t>
            </a:r>
            <a:endParaRPr sz="82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4267200" y="1619250"/>
            <a:ext cx="0" cy="95250"/>
          </a:xfrm>
          <a:prstGeom prst="line">
            <a:avLst/>
          </a:prstGeom>
          <a:noFill/>
          <a:ln w="14288">
            <a:solidFill>
              <a:srgbClr val="9FB4C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095750" y="17335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2s</a:t>
            </a:r>
            <a:endParaRPr sz="82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096000" y="1619250"/>
            <a:ext cx="0" cy="95250"/>
          </a:xfrm>
          <a:prstGeom prst="line">
            <a:avLst/>
          </a:prstGeom>
          <a:noFill/>
          <a:ln w="14288">
            <a:solidFill>
              <a:srgbClr val="9FB4CC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924550" y="17335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3s</a:t>
            </a:r>
            <a:endParaRPr sz="82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7924800" y="1619250"/>
            <a:ext cx="0" cy="95250"/>
          </a:xfrm>
          <a:prstGeom prst="line">
            <a:avLst/>
          </a:prstGeom>
          <a:noFill/>
          <a:ln w="14288">
            <a:solidFill>
              <a:srgbClr val="9FB4CC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753350" y="17335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4s</a:t>
            </a:r>
            <a:endParaRPr sz="82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9753600" y="1619250"/>
            <a:ext cx="0" cy="95250"/>
          </a:xfrm>
          <a:prstGeom prst="line">
            <a:avLst/>
          </a:prstGeom>
          <a:noFill/>
          <a:ln w="14288">
            <a:solidFill>
              <a:srgbClr val="9FB4C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582150" y="17335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5s</a:t>
            </a:r>
            <a:endParaRPr sz="82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11582400" y="1619250"/>
            <a:ext cx="0" cy="95250"/>
          </a:xfrm>
          <a:prstGeom prst="line">
            <a:avLst/>
          </a:prstGeom>
          <a:noFill/>
          <a:ln w="14288">
            <a:solidFill>
              <a:srgbClr val="9FB4CC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410950" y="17335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6s</a:t>
            </a:r>
            <a:endParaRPr sz="82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85800" y="2000250"/>
            <a:ext cx="1676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563FF"/>
            </a:solidFill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 1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1.0s · 30 帧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2667000"/>
            <a:ext cx="1676400" cy="247650"/>
          </a:xfrm>
          <a:prstGeom prst="roundRect">
            <a:avLst>
              <a:gd name="adj" fmla="val 30769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字幕烧录</a:t>
            </a:r>
            <a:endParaRPr sz="7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514600" y="2000250"/>
            <a:ext cx="1676400" cy="609600"/>
          </a:xfrm>
          <a:prstGeom prst="roundRect">
            <a:avLst>
              <a:gd name="adj" fmla="val 12500"/>
            </a:avLst>
          </a:prstGeom>
          <a:solidFill>
            <a:srgbClr val="DFE9FF"/>
          </a:solidFill>
          <a:ln w="14288">
            <a:solidFill>
              <a:srgbClr val="2563FF"/>
            </a:solidFill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 2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1.0s · 30 帧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514600" y="2667000"/>
            <a:ext cx="1676400" cy="247650"/>
          </a:xfrm>
          <a:prstGeom prst="roundRect">
            <a:avLst>
              <a:gd name="adj" fmla="val 30769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字幕烧录</a:t>
            </a:r>
            <a:endParaRPr sz="7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2438400" y="2000250"/>
            <a:ext cx="0" cy="609600"/>
          </a:xfrm>
          <a:prstGeom prst="line">
            <a:avLst/>
          </a:prstGeom>
          <a:noFill/>
          <a:ln w="28575">
            <a:solidFill>
              <a:srgbClr val="0E9668"/>
            </a:solidFill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4343400" y="2000250"/>
            <a:ext cx="1676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563FF"/>
            </a:solidFill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 3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1.0s · 30 帧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343400" y="2667000"/>
            <a:ext cx="1676400" cy="247650"/>
          </a:xfrm>
          <a:prstGeom prst="roundRect">
            <a:avLst>
              <a:gd name="adj" fmla="val 30769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字幕烧录</a:t>
            </a:r>
            <a:endParaRPr sz="7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4267200" y="2000250"/>
            <a:ext cx="0" cy="609600"/>
          </a:xfrm>
          <a:prstGeom prst="line">
            <a:avLst/>
          </a:prstGeom>
          <a:noFill/>
          <a:ln w="28575">
            <a:solidFill>
              <a:srgbClr val="0E9668"/>
            </a:solidFill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6172200" y="2000250"/>
            <a:ext cx="1676400" cy="609600"/>
          </a:xfrm>
          <a:prstGeom prst="roundRect">
            <a:avLst>
              <a:gd name="adj" fmla="val 12500"/>
            </a:avLst>
          </a:prstGeom>
          <a:solidFill>
            <a:srgbClr val="DFE9FF"/>
          </a:solidFill>
          <a:ln w="14288">
            <a:solidFill>
              <a:srgbClr val="2563FF"/>
            </a:solidFill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 4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1.0s · 30 帧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172200" y="2667000"/>
            <a:ext cx="1676400" cy="247650"/>
          </a:xfrm>
          <a:prstGeom prst="roundRect">
            <a:avLst>
              <a:gd name="adj" fmla="val 30769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字幕烧录</a:t>
            </a:r>
            <a:endParaRPr sz="7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6096000" y="2000250"/>
            <a:ext cx="0" cy="609600"/>
          </a:xfrm>
          <a:prstGeom prst="line">
            <a:avLst/>
          </a:prstGeom>
          <a:noFill/>
          <a:ln w="28575">
            <a:solidFill>
              <a:srgbClr val="0E9668"/>
            </a:solidFill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8001000" y="2000250"/>
            <a:ext cx="1676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563FF"/>
            </a:solidFill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 5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1.0s · 30 帧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8001000" y="2667000"/>
            <a:ext cx="1676400" cy="247650"/>
          </a:xfrm>
          <a:prstGeom prst="roundRect">
            <a:avLst>
              <a:gd name="adj" fmla="val 30769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字幕烧录</a:t>
            </a:r>
            <a:endParaRPr sz="7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7924800" y="2000250"/>
            <a:ext cx="0" cy="609600"/>
          </a:xfrm>
          <a:prstGeom prst="line">
            <a:avLst/>
          </a:prstGeom>
          <a:noFill/>
          <a:ln w="28575">
            <a:solidFill>
              <a:srgbClr val="0E9668"/>
            </a:solidFill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9829800" y="2000250"/>
            <a:ext cx="1676400" cy="609600"/>
          </a:xfrm>
          <a:prstGeom prst="roundRect">
            <a:avLst>
              <a:gd name="adj" fmla="val 12500"/>
            </a:avLst>
          </a:prstGeom>
          <a:solidFill>
            <a:srgbClr val="DFE9FF"/>
          </a:solidFill>
          <a:ln w="14288">
            <a:solidFill>
              <a:srgbClr val="2563FF"/>
            </a:solidFill>
          </a:ln>
        </p:spPr>
        <p:txBody>
          <a:bodyPr>
            <a:noAutofit/>
          </a:bodyPr>
          <a:lstStyle/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 6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B4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1.0s · 30 帧</a:t>
            </a:r>
            <a:endParaRPr sz="940" b="1">
              <a:solidFill>
                <a:srgbClr val="1B4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9829800" y="2667000"/>
            <a:ext cx="1676400" cy="247650"/>
          </a:xfrm>
          <a:prstGeom prst="roundRect">
            <a:avLst>
              <a:gd name="adj" fmla="val 30769"/>
            </a:avLst>
          </a:prstGeom>
          <a:solidFill>
            <a:srgbClr val="EDF3FB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字幕烧录</a:t>
            </a:r>
            <a:endParaRPr sz="79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9753600" y="2000250"/>
            <a:ext cx="0" cy="609600"/>
          </a:xfrm>
          <a:prstGeom prst="line">
            <a:avLst/>
          </a:prstGeom>
          <a:noFill/>
          <a:ln w="28575">
            <a:solidFill>
              <a:srgbClr val="0E9668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2990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绿色竖线 = 切点；相邻镜头前后各 2 帧片内淡入淡出</a:t>
            </a:r>
            <a:endParaRPr sz="900" b="0">
              <a:solidFill>
                <a:srgbClr val="0E96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09600" y="369570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38200" y="38481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整数帧窗口</a:t>
            </a:r>
            <a:endParaRPr sz="120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38200" y="41338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起点按 1/30 秒吸附，Worker 校验选段不越片尾</a:t>
            </a:r>
            <a:endParaRPr sz="97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210300" y="369570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438900" y="38481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字幕默认开启</a:t>
            </a:r>
            <a:endParaRPr sz="120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438900" y="41338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每镜一秒窗口烧录 Shot.caption，片头偏移由拼接自然带入</a:t>
            </a:r>
            <a:endParaRPr sz="97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609600" y="474345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38200" y="48958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片头片尾默认关闭</a:t>
            </a:r>
            <a:endParaRPr sz="120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38200" y="518160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合成设置里可选用已交付素材；配乐只覆盖全片、不移动切点</a:t>
            </a:r>
            <a:endParaRPr sz="97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210300" y="474345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438900" y="48958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标识</a:t>
            </a:r>
            <a:endParaRPr sz="120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438900" y="518160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右下角半透明水印 + 文件元数据，符合 2025-09 施行标识办法</a:t>
            </a:r>
            <a:endParaRPr sz="97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本地优先的单机闭环，SQLite 是唯一真源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1642110" y="1504950"/>
            <a:ext cx="593598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870710" y="1619250"/>
            <a:ext cx="54787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 · React + Vite</a:t>
            </a:r>
            <a:endParaRPr sz="116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870710" y="1866900"/>
            <a:ext cx="547878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官网 / 登录 / 建期 / 审片台 / 用量 / 分享页</a:t>
            </a:r>
            <a:endParaRPr sz="94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4610100" y="2171700"/>
            <a:ext cx="0" cy="171450"/>
          </a:xfrm>
          <a:prstGeom prst="line">
            <a:avLst/>
          </a:prstGeom>
          <a:noFill/>
          <a:ln w="19050">
            <a:solidFill>
              <a:srgbClr val="9FB4CC"/>
            </a:solidFill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1642110" y="2343150"/>
            <a:ext cx="593598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870710" y="2457450"/>
            <a:ext cx="54787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apps/web · Hono :3000</a:t>
            </a:r>
            <a:endParaRPr sz="116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70710" y="2705100"/>
            <a:ext cx="547878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auth · episodes · review · share · assets</a:t>
            </a:r>
            <a:endParaRPr sz="94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4610100" y="3009900"/>
            <a:ext cx="0" cy="171450"/>
          </a:xfrm>
          <a:prstGeom prst="line">
            <a:avLst/>
          </a:prstGeom>
          <a:noFill/>
          <a:ln w="19050">
            <a:solidFill>
              <a:srgbClr val="9FB4CC"/>
            </a:solidFill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990600" y="3181350"/>
            <a:ext cx="7239000" cy="666750"/>
          </a:xfrm>
          <a:prstGeom prst="roundRect">
            <a:avLst>
              <a:gd name="adj" fmla="val 11429"/>
            </a:avLst>
          </a:prstGeom>
          <a:solidFill>
            <a:srgbClr val="2563FF"/>
          </a:solidFill>
          <a:ln w="9525">
            <a:solidFill>
              <a:srgbClr val="D8E3F0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19200" y="3295650"/>
            <a:ext cx="67818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packages/store · SQLite</a:t>
            </a:r>
            <a:endParaRPr sz="11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19200" y="3543300"/>
            <a:ext cx="67818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40" b="0">
                <a:solidFill>
                  <a:srgbClr val="D9E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D9E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 / 角色 / 目的地 / 模板 / 任务 / 积分 —— 唯一真源</a:t>
            </a:r>
            <a:endParaRPr sz="940" b="0">
              <a:solidFill>
                <a:srgbClr val="D9E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4610100" y="3848100"/>
            <a:ext cx="0" cy="171450"/>
          </a:xfrm>
          <a:prstGeom prst="line">
            <a:avLst/>
          </a:prstGeom>
          <a:noFill/>
          <a:ln w="19050">
            <a:solidFill>
              <a:srgbClr val="9FB4CC"/>
            </a:solidFill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1352550" y="4019550"/>
            <a:ext cx="65151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581150" y="4133850"/>
            <a:ext cx="60579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apps/worker · 消费循环</a:t>
            </a:r>
            <a:endParaRPr sz="116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581150" y="4381500"/>
            <a:ext cx="60579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任务租约 · 生成适配 · 产物归档 · ffmpeg 合成 · 积分结算</a:t>
            </a:r>
            <a:endParaRPr sz="94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4610100" y="4686300"/>
            <a:ext cx="0" cy="171450"/>
          </a:xfrm>
          <a:prstGeom prst="line">
            <a:avLst/>
          </a:prstGeom>
          <a:noFill/>
          <a:ln w="19050">
            <a:solidFill>
              <a:srgbClr val="9FB4CC"/>
            </a:solidFill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1352550" y="4857750"/>
            <a:ext cx="65151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581150" y="4972050"/>
            <a:ext cx="60579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services/inference :8100 → ComfyUI :8188</a:t>
            </a:r>
            <a:endParaRPr sz="116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581150" y="5219700"/>
            <a:ext cx="60579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Qwen-Image 2.1 · MiniMax H3（comfyui-bridge 工作流）</a:t>
            </a:r>
            <a:endParaRPr sz="94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382000" y="1504950"/>
            <a:ext cx="3200400" cy="4076700"/>
          </a:xfrm>
          <a:prstGeom prst="roundRect">
            <a:avLst>
              <a:gd name="adj" fmla="val 2381"/>
            </a:avLst>
          </a:prstGeom>
          <a:solidFill>
            <a:srgbClr val="EDF3FB"/>
          </a:solidFill>
          <a:ln w="9525">
            <a:solidFill>
              <a:srgbClr val="D8E3F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610600" y="1714500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架构红线（ADR-0004）</a:t>
            </a:r>
            <a:endParaRPr sz="120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29650" y="2057400"/>
            <a:ext cx="2743200" cy="3333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 Redis / Postgres / 对象存储</a:t>
            </a:r>
            <a:endParaRPr sz="97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与 worker 直调 store，无内部 HTTP</a:t>
            </a:r>
            <a:endParaRPr sz="97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compose 唯一碰 ffmpeg，只在 worker</a:t>
            </a:r>
            <a:endParaRPr sz="97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providers 可插拔，换模型不改上层</a:t>
            </a:r>
            <a:endParaRPr sz="97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产物落本地磁盘 projects/&lt;期号&gt;/…</a:t>
            </a:r>
            <a:endParaRPr sz="97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store 保持 async，为拆机留边界</a:t>
            </a:r>
            <a:endParaRPr sz="97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每个环节一个接口，本地为主、API 溢出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485900"/>
          <a:ext cx="10972800" cy="4476752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6217920"/>
              </a:tblGrid>
              <a:tr h="63953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环节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 / 服务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2563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脚本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StepFun API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brief + 目的地包 → 24–30 镜结构化 JSON；支持按指令优化重生成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图像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Qwen-Image 2.1（ComfyUI）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单参考 = 角色；双参考 = 角色 + 地标；每镜 1–3 候选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视频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MiniMax H3（ComfyUI）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双参考直出 / 关键帧图生视频；生成预算 240–270 秒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溢出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可灵 / 即梦 API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本地重试 ≤ 2 次自动切换；排队超阈值也直接溢出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音乐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授权素材库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tone 检索授权曲目，MVP 不生成音乐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合成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FFmpeg（Worker）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 帧整数窗口、LUT、ASS 字幕、转场、AI 标识、封装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09600" y="61531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每次调用记录 provider / 模型 / 版本 / seed / 参考图哈希 / 费用，期级汇总成成本报告</a:t>
            </a:r>
            <a:endParaRPr sz="97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工程底座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敢在现场重试的六个设计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485900"/>
            <a:ext cx="35052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57250" y="17145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DFE9FF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7621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275" b="1">
              <a:solidFill>
                <a:srgbClr val="0E96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190750"/>
            <a:ext cx="3009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任务租约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2495550"/>
            <a:ext cx="30099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租约到期由下一次队列领取回收；Worker 重启不丢任务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43400" y="1485900"/>
            <a:ext cx="35052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591050" y="17145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DFE9F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17621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275" b="1">
              <a:solidFill>
                <a:srgbClr val="0E96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91050" y="2190750"/>
            <a:ext cx="3009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事务化结果提交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91050" y="2495550"/>
            <a:ext cx="30099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任务结果、期状态、积分结算单事务落库（ADR-0007）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077200" y="1485900"/>
            <a:ext cx="35052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8324850" y="17145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DFE9FF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24850" y="17621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275" b="1">
              <a:solidFill>
                <a:srgbClr val="0E96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24850" y="2190750"/>
            <a:ext cx="3009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失败重试复用候选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24850" y="2495550"/>
            <a:ext cx="30099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沿用原 generation_id，已成功落盘的候选不重复烧 GPU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" y="3390900"/>
            <a:ext cx="35052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57250" y="36195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DFE9FF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57250" y="36671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275" b="1">
              <a:solidFill>
                <a:srgbClr val="0E96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7250" y="4095750"/>
            <a:ext cx="3009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优雅停机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7250" y="4400550"/>
            <a:ext cx="30099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SIGTERM 停止领新任务，等待在跑任务收尾再退出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343400" y="3390900"/>
            <a:ext cx="35052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4591050" y="36195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DFE9FF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591050" y="36671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275" b="1">
              <a:solidFill>
                <a:srgbClr val="0E96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591050" y="4095750"/>
            <a:ext cx="3009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媒体完整性校验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591050" y="4400550"/>
            <a:ext cx="30099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流式下载限 512 MiB；Pillow 验图、ffmpeg 验流，损坏即取消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077200" y="3390900"/>
            <a:ext cx="35052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8324850" y="36195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DFE9FF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324850" y="36671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E96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275" b="1">
              <a:solidFill>
                <a:srgbClr val="0E96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24850" y="4095750"/>
            <a:ext cx="3009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过期产物清扫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24850" y="4400550"/>
            <a:ext cx="30099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Worker 每小时清理过期推理媒体与发布暂存，控磁盘水位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积分与成本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动作级计价，原子预留、结算、释放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609600" y="1619250"/>
          <a:ext cx="4095750" cy="2381250"/>
        </p:xfrm>
        <a:graphic>
          <a:graphicData uri="http://schemas.openxmlformats.org/drawingml/2006/table">
            <a:tbl>
              <a:tblPr/>
              <a:tblGrid>
                <a:gridCol w="2047875"/>
                <a:gridCol w="2047875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动作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单价（积分）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2563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脚本生成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/ 次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图片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/ 张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视频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/ 段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合成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/ 次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47700" y="4267200"/>
            <a:ext cx="40957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190500" indent="-114300" algn="l">
              <a:spcAft>
                <a:spcPts val="800"/>
              </a:spcAft>
              <a:buChar char="•"/>
              <a:def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积分由团队 CLI 发放，不接购买与支付</a:t>
            </a:r>
            <a:endParaRPr sz="101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800"/>
              </a:spcAft>
              <a:buChar char="•"/>
              <a:def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建期 / 阶段提交先预留，成功结算、失败释放</a:t>
            </a:r>
            <a:endParaRPr sz="101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800"/>
              </a:spcAft>
              <a:buChar char="•"/>
              <a:def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流水不可变且幂等；用量页按期按模型展示</a:t>
            </a:r>
            <a:endParaRPr sz="101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0" y="1581150"/>
            <a:ext cx="609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一期积分对比（按 28 镜估算）</a:t>
            </a:r>
            <a:endParaRPr sz="120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Chart"/>
          <p:cNvGraphicFramePr/>
          <p:nvPr/>
        </p:nvGraphicFramePr>
        <p:xfrm>
          <a:off x="5334000" y="1905000"/>
          <a:ext cx="61531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5334000" y="5219700"/>
            <a:ext cx="61531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直出路径省掉图片积分，比关键帧 ×3 省约 23%；GPU 用量另按「镜数 × 候选 × 单位成本 × 1.5」独立估算展示</a:t>
            </a:r>
            <a:endParaRPr sz="940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09600" y="5905500"/>
            <a:ext cx="10972800" cy="495300"/>
          </a:xfrm>
          <a:prstGeom prst="roundRect">
            <a:avLst>
              <a:gd name="adj" fmla="val 15385"/>
            </a:avLst>
          </a:prstGeom>
          <a:solidFill>
            <a:srgbClr val="EDF3FB"/>
          </a:solidFill>
          <a:ln w="9525">
            <a:solidFill>
              <a:srgbClr val="D8E3F0"/>
            </a:solidFill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成本红线：整期所有环节都走国内 API 的费用上限 ¥20 —— 团队预算约束，不是定价</a:t>
            </a:r>
            <a:endParaRPr sz="10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合规与安全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成片可溯源，内容有护栏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485900"/>
            <a:ext cx="53721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38200" y="17145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2563FF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17335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1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标识（显式 + 隐式）</a:t>
            </a:r>
            <a:endParaRPr sz="131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095500"/>
            <a:ext cx="468630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右下角半透明「AI 生成 · 虚构角色 · 真实目的地」水印 + 文件元数据；模型自带 SynthID / C2PA 不剥离，符合 2025-09 施行的《人工智能生成合成内容标识办法》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210300" y="1485900"/>
            <a:ext cx="53721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438900" y="17145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2563FF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67500" y="17335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1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内容拦截</a:t>
            </a:r>
            <a:endParaRPr sz="131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0" y="2095500"/>
            <a:ext cx="468630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层关键词黑名单，命中即拒绝并提示修改创作要求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09600" y="3581400"/>
            <a:ext cx="53721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838200" y="38100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2563FF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38290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1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数据隔离</a:t>
            </a:r>
            <a:endParaRPr sz="131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4191000"/>
            <a:ext cx="468630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多租户行级 owner_id 过滤；密钥只在 worker / 推理侧；分享页不含账号信息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210300" y="3581400"/>
            <a:ext cx="53721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38900" y="38100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2563FF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667500" y="38290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1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版权与保真</a:t>
            </a:r>
            <a:endParaRPr sz="131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4191000"/>
            <a:ext cx="468630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音乐只用授权曲库；不生成他人商标；私营店铺一律虚构；地标失真属质量红线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现场演示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六步走完一条片，全程可干预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428750"/>
            <a:ext cx="3505200" cy="184785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857250" y="1657350"/>
            <a:ext cx="419100" cy="419100"/>
          </a:xfrm>
          <a:prstGeom prst="ellipse">
            <a:avLst/>
          </a:prstGeom>
          <a:solidFill>
            <a:srgbClr val="2563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409700" y="1714500"/>
            <a:ext cx="24955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新建一期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228850"/>
            <a:ext cx="30289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选官方角色 + 灵山大佛，9:16，直出方式，看实时预估积分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343400" y="1428750"/>
            <a:ext cx="3505200" cy="184785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4591050" y="1657350"/>
            <a:ext cx="419100" cy="419100"/>
          </a:xfrm>
          <a:prstGeom prst="ellipse">
            <a:avLst/>
          </a:prstGeom>
          <a:solidFill>
            <a:srgbClr val="2563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143500" y="1714500"/>
            <a:ext cx="24955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 1 · 脚本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2228850"/>
            <a:ext cx="30289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改一镜字幕、删一镜；写优化指令重生成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077200" y="1428750"/>
            <a:ext cx="3505200" cy="184785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8324850" y="1657350"/>
            <a:ext cx="419100" cy="419100"/>
          </a:xfrm>
          <a:prstGeom prst="ellipse">
            <a:avLst/>
          </a:prstGeom>
          <a:solidFill>
            <a:srgbClr val="2563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877300" y="1714500"/>
            <a:ext cx="24955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视频生成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2228850"/>
            <a:ext cx="30289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素材检查后双参考直出；进度页轮询任务状态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9600" y="3505200"/>
            <a:ext cx="3505200" cy="184785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857250" y="3733800"/>
            <a:ext cx="419100" cy="419100"/>
          </a:xfrm>
          <a:prstGeom prst="ellipse">
            <a:avLst/>
          </a:prstGeom>
          <a:solidFill>
            <a:srgbClr val="2563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09700" y="3790950"/>
            <a:ext cx="24955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 3 · 片段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4305300"/>
            <a:ext cx="30289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拖滑块选 1 秒；勾五项质量红线；标一镜坏镜重生成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343400" y="3505200"/>
            <a:ext cx="3505200" cy="184785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4591050" y="3733800"/>
            <a:ext cx="419100" cy="419100"/>
          </a:xfrm>
          <a:prstGeom prst="ellipse">
            <a:avLst/>
          </a:prstGeom>
          <a:solidFill>
            <a:srgbClr val="2563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43500" y="3790950"/>
            <a:ext cx="24955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合成设置 → 成片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91050" y="4305300"/>
            <a:ext cx="30289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 + 配乐 + 字幕确认后开始合成；ffprobe 验证后交付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077200" y="3505200"/>
            <a:ext cx="3505200" cy="184785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8E3F0"/>
            </a:solidFill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8324850" y="3733800"/>
            <a:ext cx="419100" cy="419100"/>
          </a:xfrm>
          <a:prstGeom prst="ellipse">
            <a:avLst/>
          </a:prstGeom>
          <a:solidFill>
            <a:srgbClr val="2563FF"/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877300" y="3790950"/>
            <a:ext cx="24955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下载与分享</a:t>
            </a:r>
            <a:endParaRPr sz="1275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24850" y="4305300"/>
            <a:ext cx="30289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播放成片、下载 MP4；开启分享链接（含二维码与文案）</a:t>
            </a:r>
            <a:endParaRPr sz="1015" b="0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09600" y="5715000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EDF3FB"/>
          </a:solidFill>
          <a:ln w="9525">
            <a:solidFill>
              <a:srgbClr val="D8E3F0"/>
            </a:solidFill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预计 10–15 分钟 · 备用：同角色已完成的多期成片与公开分享链接</a:t>
            </a:r>
            <a:endParaRPr sz="10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4000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</a:t>
            </a:r>
            <a:endParaRPr sz="975" b="1">
              <a:solidFill>
                <a:srgbClr val="256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Kelvoy 项目组</a:t>
            </a:r>
            <a:endParaRPr sz="2250" b="1">
              <a:solidFill>
                <a:srgbClr val="1723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10900" y="43815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C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8C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1485900"/>
          <a:ext cx="6096000" cy="2476500"/>
        </p:xfrm>
        <a:graphic>
          <a:graphicData uri="http://schemas.openxmlformats.org/drawingml/2006/table">
            <a:tbl>
              <a:tblPr/>
              <a:tblGrid>
                <a:gridCol w="2177143"/>
                <a:gridCol w="3918857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职责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2563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张小白（张辉）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队长 · 项目策划 · PRD · 环境部署 · 演示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小腾子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原型设计 · 测试 · DEMO 视频录制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般度五子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ComfyUI 部署与开发 · 图像 / 视频管线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馄饨</a:t>
                      </a:r>
                      <a:endParaRPr sz="1050" b="1">
                        <a:solidFill>
                          <a:srgbClr val="1723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 前后台 · 审片台 · 积分系统</a:t>
                      </a:r>
                      <a:endParaRPr sz="1050" b="0">
                        <a:solidFill>
                          <a:srgbClr val="5769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47700" y="4267200"/>
            <a:ext cx="5905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190500" indent="-114300" algn="l">
              <a:spcAft>
                <a:spcPts val="900"/>
              </a:spcAft>
              <a:buChar char="•"/>
              <a:def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开源协议：Apache License 2.0</a:t>
            </a:r>
            <a:endParaRPr sz="101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900"/>
              </a:spcAft>
              <a:buChar char="•"/>
              <a:def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仓库：github.com/zhanghui-china/Kelvoy</a:t>
            </a:r>
            <a:endParaRPr sz="101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indent="-114300" algn="l">
              <a:spcAft>
                <a:spcPts val="900"/>
              </a:spcAft>
              <a:buChar char="•"/>
              <a:def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76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 NVIDIA DGX Spark 黑客松 · StepFun · Qwen-Image · MiniMax · ComfyUI · FFmpeg</a:t>
            </a:r>
            <a:endParaRPr sz="1015">
              <a:solidFill>
                <a:srgbClr val="5769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239000" y="1485900"/>
            <a:ext cx="4343400" cy="4191000"/>
          </a:xfrm>
          <a:prstGeom prst="roundRect">
            <a:avLst>
              <a:gd name="adj" fmla="val 1818"/>
            </a:avLst>
          </a:prstGeom>
          <a:solidFill>
            <a:srgbClr val="2563FF"/>
          </a:solidFill>
          <a:ln w="0">
            <a:solidFill>
              <a:srgbClr val="2563FF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0" y="2000250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选一个角色，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去一个真实的地方，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一期旅行 Vlog 自动生成。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0" y="36957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D9E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9E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可旅，让每一场旅行都有 vlog</a:t>
            </a:r>
            <a:endParaRPr sz="1350" b="0">
              <a:solidFill>
                <a:srgbClr val="D9E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4267200"/>
            <a:ext cx="1143000" cy="0"/>
          </a:xfrm>
          <a:prstGeom prst="line">
            <a:avLst/>
          </a:prstGeom>
          <a:noFill/>
          <a:ln w="28575">
            <a:solidFill>
              <a:srgbClr val="6E96FF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20000" y="4476750"/>
            <a:ext cx="3619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C9D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9D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Kelvoy · AI 旅行 Vlog 生产工作台</a:t>
            </a:r>
            <a:endParaRPr sz="975" b="0">
              <a:solidFill>
                <a:srgbClr val="C9D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75" b="0">
                <a:solidFill>
                  <a:srgbClr val="C9D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9D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第三届 NVIDIA DGX Spark 黑客松</a:t>
            </a:r>
            <a:endParaRPr sz="975" b="0">
              <a:solidFill>
                <a:srgbClr val="C9D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3998</Words>
  <Application>WPS 演示</Application>
  <PresentationFormat>Converted Presentation</PresentationFormat>
  <Paragraphs>554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zhanghui</cp:lastModifiedBy>
  <cp:revision>3</cp:revision>
  <dcterms:created xsi:type="dcterms:W3CDTF">2026-09-29T00:39:18Z</dcterms:created>
  <dcterms:modified xsi:type="dcterms:W3CDTF">2026-09-29T00:43:23Z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0FFC4591DA0540A29E767D09C081E2A2_12</vt:lpwstr>
  </property>
  <property fmtid="{D5CDD505-2E9C-101B-9397-08002B2CF9AE}" pid="3" name="KSOProductBuildVer">
    <vt:lpwstr>2052-12.1.0.28505</vt:lpwstr>
  </property>
</Properties>
</file>