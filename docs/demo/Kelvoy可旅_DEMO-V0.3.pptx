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.svg" ContentType="image/svg+xml"/>
  <Override PartName="/ppt/media/image121.svg" ContentType="image/svg+xml"/>
  <Override PartName="/ppt/media/image15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jpeg"/><Relationship Id="rId8" Type="http://schemas.openxmlformats.org/officeDocument/2006/relationships/image" Target="../media/image17.jpeg"/><Relationship Id="rId7" Type="http://schemas.openxmlformats.org/officeDocument/2006/relationships/image" Target="../media/image16.jpe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jpeg"/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9.jpeg"/><Relationship Id="rId1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15.svg"/><Relationship Id="rId7" Type="http://schemas.openxmlformats.org/officeDocument/2006/relationships/image" Target="../media/image14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Relationship Id="rId3" Type="http://schemas.openxmlformats.org/officeDocument/2006/relationships/image" Target="../media/image20.png"/><Relationship Id="rId2" Type="http://schemas.openxmlformats.org/officeDocument/2006/relationships/image" Target="../media/image3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1.svg"/><Relationship Id="rId15" Type="http://schemas.openxmlformats.org/officeDocument/2006/relationships/image" Target="../media/image30.png"/><Relationship Id="rId14" Type="http://schemas.openxmlformats.org/officeDocument/2006/relationships/image" Target="../media/image29.svg"/><Relationship Id="rId13" Type="http://schemas.openxmlformats.org/officeDocument/2006/relationships/image" Target="../media/image28.png"/><Relationship Id="rId12" Type="http://schemas.openxmlformats.org/officeDocument/2006/relationships/image" Target="../media/image27.svg"/><Relationship Id="rId11" Type="http://schemas.openxmlformats.org/officeDocument/2006/relationships/image" Target="../media/image26.png"/><Relationship Id="rId10" Type="http://schemas.openxmlformats.org/officeDocument/2006/relationships/image" Target="../media/image25.sv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5.svg"/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43.svg"/><Relationship Id="rId7" Type="http://schemas.openxmlformats.org/officeDocument/2006/relationships/image" Target="../media/image42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51.svg"/><Relationship Id="rId7" Type="http://schemas.openxmlformats.org/officeDocument/2006/relationships/image" Target="../media/image50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Relationship Id="rId3" Type="http://schemas.openxmlformats.org/officeDocument/2006/relationships/image" Target="../media/image46.png"/><Relationship Id="rId2" Type="http://schemas.openxmlformats.org/officeDocument/2006/relationships/image" Target="../media/image45.svg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53.svg"/><Relationship Id="rId1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2.png"/><Relationship Id="rId8" Type="http://schemas.openxmlformats.org/officeDocument/2006/relationships/image" Target="../media/image61.svg"/><Relationship Id="rId7" Type="http://schemas.openxmlformats.org/officeDocument/2006/relationships/image" Target="../media/image60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Relationship Id="rId3" Type="http://schemas.openxmlformats.org/officeDocument/2006/relationships/image" Target="../media/image56.png"/><Relationship Id="rId2" Type="http://schemas.openxmlformats.org/officeDocument/2006/relationships/image" Target="../media/image55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65.svg"/><Relationship Id="rId13" Type="http://schemas.openxmlformats.org/officeDocument/2006/relationships/image" Target="../media/image64.png"/><Relationship Id="rId12" Type="http://schemas.openxmlformats.org/officeDocument/2006/relationships/image" Target="../media/image31.svg"/><Relationship Id="rId11" Type="http://schemas.openxmlformats.org/officeDocument/2006/relationships/image" Target="../media/image30.png"/><Relationship Id="rId10" Type="http://schemas.openxmlformats.org/officeDocument/2006/relationships/image" Target="../media/image63.svg"/><Relationship Id="rId1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74.png"/><Relationship Id="rId8" Type="http://schemas.openxmlformats.org/officeDocument/2006/relationships/image" Target="../media/image73.svg"/><Relationship Id="rId7" Type="http://schemas.openxmlformats.org/officeDocument/2006/relationships/image" Target="../media/image72.png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9.svg"/><Relationship Id="rId3" Type="http://schemas.openxmlformats.org/officeDocument/2006/relationships/image" Target="../media/image68.png"/><Relationship Id="rId2" Type="http://schemas.openxmlformats.org/officeDocument/2006/relationships/image" Target="../media/image67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79.svg"/><Relationship Id="rId13" Type="http://schemas.openxmlformats.org/officeDocument/2006/relationships/image" Target="../media/image78.png"/><Relationship Id="rId12" Type="http://schemas.openxmlformats.org/officeDocument/2006/relationships/image" Target="../media/image77.svg"/><Relationship Id="rId11" Type="http://schemas.openxmlformats.org/officeDocument/2006/relationships/image" Target="../media/image76.png"/><Relationship Id="rId10" Type="http://schemas.openxmlformats.org/officeDocument/2006/relationships/image" Target="../media/image75.svg"/><Relationship Id="rId1" Type="http://schemas.openxmlformats.org/officeDocument/2006/relationships/image" Target="../media/image66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88.png"/><Relationship Id="rId8" Type="http://schemas.openxmlformats.org/officeDocument/2006/relationships/image" Target="../media/image87.svg"/><Relationship Id="rId7" Type="http://schemas.openxmlformats.org/officeDocument/2006/relationships/image" Target="../media/image86.png"/><Relationship Id="rId6" Type="http://schemas.openxmlformats.org/officeDocument/2006/relationships/image" Target="../media/image85.svg"/><Relationship Id="rId5" Type="http://schemas.openxmlformats.org/officeDocument/2006/relationships/image" Target="../media/image84.png"/><Relationship Id="rId4" Type="http://schemas.openxmlformats.org/officeDocument/2006/relationships/image" Target="../media/image83.svg"/><Relationship Id="rId3" Type="http://schemas.openxmlformats.org/officeDocument/2006/relationships/image" Target="../media/image82.png"/><Relationship Id="rId2" Type="http://schemas.openxmlformats.org/officeDocument/2006/relationships/image" Target="../media/image81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95.svg"/><Relationship Id="rId15" Type="http://schemas.openxmlformats.org/officeDocument/2006/relationships/image" Target="../media/image94.png"/><Relationship Id="rId14" Type="http://schemas.openxmlformats.org/officeDocument/2006/relationships/image" Target="../media/image93.svg"/><Relationship Id="rId13" Type="http://schemas.openxmlformats.org/officeDocument/2006/relationships/image" Target="../media/image92.png"/><Relationship Id="rId12" Type="http://schemas.openxmlformats.org/officeDocument/2006/relationships/image" Target="../media/image91.svg"/><Relationship Id="rId11" Type="http://schemas.openxmlformats.org/officeDocument/2006/relationships/image" Target="../media/image90.png"/><Relationship Id="rId10" Type="http://schemas.openxmlformats.org/officeDocument/2006/relationships/image" Target="../media/image89.svg"/><Relationship Id="rId1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2.png"/><Relationship Id="rId8" Type="http://schemas.openxmlformats.org/officeDocument/2006/relationships/image" Target="../media/image101.svg"/><Relationship Id="rId7" Type="http://schemas.openxmlformats.org/officeDocument/2006/relationships/image" Target="../media/image100.png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99.svg"/><Relationship Id="rId3" Type="http://schemas.openxmlformats.org/officeDocument/2006/relationships/image" Target="../media/image98.png"/><Relationship Id="rId2" Type="http://schemas.openxmlformats.org/officeDocument/2006/relationships/image" Target="../media/image97.svg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05.svg"/><Relationship Id="rId11" Type="http://schemas.openxmlformats.org/officeDocument/2006/relationships/image" Target="../media/image104.png"/><Relationship Id="rId10" Type="http://schemas.openxmlformats.org/officeDocument/2006/relationships/image" Target="../media/image103.svg"/><Relationship Id="rId1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3.svg"/><Relationship Id="rId7" Type="http://schemas.openxmlformats.org/officeDocument/2006/relationships/image" Target="../media/image112.png"/><Relationship Id="rId6" Type="http://schemas.openxmlformats.org/officeDocument/2006/relationships/image" Target="../media/image111.svg"/><Relationship Id="rId5" Type="http://schemas.openxmlformats.org/officeDocument/2006/relationships/image" Target="../media/image110.png"/><Relationship Id="rId4" Type="http://schemas.openxmlformats.org/officeDocument/2006/relationships/image" Target="../media/image109.svg"/><Relationship Id="rId3" Type="http://schemas.openxmlformats.org/officeDocument/2006/relationships/image" Target="../media/image108.png"/><Relationship Id="rId2" Type="http://schemas.openxmlformats.org/officeDocument/2006/relationships/image" Target="../media/image107.svg"/><Relationship Id="rId1" Type="http://schemas.openxmlformats.org/officeDocument/2006/relationships/image" Target="../media/image10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5.svg"/><Relationship Id="rId1" Type="http://schemas.openxmlformats.org/officeDocument/2006/relationships/image" Target="../media/image114.png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1.svg"/><Relationship Id="rId5" Type="http://schemas.openxmlformats.org/officeDocument/2006/relationships/image" Target="../media/image120.png"/><Relationship Id="rId4" Type="http://schemas.openxmlformats.org/officeDocument/2006/relationships/image" Target="../media/image119.svg"/><Relationship Id="rId3" Type="http://schemas.openxmlformats.org/officeDocument/2006/relationships/image" Target="../media/image118.png"/><Relationship Id="rId2" Type="http://schemas.openxmlformats.org/officeDocument/2006/relationships/image" Target="../media/image117.svg"/><Relationship Id="rId1" Type="http://schemas.openxmlformats.org/officeDocument/2006/relationships/image" Target="../media/image1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padding='0'&gt;&#10;    &lt;Box style={{ position: 'absolute', top: 0, left: 0, width: '1280px', height: '720px', backgroundImage: 'url(C:/Users/Admin/WorkBuddy/2026-09-29-15-08-33/work/Kelvoy_DEMO_v2/assets/image1.jpeg)', backgroundSize: 'cover', backgroundPosition: 'center' }} /&gt;&#10;    &lt;Box style={{ position: 'absolute', top: 0, left: 0, width: '1280px', height: '720px', background: 'linear-gradient(95deg, rgba(6,10,26,0.94) 0%, rgba(8,15,38,0.82) 42%, rgba(10,18,48,0.42)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40px', left: '-120px', width: '440px', height: '440px', borderRadius: '50%', background: 'radial-gradient(circle, rgba(96,165,250,0.28) 0%, transparent 70%)' }} /&gt;&#10;&#10;    &lt;Box style={{ position: 'absolute', top: '44px', left: '64px', flexDirection: 'row', alignItems: 'center', gap: '14px' }}&gt;&#10;        &lt;Box style={{ width: '46px', height: '46px', borderRadius: '13px', background: 'linear-gradient(135deg, #60A5FA 0%, #2563EB 100%)', justifyContent: 'center', alignItems: 'center', boxShadow: '0 6px 20px rgba(37,99,235,0.45)' }}&gt;&#10;            &lt;Text style={{ fontSize: '23px', fontWeight: 'bold', color: '#FFFFFF' }}&gt;旅&lt;/Text&gt;&#10;        &lt;/Box&gt;&#10;        &lt;Text style={{ fontSize: '19px', fontWeight: 600, color: '#FFFFFF', letterSpacing: '1px' }}&gt;可旅 Kelvoy&lt;/Text&gt;&#10;    &lt;/Box&gt;&#10;&#10;    &lt;Box style={{ position: 'absolute', top: '150px', left: '64px', width: '700px', flexDirection: 'column', gap: '22px' }}&gt;&#10;        &lt;Box style={{ flexDirection: 'row', alignItems: 'center', gap: '12px' }}&gt;&#10;            &lt;Box style={{ padding: '6px 14px', borderRadius: '999px', background: 'rgba(96,165,250,0.16)', border: '1px solid rgba(96,165,250,0.45)' }}&gt;&#10;                &lt;Text style={{ fontSize: '12.5px', fontWeight: 600, color: '#BFDBFE', letterSpacing: '1.5px' }}&gt;第三届 NVIDIA DGX Spark 黑客松 · 产品 DEMO&lt;/Text&gt;&#10;            &lt;/Box&gt;&#10;        &lt;/Box&gt;&#10;        &lt;Text style={{ fontSize: '74px', fontWeight: 'bold', color: '#FFFFFF', lineHeight: 1.08, letterSpacing: '-2px' }}&gt;&#10;            Kelvoy &lt;span style={{ color: '#93C5FD' }}&gt;可旅&lt;/span&gt;&#10;        &lt;/Text&gt;&#10;        &lt;Text style={{ fontSize: '30px', fontWeight: 500, color: 'rgba(255,255,255,0.92)', letterSpacing: '1px' }}&gt;AI 旅行 Vlog 生产工作台&lt;/Text&gt;&#10;        &lt;Text style={{ fontSize: '17px', color: 'rgba(255,255,255,0.78)', lineHeight: 1.6, width: '640px' }}&gt;&#10;            选一个角色，去一个真实的地方，一期旅行 Vlog 自动生成。&#10;        &lt;/Text&gt;&#10;    &lt;/Box&gt;&#10;&#10;    &lt;Box style={{ position: 'absolute', bottom: '130px', left: '64px', flexDirection: 'row', gap: '10px' }}&gt;&#10;        {['24–30 镜 · 每镜 1 秒', '9:16 / 16:9', '三个人工审核点', '本地 DGX Spark'].map((t, i) =&gt; (&#10;            &lt;Box key={i} style={{ padding: '8px 16px', borderRadius: '8px', background: 'rgba(255,255,255,0.08)', border: '1px solid rgba(255,255,255,0.22)' }}&gt;&#10;                &lt;Text style={{ fontSize: '13px', fontWeight: 500, color: 'rgba(255,255,255,0.92)' }}&gt;{t}&lt;/Text&gt;&#10;            &lt;/Box&gt;&#10;        ))}&#10;    &lt;/Box&gt;&#10;&#10;    &lt;Box style={{ position: 'absolute', bottom: '74px', left: '64px', flexDirection: 'row', alignItems: 'center', gap: '14px' }}&gt;&#10;        &lt;Box style={{ width: '36px', height: '2px', background: '#60A5FA' }} /&gt;&#10;        &lt;Text style={{ fontSize: '13px', color: 'rgba(255,255,255,0.6)', letterSpacing: '2px' }}&gt;DEMO WALKTHROUGH · 2026&lt;/Text&gt;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5)' }}&gt;可旅 Kelvoy · AI 旅行 Vlog 生产工作台&lt;/Text&gt;&#10;        &lt;Text style={{ fontSize: '12.5px', color: 'rgba(255,255,255,0.55)' }}&gt;01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12970" r="1297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A1A">
                  <a:alpha val="94000"/>
                </a:srgbClr>
              </a:gs>
              <a:gs pos="42000">
                <a:srgbClr val="080F26">
                  <a:alpha val="82000"/>
                </a:srgbClr>
              </a:gs>
              <a:gs pos="100000">
                <a:srgbClr val="0A1230">
                  <a:alpha val="42000"/>
                </a:srgbClr>
              </a:gs>
            </a:gsLst>
            <a:lin ang="300000" scaled="1"/>
          </a:gradFill>
        </p:spPr>
        <p:txBody>
          <a:bodyPr/>
          <a:p/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" name="任意多边形 5"/>
          <p:cNvSpPr/>
          <p:nvPr/>
        </p:nvSpPr>
        <p:spPr>
          <a:xfrm>
            <a:off x="-1143000" y="-1333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220" y="0"/>
                </a:moveTo>
                <a:lnTo>
                  <a:pt x="220" y="0"/>
                </a:lnTo>
                <a:cubicBezTo>
                  <a:pt x="341" y="0"/>
                  <a:pt x="440" y="99"/>
                  <a:pt x="440" y="220"/>
                </a:cubicBezTo>
                <a:lnTo>
                  <a:pt x="440" y="220"/>
                </a:lnTo>
                <a:cubicBezTo>
                  <a:pt x="440" y="341"/>
                  <a:pt x="341" y="440"/>
                  <a:pt x="220" y="440"/>
                </a:cubicBezTo>
                <a:lnTo>
                  <a:pt x="220" y="440"/>
                </a:lnTo>
                <a:cubicBezTo>
                  <a:pt x="99" y="440"/>
                  <a:pt x="0" y="341"/>
                  <a:pt x="0" y="220"/>
                </a:cubicBezTo>
                <a:lnTo>
                  <a:pt x="0" y="220"/>
                </a:lnTo>
                <a:cubicBezTo>
                  <a:pt x="0" y="99"/>
                  <a:pt x="99" y="0"/>
                  <a:pt x="220" y="0"/>
                </a:cubicBezTo>
                <a:close/>
              </a:path>
            </a:pathLst>
          </a:custGeom>
          <a:gradFill>
            <a:gsLst>
              <a:gs pos="0">
                <a:srgbClr val="60A5FA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7" name="圆角矩形 6"/>
          <p:cNvSpPr/>
          <p:nvPr/>
        </p:nvSpPr>
        <p:spPr>
          <a:xfrm>
            <a:off x="609600" y="419100"/>
            <a:ext cx="438150" cy="438150"/>
          </a:xfrm>
          <a:prstGeom prst="roundRect">
            <a:avLst>
              <a:gd name="adj" fmla="val 28261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  <a:effectLst>
            <a:outerShdw blurRad="190500" dist="57150" dir="5400000">
              <a:srgbClr val="2563EB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723900" y="504825"/>
            <a:ext cx="219075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17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1181100" y="533400"/>
            <a:ext cx="11144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1425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Kelvoy</a:t>
            </a:r>
            <a:endParaRPr lang="en-US" sz="1425" b="1" spc="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09600" y="1428750"/>
            <a:ext cx="3448050" cy="257175"/>
          </a:xfrm>
          <a:prstGeom prst="roundRect">
            <a:avLst>
              <a:gd name="adj" fmla="val 3700000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742950" y="1485900"/>
            <a:ext cx="3181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第三届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产品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DEMO</a:t>
            </a:r>
            <a:endParaRPr lang="en-US" sz="940" b="1" spc="113">
              <a:solidFill>
                <a:srgbClr val="BFDBF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609600" y="1895475"/>
            <a:ext cx="6667500" cy="914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8000"/>
              </a:lnSpc>
            </a:pPr>
            <a:r>
              <a:rPr lang="en-US" sz="5550" b="1" spc="-1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5550" b="1" spc="-15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endParaRPr lang="zh-CN" sz="5550" b="1" spc="-15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609600" y="3019425"/>
            <a:ext cx="666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2250" spc="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609600" y="3571875"/>
            <a:ext cx="60960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选一个角色，去一个真实的地方，一期旅行</a:t>
            </a:r>
            <a:r>
              <a:rPr lang="en-US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自动生成。</a:t>
            </a:r>
            <a:endParaRPr lang="zh-CN" sz="1275">
              <a:solidFill>
                <a:srgbClr val="FFFFFF">
                  <a:alpha val="7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09600" y="5314950"/>
            <a:ext cx="1447800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762000" y="5391150"/>
            <a:ext cx="11430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24–30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152650" y="5314950"/>
            <a:ext cx="933450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2305050" y="5391150"/>
            <a:ext cx="628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9:16 / 16:9</a:t>
            </a:r>
            <a:endParaRPr lang="en-US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81350" y="5314950"/>
            <a:ext cx="1171575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3333750" y="5391150"/>
            <a:ext cx="8667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三个人工审核点</a:t>
            </a:r>
            <a:endParaRPr lang="zh-CN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448175" y="5314950"/>
            <a:ext cx="1228725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4600575" y="5391150"/>
            <a:ext cx="923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DGX Spark</a:t>
            </a:r>
            <a:endParaRPr lang="en-US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09600" y="6067425"/>
            <a:ext cx="342900" cy="19050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1085850" y="6000750"/>
            <a:ext cx="22383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DEMO WALKTHROUGH · 2026</a:t>
            </a:r>
            <a:endParaRPr lang="en-US" sz="975" spc="15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 / 19</a:t>
            </a:r>
            <a:endParaRPr lang="en-US" sz="940">
              <a:solidFill>
                <a:srgbClr val="FFFFFF">
                  <a:alpha val="5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目录 · AGENDA&lt;/Text&gt;&#10;        &lt;Text style={{ fontSize: '11px', color: '#8A97AB', letterSpacing: '3px' }}&gt;KELVOY DEMO&lt;/Text&gt;&#10;    &lt;/Box&gt;&#10;    &lt;Text style={{ position: 'absolute', top: '68px', left: '64px', fontSize: '34px', fontWeight: 'bold', color: '#0B1220' }}&gt;&#10;        今天讲&lt;span style={{ color: '#2563EB' }}&gt;四件事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6px', left: '64px', right: '64px', flexDirection: 'column', gap: '14px' }}&gt;&#10;        {[&#10;            { n: '01', t: '问题与机会', en: 'WHY', d: '旅行内容持续生产卡在三件事；参考片验证「静帧锁一致性 + 1 秒一镜」可稳定出片。', p: 'P04' },&#10;            { n: '02', t: '产品与体验', en: 'WHAT', d: '一个角色 × 一个景区，六阶段流水线、三个人工审核点，默认直出、可精修。', p: 'P06–P10' },&#10;            { n: '03', t: '技术与工程', en: 'HOW', d: '本地优先单机闭环、模型矩阵、敢在现场重试的工程底座与动作级计价。', p: 'P12–P16' },&#10;            { n: '04', t: '现场演示', en: 'SHOW', d: '六步走完一条片，全程可干预；团队与开源信息。', p: 'P18–P19' },&#10;        ].map((it, i) =&gt; (&#10;            &lt;Box key={i} style={{ flexDirection: 'row', alignItems: 'center', gap: '24px', padding: '25px 28px', background: '#FFFFFF', borderRadius: '14px', border: '1px solid #E6EAF1', boxShadow: '0 2px 12px rgba(15,23,42,0.04)' }}&gt;&#10;                &lt;Text style={{ fontSize: '38px', fontWeight: 'bold', color: '#DBE4F5', width: '70px' }}&gt;{it.n}&lt;/Text&gt;&#10;                &lt;Box style={{ width: '2px', height: '52px', background: 'linear-gradient(180deg,#2563EB,#7C3AED)', borderRadius: '1px' }} /&gt;&#10;                &lt;Box style={{ flexDirection: 'column', gap: '5px', width: '210px' }}&gt;&#10;                    &lt;Text style={{ fontSize: '20px', fontWeight: 'bold', color: '#0B1220' }}&gt;{it.t}&lt;/Text&gt;&#10;                    &lt;Text style={{ fontSize: '11px', color: '#8A97AB', letterSpacing: '2.5px' }}&gt;{it.en}&lt;/Text&gt;&#10;                &lt;/Box&gt;&#10;                &lt;Text style={{ flex: 1, fontSize: '13.5px', color: '#5B6B84', lineHeight: 1.6 }}&gt;{it.d}&lt;/Text&gt;&#10;                &lt;Text style={{ fontSize: '12px', fontWeight: 600, color: '#2563EB', background: '#EFF4FE', padding: '5px 12px', borderRadius: '999px' }}&gt;{it.p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2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矩形 5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574" name="矩形 57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75" name="文本框 574" descr="{&quot;isTemplate&quot;:true,&quot;type&quot;:&quot;text&quot;}"/>
          <p:cNvSpPr txBox="1"/>
          <p:nvPr/>
        </p:nvSpPr>
        <p:spPr>
          <a:xfrm>
            <a:off x="609600" y="400050"/>
            <a:ext cx="10763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AGENDA</a:t>
            </a:r>
            <a:endParaRPr lang="en-US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10506075" y="409575"/>
            <a:ext cx="10763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KELVOY DEMO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7" name="文本框 576" descr="{&quot;isTemplate&quot;:true,&quot;type&quot;:&quot;text&quot;}"/>
          <p:cNvSpPr txBox="1"/>
          <p:nvPr/>
        </p:nvSpPr>
        <p:spPr>
          <a:xfrm>
            <a:off x="609600" y="647700"/>
            <a:ext cx="19431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今天讲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四件事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8" name="圆角矩形 57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79" name="圆角矩形 578"/>
          <p:cNvSpPr/>
          <p:nvPr/>
        </p:nvSpPr>
        <p:spPr>
          <a:xfrm>
            <a:off x="609600" y="14859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0" name="文本框 579" descr="{&quot;isTemplate&quot;:true,&quot;type&quot;:&quot;text&quot;}"/>
          <p:cNvSpPr txBox="1"/>
          <p:nvPr/>
        </p:nvSpPr>
        <p:spPr>
          <a:xfrm>
            <a:off x="876300" y="17526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1" name="圆角矩形 580"/>
          <p:cNvSpPr/>
          <p:nvPr/>
        </p:nvSpPr>
        <p:spPr>
          <a:xfrm>
            <a:off x="1771650" y="17240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2019300" y="17716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2019300" y="20478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WHY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4" name="文本框 583" descr="{&quot;isTemplate&quot;:true,&quot;type&quot;:&quot;text&quot;}"/>
          <p:cNvSpPr txBox="1"/>
          <p:nvPr/>
        </p:nvSpPr>
        <p:spPr>
          <a:xfrm>
            <a:off x="4248150" y="1847850"/>
            <a:ext cx="63912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旅行内容持续生产卡在三件事；参考片验证「静帧锁一致性</a:t>
            </a:r>
            <a:r>
              <a:rPr lang="en-US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+ 1 </a:t>
            </a: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秒一镜」可稳定出片。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5" name="圆角矩形 584"/>
          <p:cNvSpPr/>
          <p:nvPr/>
        </p:nvSpPr>
        <p:spPr>
          <a:xfrm>
            <a:off x="10868025" y="1857375"/>
            <a:ext cx="447675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586" name="文本框 585" descr="{&quot;isTemplate&quot;:true,&quot;type&quot;:&quot;text&quot;}"/>
          <p:cNvSpPr txBox="1"/>
          <p:nvPr/>
        </p:nvSpPr>
        <p:spPr>
          <a:xfrm>
            <a:off x="10868025" y="1857375"/>
            <a:ext cx="447675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P04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7" name="圆角矩形 586"/>
          <p:cNvSpPr/>
          <p:nvPr/>
        </p:nvSpPr>
        <p:spPr>
          <a:xfrm>
            <a:off x="609600" y="25908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76300" y="28575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1771650" y="28289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2019300" y="28765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1" name="文本框 590" descr="{&quot;isTemplate&quot;:true,&quot;type&quot;:&quot;text&quot;}"/>
          <p:cNvSpPr txBox="1"/>
          <p:nvPr/>
        </p:nvSpPr>
        <p:spPr>
          <a:xfrm>
            <a:off x="2019300" y="31527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WHAT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4248150" y="29527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一个景区，六阶段流水线、三个人工审核点，默认直出、可精修。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10591800" y="29622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10591800" y="29622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P06–P10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609600" y="36957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876300" y="39624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1771650" y="39338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2019300" y="39814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9" name="文本框 598" descr="{&quot;isTemplate&quot;:true,&quot;type&quot;:&quot;text&quot;}"/>
          <p:cNvSpPr txBox="1"/>
          <p:nvPr/>
        </p:nvSpPr>
        <p:spPr>
          <a:xfrm>
            <a:off x="2019300" y="42576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HOW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4248150" y="40576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本地优先单机闭环、模型矩阵、敢在现场重试的工程底座与动作级计价。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1" name="圆角矩形 600"/>
          <p:cNvSpPr/>
          <p:nvPr/>
        </p:nvSpPr>
        <p:spPr>
          <a:xfrm>
            <a:off x="10591800" y="40671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602" name="文本框 601" descr="{&quot;isTemplate&quot;:true,&quot;type&quot;:&quot;text&quot;}"/>
          <p:cNvSpPr txBox="1"/>
          <p:nvPr/>
        </p:nvSpPr>
        <p:spPr>
          <a:xfrm>
            <a:off x="10591800" y="40671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P12–P16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3" name="圆角矩形 602"/>
          <p:cNvSpPr/>
          <p:nvPr/>
        </p:nvSpPr>
        <p:spPr>
          <a:xfrm>
            <a:off x="609600" y="48006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04" name="文本框 603" descr="{&quot;isTemplate&quot;:true,&quot;type&quot;:&quot;text&quot;}"/>
          <p:cNvSpPr txBox="1"/>
          <p:nvPr/>
        </p:nvSpPr>
        <p:spPr>
          <a:xfrm>
            <a:off x="876300" y="50673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5" name="圆角矩形 604"/>
          <p:cNvSpPr/>
          <p:nvPr/>
        </p:nvSpPr>
        <p:spPr>
          <a:xfrm>
            <a:off x="1771650" y="50387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06" name="文本框 605" descr="{&quot;isTemplate&quot;:true,&quot;type&quot;:&quot;text&quot;}"/>
          <p:cNvSpPr txBox="1"/>
          <p:nvPr/>
        </p:nvSpPr>
        <p:spPr>
          <a:xfrm>
            <a:off x="2019300" y="50863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7" name="文本框 606" descr="{&quot;isTemplate&quot;:true,&quot;type&quot;:&quot;text&quot;}"/>
          <p:cNvSpPr txBox="1"/>
          <p:nvPr/>
        </p:nvSpPr>
        <p:spPr>
          <a:xfrm>
            <a:off x="2019300" y="53625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SHOW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8" name="文本框 607" descr="{&quot;isTemplate&quot;:true,&quot;type&quot;:&quot;text&quot;}"/>
          <p:cNvSpPr txBox="1"/>
          <p:nvPr/>
        </p:nvSpPr>
        <p:spPr>
          <a:xfrm>
            <a:off x="4248150" y="51625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六步走完一条片，全程可干预；团队与开源信息。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9" name="圆角矩形 608"/>
          <p:cNvSpPr/>
          <p:nvPr/>
        </p:nvSpPr>
        <p:spPr>
          <a:xfrm>
            <a:off x="10591800" y="51720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610" name="文本框 609" descr="{&quot;isTemplate&quot;:true,&quot;type&quot;:&quot;text&quot;}"/>
          <p:cNvSpPr txBox="1"/>
          <p:nvPr/>
        </p:nvSpPr>
        <p:spPr>
          <a:xfrm>
            <a:off x="10591800" y="51720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P18–P19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1" name="圆角矩形 61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12" name="文本框 61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3" name="文本框 61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4" name="文本框 61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02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5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1&lt;/Text&gt;&#10;&#10;    &lt;Box style={{ position: 'absolute', top: '200px', left: '88px', width: '64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1 · WHY&lt;/Text&gt;&#10;        &lt;/Box&gt;&#10;        &lt;Text style={{ fontSize: '58px', fontWeight: 'bold', color: '#FFFFFF', lineHeight: 1.15, letterSpacing: '-1px' }}&gt;&#10;            问题与机会&#10;        &lt;/Text&gt;&#10;        &lt;Text style={{ fontSize: '17px', color: 'rgba(255,255,255,0.72)', lineHeight: 1.7 }}&gt;&#10;            旅行内容持续生产，卡在三件事；而破局方向，已经被参考片验证过了。&#10;        &lt;/Text&gt;&#10;    &lt;/Box&gt;&#10;&#10;    &lt;Box style={{ position: 'absolute', top: '470px', left: '88px', width: '620px', flexDirection: 'column', gap: '16px' }}&gt;&#10;        {[&#10;            '真人出镜成本高，账号资产沉淀不下来',&#10;            '通用 AI 工具是黑盒，不可控、不可改',&#10;            'DGX Spark 128GB 统一内存，让全流程单机跑成流水线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0 ? '26px' : '8px', height: '8px', borderRadius: '4px', background: i === 0 ? '#60A5FA' : 'rgba(255,255,255,0.25)' }} /&gt;&#10;                &lt;Text style={{ fontSize: '11px', color: i === 0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03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矩形 6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617" name="矩形 6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18" name="矩形 6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19" name="任意多边形 618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20" name="任意多边形 619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21" name="文本框 620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2" name="矩形 621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3" name="文本框 622" descr="{&quot;isTemplate&quot;:true,&quot;type&quot;:&quot;text&quot;}"/>
          <p:cNvSpPr txBox="1"/>
          <p:nvPr/>
        </p:nvSpPr>
        <p:spPr>
          <a:xfrm>
            <a:off x="1295400" y="1905000"/>
            <a:ext cx="18954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01 · WHY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4" name="文本框 623" descr="{&quot;isTemplate&quot;:true,&quot;type&quot;:&quot;text&quot;}"/>
          <p:cNvSpPr txBox="1"/>
          <p:nvPr/>
        </p:nvSpPr>
        <p:spPr>
          <a:xfrm>
            <a:off x="838200" y="2314575"/>
            <a:ext cx="60960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5" name="文本框 624" descr="{&quot;isTemplate&quot;:true,&quot;type&quot;:&quot;text&quot;}"/>
          <p:cNvSpPr txBox="1"/>
          <p:nvPr/>
        </p:nvSpPr>
        <p:spPr>
          <a:xfrm>
            <a:off x="838200" y="3333750"/>
            <a:ext cx="60960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旅行内容持续生产，卡在三件事；而破局方向，已经被参考片验证过了。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6" name="圆角矩形 625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7" name="文本框 626" descr="{&quot;isTemplate&quot;:true,&quot;type&quot;:&quot;text&quot;}"/>
          <p:cNvSpPr txBox="1"/>
          <p:nvPr/>
        </p:nvSpPr>
        <p:spPr>
          <a:xfrm>
            <a:off x="1028700" y="4476750"/>
            <a:ext cx="2428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真人出镜成本高，账号资产沉淀不下来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8" name="圆角矩形 627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9" name="文本框 628" descr="{&quot;isTemplate&quot;:true,&quot;type&quot;:&quot;text&quot;}"/>
          <p:cNvSpPr txBox="1"/>
          <p:nvPr/>
        </p:nvSpPr>
        <p:spPr>
          <a:xfrm>
            <a:off x="1028700" y="4800600"/>
            <a:ext cx="23717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工具是黑盒，不可控、不可改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0" name="圆角矩形 629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31" name="文本框 630" descr="{&quot;isTemplate&quot;:true,&quot;type&quot;:&quot;text&quot;}"/>
          <p:cNvSpPr txBox="1"/>
          <p:nvPr/>
        </p:nvSpPr>
        <p:spPr>
          <a:xfrm>
            <a:off x="1028700" y="5124450"/>
            <a:ext cx="35528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DGX Spark 128GB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统一内存，让全流程单机跑成流水线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2" name="圆角矩形 631"/>
          <p:cNvSpPr/>
          <p:nvPr/>
        </p:nvSpPr>
        <p:spPr>
          <a:xfrm>
            <a:off x="838200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33" name="文本框 632" descr="{&quot;isTemplate&quot;:true,&quot;type&quot;:&quot;text&quot;}"/>
          <p:cNvSpPr txBox="1"/>
          <p:nvPr/>
        </p:nvSpPr>
        <p:spPr>
          <a:xfrm>
            <a:off x="118110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4" name="圆角矩形 633"/>
          <p:cNvSpPr/>
          <p:nvPr/>
        </p:nvSpPr>
        <p:spPr>
          <a:xfrm>
            <a:off x="147637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5" name="文本框 634" descr="{&quot;isTemplate&quot;:true,&quot;type&quot;:&quot;text&quot;}"/>
          <p:cNvSpPr txBox="1"/>
          <p:nvPr/>
        </p:nvSpPr>
        <p:spPr>
          <a:xfrm>
            <a:off x="164782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6" name="圆角矩形 635"/>
          <p:cNvSpPr/>
          <p:nvPr/>
        </p:nvSpPr>
        <p:spPr>
          <a:xfrm>
            <a:off x="19431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7" name="文本框 636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8" name="圆角矩形 637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9" name="文本框 638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0" name="文本框 639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1" name="文本框 640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1 · 问题与机会&lt;/Text&gt;&#10;        &lt;Text style={{ fontSize: '11px', color: '#8A97AB', letterSpacing: '3px' }}&gt;PAIN POINTS&lt;/Text&gt;&#10;    &lt;/Box&gt;&#10;    &lt;Text style={{ position: 'absolute', top: '68px', left: '64px', fontSize: '34px', fontWeight: 'bold', color: '#0B1220' }}&gt;&#10;        旅行内容持续生产，&lt;span style={{ color: '#2563EB' }}&gt;卡在三件事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 n: '1', icon: 'user', t: '真人出镜成本高', d: '拍摄与档期贵，人设跨期难一致；换一期就换一张脸，账号资产沉淀不下来。' },&#10;            { n: '2', icon: 'box', t: '通用 AI 工具是黑盒', d: '一键生成不可控、不可改；通用剪辑器只管剪，不管内容从哪来。' },&#10;            { n: '3', icon: 'calendar-days', t: '文旅与代运营要持续产出', d: '同一账号、多个目的地、稳定更新——现有工具没有为这个场景设计。' },&#10;        ].map((c, i) =&gt; (&#10;            &lt;Box key={i} style={{ flex: 1, padding: '26px 26px 22px 26px', background: '#FFFFFF', borderRadius: '14px', border: '1px solid #E6EAF1', boxShadow: '0 2px 12px rgba(15,23,42,0.04)', flexDirection: 'column', gap: '14px' }}&gt;&#10;                &lt;Box style={{ flexDirection: 'row', justifyContent: 'space-between', alignItems: 'center' }}&gt;&#10;                    &lt;Box style={{ width: '44px', height: '44px', borderRadius: '12px', background: '#EFF4FE', justifyContent: 'center', alignItems: 'center' }}&gt;&#10;                        &lt;FAIcon name={c.icon} style={{ fill: '#2563EB', width: '21px', height: '21px' }} /&gt;&#10;                    &lt;/Box&gt;&#10;                    &lt;Text style={{ fontSize: '30px', fontWeight: 'bold', color: '#DBE4F5' }}&gt;0{c.n}&lt;/Text&gt;&#10;                &lt;/Box&gt;&#10;                &lt;Text style={{ fontSize: '19px', fontWeight: 'bold', color: '#0B1220', lineHeight: 1.35 }}&gt;{c.t}&lt;/Text&gt;&#10;                &lt;Text style={{ fontSize: '13.5px', color: '#5B6B84', lineHeight: 1.7 }}&gt;{c.d}&lt;/Text&gt;&#10;            &lt;/Box&gt;&#10;        ))}&#10;    &lt;/Box&gt;&#10;&#10;    &lt;Box style={{ position: 'absolute', top: '418px', left: '64px', right: '64px', padding: '26px 30px', borderRadius: '14px', background: 'linear-gradient(120deg,#0A1128 0%,#16233F 60%,#312E81 100%)', flexDirection: 'row', alignItems: 'center', gap: '30px', boxShadow: '0 10px 30px rgba(15,23,42,0.25)' }}&gt;&#10;        &lt;Box style={{ width: '52px', height: '52px', borderRadius: '14px', background: 'rgba(96,165,250,0.16)', border: '1px solid rgba(96,165,250,0.4)', justifyContent: 'center', alignItems: 'center' }}&gt;&#10;            &lt;FAIcon name='lightbulb' style={{ fill: '#93C5FD', width: '24px', height: '24px' }} /&gt;&#10;        &lt;/Box&gt;&#10;        &lt;Box style={{ flex: 1, flexDirection: 'column', gap: '8px' }}&gt;&#10;            &lt;Text style={{ fontSize: '19px', fontWeight: 'bold', color: '#FFFFFF' }}&gt;机会 · Opportunity&lt;/Text&gt;&#10;            &lt;Text style={{ fontSize: '14px', color: 'rgba(255,255,255,0.82)', lineHeight: 1.65 }}&gt;&#10;                参考片验证了「&lt;span style={{ color: '#93C5FD', fontWeight: 600 }}&gt;静帧锁一致性 + 1 秒一镜&lt;/span&gt;」可稳定出片；DGX Spark 128GB 统一内存让脚本、图像、视频、合成在单机跑成流水线。&#10;            &lt;/Text&gt;&#10;        &lt;/Box&gt;&#10;    &lt;/Box&gt;&#10;&#10;    &lt;Box style={{ position: 'absolute', top: '588px', left: '64px', right: '64px', flexDirection: 'row', gap: '14px' }}&gt;&#10;        {[&#10;            { k: '成本', v: '真人出镜贵' },&#10;            { k: '可控', v: '黑盒不可改' },&#10;            { k: '场景', v: '没有为代运营设计' },&#10;        ].map((x, i) =&gt; (&#10;            &lt;Box key={i} style={{ flex: 1, flexDirection: 'row', alignItems: 'center', gap: '10px', padding: '12px 18px', background: '#FFFFFF', borderRadius: '10px', border: '1px solid #E6EAF1' }}&gt;&#10;                &lt;Box style={{ width: '8px', height: '8px', borderRadius: '4px', background: '#F59E0B' }} /&gt;&#10;                &lt;Text style={{ fontSize: '13px', color: '#5B6B84' }}&gt;&lt;span style={{ fontWeight: 700, color: '#0B1220' }}&gt;{x.k}&lt;/span&gt;　{x.v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4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6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644" name="矩形 64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645" name="文本框 64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01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6" name="文本框 645" descr="{&quot;isTemplate&quot;:true,&quot;type&quot;:&quot;text&quot;}"/>
          <p:cNvSpPr txBox="1"/>
          <p:nvPr/>
        </p:nvSpPr>
        <p:spPr>
          <a:xfrm>
            <a:off x="10591800" y="409575"/>
            <a:ext cx="9906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PAIN POINTS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7" name="文本框 646" descr="{&quot;isTemplate&quot;:true,&quot;type&quot;:&quot;text&quot;}"/>
          <p:cNvSpPr txBox="1"/>
          <p:nvPr/>
        </p:nvSpPr>
        <p:spPr>
          <a:xfrm>
            <a:off x="609600" y="647700"/>
            <a:ext cx="45339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卡在三件事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8" name="圆角矩形 64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649" name="圆角矩形 648"/>
          <p:cNvSpPr/>
          <p:nvPr/>
        </p:nvSpPr>
        <p:spPr>
          <a:xfrm>
            <a:off x="60960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50" name="圆角矩形 649"/>
          <p:cNvSpPr/>
          <p:nvPr/>
        </p:nvSpPr>
        <p:spPr>
          <a:xfrm>
            <a:off x="85725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51" name="图片 6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550" y="1790700"/>
            <a:ext cx="200025" cy="200025"/>
          </a:xfrm>
          <a:prstGeom prst="rect">
            <a:avLst/>
          </a:prstGeom>
        </p:spPr>
      </p:pic>
      <p:sp>
        <p:nvSpPr>
          <p:cNvPr id="652" name="文本框 651" descr="{&quot;isTemplate&quot;:true,&quot;type&quot;:&quot;text&quot;}"/>
          <p:cNvSpPr txBox="1"/>
          <p:nvPr/>
        </p:nvSpPr>
        <p:spPr>
          <a:xfrm>
            <a:off x="354330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3" name="文本框 652" descr="{&quot;isTemplate&quot;:true,&quot;type&quot;:&quot;text&quot;}"/>
          <p:cNvSpPr txBox="1"/>
          <p:nvPr/>
        </p:nvSpPr>
        <p:spPr>
          <a:xfrm>
            <a:off x="85725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真人出镜成本高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4" name="文本框 653" descr="{&quot;isTemplate&quot;:true,&quot;type&quot;:&quot;text&quot;}"/>
          <p:cNvSpPr txBox="1"/>
          <p:nvPr/>
        </p:nvSpPr>
        <p:spPr>
          <a:xfrm>
            <a:off x="85725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拍摄与档期贵，人设跨期难一致；换一期就换一张脸，账号资产沉淀不下来。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5" name="圆角矩形 654"/>
          <p:cNvSpPr/>
          <p:nvPr/>
        </p:nvSpPr>
        <p:spPr>
          <a:xfrm>
            <a:off x="432435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56" name="圆角矩形 655"/>
          <p:cNvSpPr/>
          <p:nvPr/>
        </p:nvSpPr>
        <p:spPr>
          <a:xfrm>
            <a:off x="457200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57" name="图片 65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1790700"/>
            <a:ext cx="200025" cy="200025"/>
          </a:xfrm>
          <a:prstGeom prst="rect">
            <a:avLst/>
          </a:prstGeom>
        </p:spPr>
      </p:pic>
      <p:sp>
        <p:nvSpPr>
          <p:cNvPr id="658" name="文本框 657" descr="{&quot;isTemplate&quot;:true,&quot;type&quot;:&quot;text&quot;}"/>
          <p:cNvSpPr txBox="1"/>
          <p:nvPr/>
        </p:nvSpPr>
        <p:spPr>
          <a:xfrm>
            <a:off x="725805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9" name="文本框 658" descr="{&quot;isTemplate&quot;:true,&quot;type&quot;:&quot;text&quot;}"/>
          <p:cNvSpPr txBox="1"/>
          <p:nvPr/>
        </p:nvSpPr>
        <p:spPr>
          <a:xfrm>
            <a:off x="457200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工具是黑盒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0" name="文本框 659" descr="{&quot;isTemplate&quot;:true,&quot;type&quot;:&quot;text&quot;}"/>
          <p:cNvSpPr txBox="1"/>
          <p:nvPr/>
        </p:nvSpPr>
        <p:spPr>
          <a:xfrm>
            <a:off x="457200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一键生成不可控、不可改；通用剪辑器只管剪，不管内容从哪来。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1" name="圆角矩形 660"/>
          <p:cNvSpPr/>
          <p:nvPr/>
        </p:nvSpPr>
        <p:spPr>
          <a:xfrm>
            <a:off x="803910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62" name="圆角矩形 661"/>
          <p:cNvSpPr/>
          <p:nvPr/>
        </p:nvSpPr>
        <p:spPr>
          <a:xfrm>
            <a:off x="828675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63" name="图片 66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01050" y="1790700"/>
            <a:ext cx="200025" cy="200025"/>
          </a:xfrm>
          <a:prstGeom prst="rect">
            <a:avLst/>
          </a:prstGeom>
        </p:spPr>
      </p:pic>
      <p:sp>
        <p:nvSpPr>
          <p:cNvPr id="664" name="文本框 663" descr="{&quot;isTemplate&quot;:true,&quot;type&quot;:&quot;text&quot;}"/>
          <p:cNvSpPr txBox="1"/>
          <p:nvPr/>
        </p:nvSpPr>
        <p:spPr>
          <a:xfrm>
            <a:off x="1097280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5" name="文本框 664" descr="{&quot;isTemplate&quot;:true,&quot;type&quot;:&quot;text&quot;}"/>
          <p:cNvSpPr txBox="1"/>
          <p:nvPr/>
        </p:nvSpPr>
        <p:spPr>
          <a:xfrm>
            <a:off x="828675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文旅与代运营要持续产出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6" name="文本框 665" descr="{&quot;isTemplate&quot;:true,&quot;type&quot;:&quot;text&quot;}"/>
          <p:cNvSpPr txBox="1"/>
          <p:nvPr/>
        </p:nvSpPr>
        <p:spPr>
          <a:xfrm>
            <a:off x="828675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同一账号、多个目的地、稳定更新——现有工具没有为这个场景设计。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7" name="圆角矩形 666"/>
          <p:cNvSpPr/>
          <p:nvPr/>
        </p:nvSpPr>
        <p:spPr>
          <a:xfrm>
            <a:off x="609600" y="3981450"/>
            <a:ext cx="10972800" cy="1057275"/>
          </a:xfrm>
          <a:prstGeom prst="roundRect">
            <a:avLst>
              <a:gd name="adj" fmla="val 12613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68" name="圆角矩形 667"/>
          <p:cNvSpPr/>
          <p:nvPr/>
        </p:nvSpPr>
        <p:spPr>
          <a:xfrm>
            <a:off x="895350" y="42672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69" name="图片 668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8700" y="4400550"/>
            <a:ext cx="228600" cy="228600"/>
          </a:xfrm>
          <a:prstGeom prst="rect">
            <a:avLst/>
          </a:prstGeom>
        </p:spPr>
      </p:pic>
      <p:sp>
        <p:nvSpPr>
          <p:cNvPr id="670" name="文本框 669" descr="{&quot;isTemplate&quot;:true,&quot;type&quot;:&quot;text&quot;}"/>
          <p:cNvSpPr txBox="1"/>
          <p:nvPr/>
        </p:nvSpPr>
        <p:spPr>
          <a:xfrm>
            <a:off x="1676400" y="4229100"/>
            <a:ext cx="96202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机会</a:t>
            </a:r>
            <a:r>
              <a:rPr lang="en-US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Opportunity</a:t>
            </a:r>
            <a:endParaRPr lang="en-US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1" name="文本框 670" descr="{&quot;isTemplate&quot;:true,&quot;type&quot;:&quot;text&quot;}"/>
          <p:cNvSpPr txBox="1"/>
          <p:nvPr/>
        </p:nvSpPr>
        <p:spPr>
          <a:xfrm>
            <a:off x="1676400" y="4524375"/>
            <a:ext cx="962025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参考片验证了「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静帧锁一致性</a:t>
            </a:r>
            <a:r>
              <a:rPr lang="en-US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+ 1 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」可稳定出片；</a:t>
            </a:r>
            <a:r>
              <a:rPr lang="en-US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DGX Spark 128GB </a:t>
            </a: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统一内存让脚本、图像、视频、合成在单机跑成流水线。</a:t>
            </a:r>
            <a:endParaRPr lang="zh-CN" sz="1050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2" name="圆角矩形 671"/>
          <p:cNvSpPr/>
          <p:nvPr/>
        </p:nvSpPr>
        <p:spPr>
          <a:xfrm>
            <a:off x="609600" y="5600700"/>
            <a:ext cx="35718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3" name="圆角矩形 672"/>
          <p:cNvSpPr/>
          <p:nvPr/>
        </p:nvSpPr>
        <p:spPr>
          <a:xfrm>
            <a:off x="781050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74" name="文本框 673" descr="{&quot;isTemplate&quot;:true,&quot;type&quot;:&quot;text&quot;}"/>
          <p:cNvSpPr txBox="1"/>
          <p:nvPr/>
        </p:nvSpPr>
        <p:spPr>
          <a:xfrm>
            <a:off x="952500" y="5715000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成本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真人出镜贵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5" name="圆角矩形 674"/>
          <p:cNvSpPr/>
          <p:nvPr/>
        </p:nvSpPr>
        <p:spPr>
          <a:xfrm>
            <a:off x="4314825" y="5600700"/>
            <a:ext cx="356235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6" name="圆角矩形 675"/>
          <p:cNvSpPr/>
          <p:nvPr/>
        </p:nvSpPr>
        <p:spPr>
          <a:xfrm>
            <a:off x="4486275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77" name="文本框 676" descr="{&quot;isTemplate&quot;:true,&quot;type&quot;:&quot;text&quot;}"/>
          <p:cNvSpPr txBox="1"/>
          <p:nvPr/>
        </p:nvSpPr>
        <p:spPr>
          <a:xfrm>
            <a:off x="4657725" y="5715000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可控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黑盒不可改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8" name="圆角矩形 677"/>
          <p:cNvSpPr/>
          <p:nvPr/>
        </p:nvSpPr>
        <p:spPr>
          <a:xfrm>
            <a:off x="8010525" y="5600700"/>
            <a:ext cx="35718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9" name="圆角矩形 678"/>
          <p:cNvSpPr/>
          <p:nvPr/>
        </p:nvSpPr>
        <p:spPr>
          <a:xfrm>
            <a:off x="8181975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80" name="文本框 679" descr="{&quot;isTemplate&quot;:true,&quot;type&quot;:&quot;text&quot;}"/>
          <p:cNvSpPr txBox="1"/>
          <p:nvPr/>
        </p:nvSpPr>
        <p:spPr>
          <a:xfrm>
            <a:off x="8353425" y="5715000"/>
            <a:ext cx="1362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场景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没有为代运营设计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1" name="圆角矩形 68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82" name="文本框 68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3" name="文本框 68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4" name="文本框 68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04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85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2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2 · WHAT&lt;/Text&gt;&#10;        &lt;/Box&gt;&#10;        &lt;Text style={{ fontSize: '58px', fontWeight: 'bold', color: '#FFFFFF', lineHeight: 1.15, letterSpacing: '-1px' }}&gt;&#10;            产品与体验&#10;        &lt;/Text&gt;&#10;        &lt;Text style={{ fontSize: '17px', color: 'rgba(255,255,255,0.72)', lineHeight: 1.7 }}&gt;&#10;            角色资产 × 目的地库，六阶段流水线，三个人工审核点。&#10;        &lt;/Text&gt;&#10;    &lt;/Box&gt;&#10;&#10;    &lt;Box style={{ position: 'absolute', top: '470px', left: '88px', width: '640px', flexDirection: 'column', gap: '16px' }}&gt;&#10;        {[&#10;            '一个角色 + 一个景区，换回一期 30 秒旅行 Vlog',&#10;            '六阶段生成，三个人工审核点兜住质量',&#10;            '默认直出视频，需要精修再走关键帧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1 ? '26px' : '8px', height: '8px', borderRadius: '4px', background: i === 1 ? '#60A5FA' : 'rgba(255,255,255,0.25)' }} /&gt;&#10;                &lt;Text style={{ fontSize: '11px', color: i === 1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05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矩形 68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687" name="矩形 6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88" name="矩形 68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89" name="任意多边形 688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90" name="任意多边形 689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91" name="文本框 690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2" name="矩形 691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3" name="文本框 692" descr="{&quot;isTemplate&quot;:true,&quot;type&quot;:&quot;text&quot;}"/>
          <p:cNvSpPr txBox="1"/>
          <p:nvPr/>
        </p:nvSpPr>
        <p:spPr>
          <a:xfrm>
            <a:off x="1295400" y="1905000"/>
            <a:ext cx="20288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02 · WHAT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4" name="文本框 693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5" name="文本框 694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角色资产</a:t>
            </a:r>
            <a:r>
              <a:rPr lang="en-US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目的地库，六阶段流水线，三个人工审核点。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6" name="圆角矩形 695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7" name="文本框 696" descr="{&quot;isTemplate&quot;:true,&quot;type&quot;:&quot;text&quot;}"/>
          <p:cNvSpPr txBox="1"/>
          <p:nvPr/>
        </p:nvSpPr>
        <p:spPr>
          <a:xfrm>
            <a:off x="1028700" y="4476750"/>
            <a:ext cx="3095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一个景区，换回一期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秒旅行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8" name="圆角矩形 697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9" name="文本框 698" descr="{&quot;isTemplate&quot;:true,&quot;type&quot;:&quot;text&quot;}"/>
          <p:cNvSpPr txBox="1"/>
          <p:nvPr/>
        </p:nvSpPr>
        <p:spPr>
          <a:xfrm>
            <a:off x="1028700" y="4800600"/>
            <a:ext cx="2428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六阶段生成，三个人工审核点兜住质量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0" name="圆角矩形 699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701" name="文本框 700" descr="{&quot;isTemplate&quot;:true,&quot;type&quot;:&quot;text&quot;}"/>
          <p:cNvSpPr txBox="1"/>
          <p:nvPr/>
        </p:nvSpPr>
        <p:spPr>
          <a:xfrm>
            <a:off x="1028700" y="5124450"/>
            <a:ext cx="2286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默认直出视频，需要精修再走关键帧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2" name="圆角矩形 701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3" name="文本框 702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4" name="圆角矩形 703"/>
          <p:cNvSpPr/>
          <p:nvPr/>
        </p:nvSpPr>
        <p:spPr>
          <a:xfrm>
            <a:off x="1304925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705" name="文本框 704" descr="{&quot;isTemplate&quot;:true,&quot;type&quot;:&quot;text&quot;}"/>
          <p:cNvSpPr txBox="1"/>
          <p:nvPr/>
        </p:nvSpPr>
        <p:spPr>
          <a:xfrm>
            <a:off x="164782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6" name="圆角矩形 705"/>
          <p:cNvSpPr/>
          <p:nvPr/>
        </p:nvSpPr>
        <p:spPr>
          <a:xfrm>
            <a:off x="19431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7" name="文本框 706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8" name="圆角矩形 707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9" name="文本框 708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0" name="文本框 709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1" name="文本框 710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05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1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PRODUCT DEFINITION&lt;/Text&gt;&#10;    &lt;/Box&gt;&#10;    &lt;Text style={{ position: 'absolute', top: '68px', left: '64px', fontSize: '34px', fontWeight: 'bold', color: '#0B1220' }}&gt;&#10;        一个角色 + 一个景区，&lt;span style={{ color: '#2563EB' }}&gt;换回一期 30 秒旅行 Vlog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46px', left: '64px', right: '64px', flexDirection: 'row', alignItems: 'stretch', gap: '10px' }}&gt;&#10;        &lt;Box style={{ width: '300px', padding: '18px 20px', background: '#FFFFFF', borderRadius: '14px', border: '1px solid #E6EAF1', boxShadow: '0 2px 12px rgba(15,23,42,0.04)', flexDirection: 'column', gap: '10px' }}&gt;&#10;            &lt;Text style={{ fontSize: '11px', fontWeight: 700, color: '#2563EB', letterSpacing: '2px' }}&gt;输入 · INPUT&lt;/Text&gt;&#10;            &lt;Box style={{ flexDirection: 'row', gap: '14px', alignItems: 'center' }}&gt;&#10;                &lt;Box style={{ width: '86px', height: '104px', borderRadius: '10px', overflow: 'hidden', border: '1px solid #E6EAF1' }}&gt;&#10;                    &lt;Image src='C:/Users/Admin/WorkBuddy/2026-09-29-15-08-33/work/Kelvoy_DEMO_v2/assets/image2.jpeg' style={{ width: '86px', height: '104px' }} /&gt;&#10;                &lt;/Box&gt;&#10;                &lt;Box style={{ flex: 1, flexDirection: 'column', gap: '6px' }}&gt;&#10;                    &lt;Text style={{ fontSize: '16.5px', fontWeight: 'bold', color: '#0B1220', lineHeight: 1.3 }}&gt;虚拟角色&lt;/Text&gt;&#10;                    &lt;Text style={{ fontSize: '12.5px', color: '#2563EB', fontWeight: 600 }}&gt;账号级资产&lt;/Text&gt;&#10;                &lt;/Box&gt;&#10;            &lt;/Box&gt;&#10;            &lt;Text style={{ fontSize: '12.5px', color: '#5B6B84', lineHeight: 1.6 }}&gt;三视图参考锁定外形，每期可换穿搭。&lt;/Text&gt;&#10;        &lt;/Box&gt;&#10;&#10;        &lt;Box style={{ width: '26px', justifyContent: 'center', alignItems: 'center' }}&gt;&#10;            &lt;FAIcon name='arrow-right-long' style={{ fill: '#94A3B8', width: '20px', height: '20px' }} /&gt;&#10;        &lt;/Box&gt;&#10;&#10;        &lt;Box style={{ flex: 1, padding: '18px 20px', background: '#FFFFFF', borderRadius: '14px', border: '1px solid #DBE4F5', boxShadow: '0 2px 12px rgba(37,99,235,0.07)', flexDirection: 'column', gap: '10px' }}&gt;&#10;            &lt;Text style={{ fontSize: '11px', fontWeight: 700, color: '#2563EB', letterSpacing: '2px' }}&gt;三个人工选择点 · HUMAN-IN-LOOP&lt;/Text&gt;&#10;            {[&#10;                { n: '1', t: '脚本', d: '改、删、重生成' },&#10;                { n: '2', t: '关键帧', d: '逐镜挑图' },&#10;                { n: '3', t: '片段', d: '选 1 秒 + 红线' },&#10;            ].map((r, i) =&gt; (&#10;                &lt;Box key={i} style={{ flexDirection: 'row', alignItems: 'center', gap: '12px', padding: '9px 12px', background: '#F6F8FB', borderRadius: '9px' }}&gt;&#10;                    &lt;Box style={{ width: '24px', height: '24px', borderRadius: '7px', background: 'linear-gradient(135deg,#2563EB,#7C3AED)', justifyContent: 'center', alignItems: 'center' }}&gt;&#10;                        &lt;Text style={{ fontSize: '12px', fontWeight: 'bold', color: '#FFFFFF' }}&gt;{r.n}&lt;/Text&gt;&#10;                    &lt;/Box&gt;&#10;                    &lt;Text style={{ fontSize: '13.5px', fontWeight: 700, color: '#0B1220', width: '58px' }}&gt;{r.t}&lt;/Text&gt;&#10;                    &lt;Text style={{ fontSize: '12.5px', color: '#5B6B84' }}&gt;{r.d}&lt;/Text&gt;&#10;                &lt;/Box&gt;&#10;            ))}&#10;        &lt;/Box&gt;&#10;&#10;        &lt;Box style={{ width: '26px', justifyContent: 'center', alignItems: 'center' }}&gt;&#10;            &lt;FAIcon name='arrow-right-long' style={{ fill: '#94A3B8', width: '20px', height: '20px' }} /&gt;&#10;        &lt;/Box&gt;&#10;&#10;        &lt;Box style={{ width: '306px', padding: '18px 20px', borderRadius: '14px', background: 'linear-gradient(135deg,#1D4ED8 0%,#2563EB 55%,#7C3AED 100%)', flexDirection: 'column', gap: '9px', boxShadow: '0 8px 24px rgba(37,99,235,0.3)' }}&gt;&#10;            &lt;Text style={{ fontSize: '11px', fontWeight: 700, color: 'rgba(255,255,255,0.75)', letterSpacing: '2px' }}&gt;输出 · OUTPUT&lt;/Text&gt;&#10;            &lt;Text style={{ fontSize: '21px', fontWeight: 'bold', color: '#FFFFFF', lineHeight: 1.25 }}&gt;一期旅行 Vlog MP4&lt;/Text&gt;&#10;            {['24–30 镜 · 每镜 1 秒 · 约 30 秒', '9:16 竖屏（默认）或 16:9 横屏', '带字幕、LUT、AI 标识；可分享'].map((t, i) =&gt; (&#10;                &lt;Box key={i} style={{ flexDirection: 'row', alignItems: 'center', gap: '8px' }}&gt;&#10;                    &lt;Box style={{ width: '4px', height: '4px', borderRadius: '2px', background: '#93C5FD' }} /&gt;&#10;                    &lt;Text style={{ fontSize: '12px', color: 'rgba(255,255,255,0.9)' }}&gt;{t}&lt;/Text&gt;&#10;                &lt;/Box&gt;&#10;            ))}&#10;        &lt;/Box&gt;&#10;    &lt;/Box&gt;&#10;&#10;    &lt;Box style={{ position: 'absolute', top: '372px', left: '64px', right: '64px', flexDirection: 'row', justifyContent: 'space-between', alignItems: 'center' }}&gt;&#10;        &lt;Box style={{ flexDirection: 'row', alignItems: 'center', gap: '10px' }}&gt;&#10;            &lt;Box style={{ width: '4px', height: '16px', borderRadius: '2px', background: '#2563EB' }} /&gt;&#10;            &lt;Text style={{ fontSize: '16px', fontWeight: 'bold', color: '#0B1220' }}&gt;目的地是共享资产：官方维护景区级符号包&lt;/Text&gt;&#10;        &lt;/Box&gt;&#10;        &lt;Text style={{ fontSize: '12.5px', color: '#5B6B84' }}&gt;每个地标 3–10 张实景参考图 + 最佳机位 / 时段 + 必须保真特征 · 首批内置五个景区&lt;/Text&gt;&#10;    &lt;/Box&gt;&#10;&#10;    &lt;Box style={{ position: 'absolute', top: '408px', left: '64px', right: '64px', flexDirection: 'row', gap: '14px' }}&gt;&#10;        {[&#10;            { img: 'image3.jpeg', t: '无锡南长街' },&#10;            { img: 'image4.jpeg', t: '无锡拈花湾' },&#10;            { img: 'image5.jpeg', t: '无锡灵山大佛' },&#10;            { img: 'image6.jpeg', t: '泰山' },&#10;            { img: 'image7.jpeg', t: '黄山' },&#10;        ].map((s, i) =&gt; (&#10;            &lt;Box key={i} style={{ flex: 1, flexDirection: 'column', gap: '8px' }}&gt;&#10;                &lt;Box style={{ width: '100%', height: '158px', borderRadius: '12px', overflow: 'hidden', border: '1px solid #E6EAF1', boxShadow: '0 2px 10px rgba(15,23,42,0.06)' }}&gt;&#10;                    &lt;Image src={`C:/Users/Admin/WorkBuddy/2026-09-29-15-08-33/work/Kelvoy_DEMO_v2/assets/${s.img}`} style={{ width: '218px', height: '158px' }} /&gt;&#10;                &lt;/Box&gt;&#10;                &lt;Box style={{ flexDirection: 'row', alignItems: 'center', gap: '7px', padding: '7px 12px', background: '#FFFFFF', borderRadius: '8px', border: '1px solid #E6EAF1' }}&gt;&#10;                    &lt;FAIcon name='map-location-dot' style={{ fill: '#2563EB', width: '13px', height: '13px' }} /&gt;&#10;                    &lt;Text style={{ fontSize: '12.5px', fontWeight: 600, color: '#0B1220' }}&gt;{s.t}&lt;/Text&gt;&#10;                &lt;/Box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6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矩形 7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714" name="矩形 71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15" name="文本框 71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6" name="文本框 715" descr="{&quot;isTemplate&quot;:true,&quot;type&quot;:&quot;text&quot;}"/>
          <p:cNvSpPr txBox="1"/>
          <p:nvPr/>
        </p:nvSpPr>
        <p:spPr>
          <a:xfrm>
            <a:off x="9925050" y="409575"/>
            <a:ext cx="1657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PRODUCT DEFINITION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7" name="文本框 716" descr="{&quot;isTemplate&quot;:true,&quot;type&quot;:&quot;text&quot;}"/>
          <p:cNvSpPr txBox="1"/>
          <p:nvPr/>
        </p:nvSpPr>
        <p:spPr>
          <a:xfrm>
            <a:off x="609600" y="647700"/>
            <a:ext cx="70675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一个景区，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换回一期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秒旅行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8" name="圆角矩形 71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19" name="圆角矩形 718"/>
          <p:cNvSpPr/>
          <p:nvPr/>
        </p:nvSpPr>
        <p:spPr>
          <a:xfrm>
            <a:off x="609600" y="1390650"/>
            <a:ext cx="2857500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720" name="文本框 719" descr="{&quot;isTemplate&quot;:true,&quot;type&quot;:&quot;text&quot;}"/>
          <p:cNvSpPr txBox="1"/>
          <p:nvPr/>
        </p:nvSpPr>
        <p:spPr>
          <a:xfrm>
            <a:off x="800100" y="1562100"/>
            <a:ext cx="24765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输入</a:t>
            </a:r>
            <a:r>
              <a:rPr lang="en-US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INPUT</a:t>
            </a:r>
            <a:endParaRPr lang="en-US" sz="825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1" name="圆角矩形 720"/>
          <p:cNvSpPr/>
          <p:nvPr/>
        </p:nvSpPr>
        <p:spPr>
          <a:xfrm>
            <a:off x="800100" y="1790700"/>
            <a:ext cx="819150" cy="990600"/>
          </a:xfrm>
          <a:prstGeom prst="roundRect">
            <a:avLst>
              <a:gd name="adj" fmla="val 11628"/>
            </a:avLst>
          </a:prstGeom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22" name="图片 721"/>
          <p:cNvPicPr>
            <a:picLocks noChangeAspect="1"/>
          </p:cNvPicPr>
          <p:nvPr/>
        </p:nvPicPr>
        <p:blipFill>
          <a:blip r:embed="rId1"/>
          <a:srcRect l="384" r="384"/>
          <a:stretch>
            <a:fillRect/>
          </a:stretch>
        </p:blipFill>
        <p:spPr>
          <a:xfrm>
            <a:off x="800100" y="1790700"/>
            <a:ext cx="819150" cy="990600"/>
          </a:xfrm>
          <a:custGeom>
            <a:avLst/>
            <a:gdLst/>
            <a:ahLst/>
            <a:cxnLst/>
            <a:pathLst>
              <a:path w="86" h="104">
                <a:moveTo>
                  <a:pt x="76" y="0"/>
                </a:moveTo>
                <a:cubicBezTo>
                  <a:pt x="82" y="0"/>
                  <a:pt x="86" y="5"/>
                  <a:pt x="86" y="10"/>
                </a:cubicBezTo>
                <a:lnTo>
                  <a:pt x="86" y="94"/>
                </a:lnTo>
                <a:cubicBezTo>
                  <a:pt x="86" y="100"/>
                  <a:pt x="82" y="104"/>
                  <a:pt x="76" y="104"/>
                </a:cubicBezTo>
                <a:lnTo>
                  <a:pt x="10" y="104"/>
                </a:lnTo>
                <a:cubicBezTo>
                  <a:pt x="4" y="104"/>
                  <a:pt x="0" y="100"/>
                  <a:pt x="0" y="94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76" y="0"/>
                </a:lnTo>
                <a:close/>
              </a:path>
            </a:pathLst>
          </a:custGeom>
        </p:spPr>
      </p:pic>
      <p:sp>
        <p:nvSpPr>
          <p:cNvPr id="723" name="文本框 722" descr="{&quot;isTemplate&quot;:true,&quot;type&quot;:&quot;text&quot;}"/>
          <p:cNvSpPr txBox="1"/>
          <p:nvPr/>
        </p:nvSpPr>
        <p:spPr>
          <a:xfrm>
            <a:off x="1752600" y="2066925"/>
            <a:ext cx="152400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虚拟角色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4" name="文本框 723" descr="{&quot;isTemplate&quot;:true,&quot;type&quot;:&quot;text&quot;}"/>
          <p:cNvSpPr txBox="1"/>
          <p:nvPr/>
        </p:nvSpPr>
        <p:spPr>
          <a:xfrm>
            <a:off x="1752600" y="2371725"/>
            <a:ext cx="15240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账号级资产</a:t>
            </a:r>
            <a:endParaRPr lang="zh-CN" sz="94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5" name="文本框 724" descr="{&quot;isTemplate&quot;:true,&quot;type&quot;:&quot;text&quot;}"/>
          <p:cNvSpPr txBox="1"/>
          <p:nvPr/>
        </p:nvSpPr>
        <p:spPr>
          <a:xfrm>
            <a:off x="800100" y="2876550"/>
            <a:ext cx="247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三视图参考锁定外形，每期可换穿搭。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26" name="图片 72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90925" y="2276475"/>
            <a:ext cx="190500" cy="190500"/>
          </a:xfrm>
          <a:prstGeom prst="rect">
            <a:avLst/>
          </a:prstGeom>
        </p:spPr>
      </p:pic>
      <p:sp>
        <p:nvSpPr>
          <p:cNvPr id="727" name="圆角矩形 726"/>
          <p:cNvSpPr/>
          <p:nvPr/>
        </p:nvSpPr>
        <p:spPr>
          <a:xfrm>
            <a:off x="3905250" y="1390650"/>
            <a:ext cx="4324350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DBE4F5"/>
            </a:solidFill>
            <a:prstDash val="solid"/>
          </a:ln>
          <a:effectLst>
            <a:outerShdw blurRad="114300" dist="19050" dir="5400000">
              <a:srgbClr val="2563EB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728" name="文本框 727" descr="{&quot;isTemplate&quot;:true,&quot;type&quot;:&quot;text&quot;}"/>
          <p:cNvSpPr txBox="1"/>
          <p:nvPr/>
        </p:nvSpPr>
        <p:spPr>
          <a:xfrm>
            <a:off x="4095750" y="1562100"/>
            <a:ext cx="394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三个人工选择点</a:t>
            </a:r>
            <a:r>
              <a:rPr lang="en-US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HUMAN-IN-LOOP</a:t>
            </a:r>
            <a:endParaRPr lang="en-US" sz="825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9" name="圆角矩形 728"/>
          <p:cNvSpPr/>
          <p:nvPr/>
        </p:nvSpPr>
        <p:spPr>
          <a:xfrm>
            <a:off x="4095750" y="17907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30" name="圆角矩形 729"/>
          <p:cNvSpPr/>
          <p:nvPr/>
        </p:nvSpPr>
        <p:spPr>
          <a:xfrm>
            <a:off x="4210050" y="18764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1" name="文本框 730" descr="{&quot;isTemplate&quot;:true,&quot;type&quot;:&quot;text&quot;}"/>
          <p:cNvSpPr txBox="1"/>
          <p:nvPr/>
        </p:nvSpPr>
        <p:spPr>
          <a:xfrm>
            <a:off x="4286250" y="19240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2" name="文本框 731" descr="{&quot;isTemplate&quot;:true,&quot;type&quot;:&quot;text&quot;}"/>
          <p:cNvSpPr txBox="1"/>
          <p:nvPr/>
        </p:nvSpPr>
        <p:spPr>
          <a:xfrm>
            <a:off x="4552950" y="19145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3" name="文本框 732" descr="{&quot;isTemplate&quot;:true,&quot;type&quot;:&quot;text&quot;}"/>
          <p:cNvSpPr txBox="1"/>
          <p:nvPr/>
        </p:nvSpPr>
        <p:spPr>
          <a:xfrm>
            <a:off x="5219700" y="1924050"/>
            <a:ext cx="838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改、删、重生成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4" name="圆角矩形 733"/>
          <p:cNvSpPr/>
          <p:nvPr/>
        </p:nvSpPr>
        <p:spPr>
          <a:xfrm>
            <a:off x="4095750" y="22860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35" name="圆角矩形 734"/>
          <p:cNvSpPr/>
          <p:nvPr/>
        </p:nvSpPr>
        <p:spPr>
          <a:xfrm>
            <a:off x="4210050" y="23717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6" name="文本框 735" descr="{&quot;isTemplate&quot;:true,&quot;type&quot;:&quot;text&quot;}"/>
          <p:cNvSpPr txBox="1"/>
          <p:nvPr/>
        </p:nvSpPr>
        <p:spPr>
          <a:xfrm>
            <a:off x="4286250" y="24193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7" name="文本框 736" descr="{&quot;isTemplate&quot;:true,&quot;type&quot;:&quot;text&quot;}"/>
          <p:cNvSpPr txBox="1"/>
          <p:nvPr/>
        </p:nvSpPr>
        <p:spPr>
          <a:xfrm>
            <a:off x="4552950" y="24098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8" name="文本框 737" descr="{&quot;isTemplate&quot;:true,&quot;type&quot;:&quot;text&quot;}"/>
          <p:cNvSpPr txBox="1"/>
          <p:nvPr/>
        </p:nvSpPr>
        <p:spPr>
          <a:xfrm>
            <a:off x="5219700" y="2419350"/>
            <a:ext cx="4762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逐镜挑图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9" name="圆角矩形 738"/>
          <p:cNvSpPr/>
          <p:nvPr/>
        </p:nvSpPr>
        <p:spPr>
          <a:xfrm>
            <a:off x="4095750" y="27813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40" name="圆角矩形 739"/>
          <p:cNvSpPr/>
          <p:nvPr/>
        </p:nvSpPr>
        <p:spPr>
          <a:xfrm>
            <a:off x="4210050" y="28670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41" name="文本框 740" descr="{&quot;isTemplate&quot;:true,&quot;type&quot;:&quot;text&quot;}"/>
          <p:cNvSpPr txBox="1"/>
          <p:nvPr/>
        </p:nvSpPr>
        <p:spPr>
          <a:xfrm>
            <a:off x="4286250" y="29146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2" name="文本框 741" descr="{&quot;isTemplate&quot;:true,&quot;type&quot;:&quot;text&quot;}"/>
          <p:cNvSpPr txBox="1"/>
          <p:nvPr/>
        </p:nvSpPr>
        <p:spPr>
          <a:xfrm>
            <a:off x="4552950" y="29051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3" name="文本框 742" descr="{&quot;isTemplate&quot;:true,&quot;type&quot;:&quot;text&quot;}"/>
          <p:cNvSpPr txBox="1"/>
          <p:nvPr/>
        </p:nvSpPr>
        <p:spPr>
          <a:xfrm>
            <a:off x="5219700" y="2914650"/>
            <a:ext cx="7810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红线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44" name="图片 74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53425" y="2276475"/>
            <a:ext cx="190500" cy="190500"/>
          </a:xfrm>
          <a:prstGeom prst="rect">
            <a:avLst/>
          </a:prstGeom>
        </p:spPr>
      </p:pic>
      <p:sp>
        <p:nvSpPr>
          <p:cNvPr id="745" name="圆角矩形 744"/>
          <p:cNvSpPr/>
          <p:nvPr/>
        </p:nvSpPr>
        <p:spPr>
          <a:xfrm>
            <a:off x="8667750" y="1390650"/>
            <a:ext cx="2914650" cy="1962150"/>
          </a:xfrm>
          <a:prstGeom prst="roundRect">
            <a:avLst>
              <a:gd name="adj" fmla="val 6796"/>
            </a:avLst>
          </a:prstGeom>
          <a:gradFill>
            <a:gsLst>
              <a:gs pos="0">
                <a:srgbClr val="1D4ED8"/>
              </a:gs>
              <a:gs pos="55000">
                <a:srgbClr val="2563EB"/>
              </a:gs>
              <a:gs pos="100000">
                <a:srgbClr val="7C3AED"/>
              </a:gs>
            </a:gsLst>
            <a:lin ang="2700000" scaled="1"/>
          </a:gradFill>
          <a:effectLst>
            <a:outerShdw blurRad="228600" dist="76200" dir="5400000">
              <a:srgbClr val="2563EB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46" name="文本框 745" descr="{&quot;isTemplate&quot;:true,&quot;type&quot;:&quot;text&quot;}"/>
          <p:cNvSpPr txBox="1"/>
          <p:nvPr/>
        </p:nvSpPr>
        <p:spPr>
          <a:xfrm>
            <a:off x="8858250" y="1562100"/>
            <a:ext cx="25336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输出</a:t>
            </a:r>
            <a:r>
              <a:rPr lang="en-US" sz="825" b="1" spc="1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OUTPUT</a:t>
            </a:r>
            <a:endParaRPr lang="en-US" sz="825" b="1" spc="150">
              <a:solidFill>
                <a:srgbClr val="FFFFFF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7" name="文本框 746" descr="{&quot;isTemplate&quot;:true,&quot;type&quot;:&quot;text&quot;}"/>
          <p:cNvSpPr txBox="1"/>
          <p:nvPr/>
        </p:nvSpPr>
        <p:spPr>
          <a:xfrm>
            <a:off x="8858250" y="1781175"/>
            <a:ext cx="25336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一期旅行</a:t>
            </a:r>
            <a:r>
              <a:rPr lang="en-US" sz="1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Vlog MP4</a:t>
            </a:r>
            <a:endParaRPr lang="en-US" sz="15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8" name="圆角矩形 747"/>
          <p:cNvSpPr/>
          <p:nvPr/>
        </p:nvSpPr>
        <p:spPr>
          <a:xfrm>
            <a:off x="8858250" y="22288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49" name="文本框 748" descr="{&quot;isTemplate&quot;:true,&quot;type&quot;:&quot;text&quot;}"/>
          <p:cNvSpPr txBox="1"/>
          <p:nvPr/>
        </p:nvSpPr>
        <p:spPr>
          <a:xfrm>
            <a:off x="8972550" y="2171700"/>
            <a:ext cx="15811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24–30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约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0" name="圆角矩形 749"/>
          <p:cNvSpPr/>
          <p:nvPr/>
        </p:nvSpPr>
        <p:spPr>
          <a:xfrm>
            <a:off x="8858250" y="24574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51" name="文本框 750" descr="{&quot;isTemplate&quot;:true,&quot;type&quot;:&quot;text&quot;}"/>
          <p:cNvSpPr txBox="1"/>
          <p:nvPr/>
        </p:nvSpPr>
        <p:spPr>
          <a:xfrm>
            <a:off x="8972550" y="2400300"/>
            <a:ext cx="1590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9:16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竖屏（默认）或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16:9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横屏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2" name="圆角矩形 751"/>
          <p:cNvSpPr/>
          <p:nvPr/>
        </p:nvSpPr>
        <p:spPr>
          <a:xfrm>
            <a:off x="8858250" y="26860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53" name="文本框 752" descr="{&quot;isTemplate&quot;:true,&quot;type&quot;:&quot;text&quot;}"/>
          <p:cNvSpPr txBox="1"/>
          <p:nvPr/>
        </p:nvSpPr>
        <p:spPr>
          <a:xfrm>
            <a:off x="8972550" y="2628900"/>
            <a:ext cx="16192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带字幕、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LUT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标识；可分享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4" name="圆角矩形 753"/>
          <p:cNvSpPr/>
          <p:nvPr/>
        </p:nvSpPr>
        <p:spPr>
          <a:xfrm>
            <a:off x="609600" y="3562350"/>
            <a:ext cx="38100" cy="152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755" name="文本框 754" descr="{&quot;isTemplate&quot;:true,&quot;type&quot;:&quot;text&quot;}"/>
          <p:cNvSpPr txBox="1"/>
          <p:nvPr/>
        </p:nvSpPr>
        <p:spPr>
          <a:xfrm>
            <a:off x="742950" y="3543300"/>
            <a:ext cx="2895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目的地是共享资产：官方维护景区级符号包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6" name="文本框 755" descr="{&quot;isTemplate&quot;:true,&quot;type&quot;:&quot;text&quot;}"/>
          <p:cNvSpPr txBox="1"/>
          <p:nvPr/>
        </p:nvSpPr>
        <p:spPr>
          <a:xfrm>
            <a:off x="7124700" y="3571875"/>
            <a:ext cx="445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每个地标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3–10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张实景参考图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最佳机位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时段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必须保真特征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首批内置五个景区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7" name="圆角矩形 756"/>
          <p:cNvSpPr/>
          <p:nvPr/>
        </p:nvSpPr>
        <p:spPr>
          <a:xfrm>
            <a:off x="609600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58" name="图片 757"/>
          <p:cNvPicPr>
            <a:picLocks noChangeAspect="1"/>
          </p:cNvPicPr>
          <p:nvPr/>
        </p:nvPicPr>
        <p:blipFill>
          <a:blip r:embed="rId4"/>
          <a:srcRect t="1681" b="1681"/>
          <a:stretch>
            <a:fillRect/>
          </a:stretch>
        </p:blipFill>
        <p:spPr>
          <a:xfrm>
            <a:off x="60960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59" name="圆角矩形 758"/>
          <p:cNvSpPr/>
          <p:nvPr/>
        </p:nvSpPr>
        <p:spPr>
          <a:xfrm>
            <a:off x="609600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60" name="图片 75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900" y="5543550"/>
            <a:ext cx="123825" cy="123825"/>
          </a:xfrm>
          <a:prstGeom prst="rect">
            <a:avLst/>
          </a:prstGeom>
        </p:spPr>
      </p:pic>
      <p:sp>
        <p:nvSpPr>
          <p:cNvPr id="761" name="文本框 760" descr="{&quot;isTemplate&quot;:true,&quot;type&quot;:&quot;text&quot;}"/>
          <p:cNvSpPr txBox="1"/>
          <p:nvPr/>
        </p:nvSpPr>
        <p:spPr>
          <a:xfrm>
            <a:off x="914400" y="5534025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无锡南长街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2" name="圆角矩形 761"/>
          <p:cNvSpPr/>
          <p:nvPr/>
        </p:nvSpPr>
        <p:spPr>
          <a:xfrm>
            <a:off x="2828925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63" name="图片 762"/>
          <p:cNvPicPr>
            <a:picLocks noChangeAspect="1"/>
          </p:cNvPicPr>
          <p:nvPr/>
        </p:nvPicPr>
        <p:blipFill>
          <a:blip r:embed="rId7"/>
          <a:srcRect t="1681" b="1681"/>
          <a:stretch>
            <a:fillRect/>
          </a:stretch>
        </p:blipFill>
        <p:spPr>
          <a:xfrm>
            <a:off x="2828925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64" name="圆角矩形 763"/>
          <p:cNvSpPr/>
          <p:nvPr/>
        </p:nvSpPr>
        <p:spPr>
          <a:xfrm>
            <a:off x="2828925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65" name="图片 76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43225" y="5543550"/>
            <a:ext cx="123825" cy="123825"/>
          </a:xfrm>
          <a:prstGeom prst="rect">
            <a:avLst/>
          </a:prstGeom>
        </p:spPr>
      </p:pic>
      <p:sp>
        <p:nvSpPr>
          <p:cNvPr id="766" name="文本框 765" descr="{&quot;isTemplate&quot;:true,&quot;type&quot;:&quot;text&quot;}"/>
          <p:cNvSpPr txBox="1"/>
          <p:nvPr/>
        </p:nvSpPr>
        <p:spPr>
          <a:xfrm>
            <a:off x="3133725" y="5534025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无锡拈花湾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7" name="圆角矩形 766"/>
          <p:cNvSpPr/>
          <p:nvPr/>
        </p:nvSpPr>
        <p:spPr>
          <a:xfrm>
            <a:off x="5048250" y="3886200"/>
            <a:ext cx="2095500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68" name="图片 767"/>
          <p:cNvPicPr>
            <a:picLocks noChangeAspect="1"/>
          </p:cNvPicPr>
          <p:nvPr/>
        </p:nvPicPr>
        <p:blipFill>
          <a:blip r:embed="rId8"/>
          <a:srcRect l="5434" r="5434"/>
          <a:stretch>
            <a:fillRect/>
          </a:stretch>
        </p:blipFill>
        <p:spPr>
          <a:xfrm>
            <a:off x="504825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8" y="0"/>
                </a:moveTo>
                <a:cubicBezTo>
                  <a:pt x="212" y="0"/>
                  <a:pt x="216" y="2"/>
                  <a:pt x="218" y="5"/>
                </a:cubicBezTo>
                <a:lnTo>
                  <a:pt x="218" y="153"/>
                </a:lnTo>
                <a:cubicBezTo>
                  <a:pt x="216" y="156"/>
                  <a:pt x="212" y="158"/>
                  <a:pt x="208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8" y="0"/>
                </a:lnTo>
                <a:close/>
              </a:path>
            </a:pathLst>
          </a:custGeom>
        </p:spPr>
      </p:pic>
      <p:sp>
        <p:nvSpPr>
          <p:cNvPr id="769" name="圆角矩形 768"/>
          <p:cNvSpPr/>
          <p:nvPr/>
        </p:nvSpPr>
        <p:spPr>
          <a:xfrm>
            <a:off x="5048250" y="5467350"/>
            <a:ext cx="2095500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70" name="图片 76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62550" y="5543550"/>
            <a:ext cx="123825" cy="123825"/>
          </a:xfrm>
          <a:prstGeom prst="rect">
            <a:avLst/>
          </a:prstGeom>
        </p:spPr>
      </p:pic>
      <p:sp>
        <p:nvSpPr>
          <p:cNvPr id="771" name="文本框 770" descr="{&quot;isTemplate&quot;:true,&quot;type&quot;:&quot;text&quot;}"/>
          <p:cNvSpPr txBox="1"/>
          <p:nvPr/>
        </p:nvSpPr>
        <p:spPr>
          <a:xfrm>
            <a:off x="5353050" y="5534025"/>
            <a:ext cx="7143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无锡灵山大佛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2" name="圆角矩形 771"/>
          <p:cNvSpPr/>
          <p:nvPr/>
        </p:nvSpPr>
        <p:spPr>
          <a:xfrm>
            <a:off x="7277100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73" name="图片 772"/>
          <p:cNvPicPr>
            <a:picLocks noChangeAspect="1"/>
          </p:cNvPicPr>
          <p:nvPr/>
        </p:nvPicPr>
        <p:blipFill>
          <a:blip r:embed="rId9"/>
          <a:srcRect l="6954" r="6954"/>
          <a:stretch>
            <a:fillRect/>
          </a:stretch>
        </p:blipFill>
        <p:spPr>
          <a:xfrm>
            <a:off x="727710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74" name="圆角矩形 773"/>
          <p:cNvSpPr/>
          <p:nvPr/>
        </p:nvSpPr>
        <p:spPr>
          <a:xfrm>
            <a:off x="7277100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75" name="图片 77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1400" y="5543550"/>
            <a:ext cx="123825" cy="123825"/>
          </a:xfrm>
          <a:prstGeom prst="rect">
            <a:avLst/>
          </a:prstGeom>
        </p:spPr>
      </p:pic>
      <p:sp>
        <p:nvSpPr>
          <p:cNvPr id="776" name="文本框 775" descr="{&quot;isTemplate&quot;:true,&quot;type&quot;:&quot;text&quot;}"/>
          <p:cNvSpPr txBox="1"/>
          <p:nvPr/>
        </p:nvSpPr>
        <p:spPr>
          <a:xfrm>
            <a:off x="7581900" y="5534025"/>
            <a:ext cx="2381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泰山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7" name="圆角矩形 776"/>
          <p:cNvSpPr/>
          <p:nvPr/>
        </p:nvSpPr>
        <p:spPr>
          <a:xfrm>
            <a:off x="9496425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78" name="图片 777"/>
          <p:cNvPicPr>
            <a:picLocks noChangeAspect="1"/>
          </p:cNvPicPr>
          <p:nvPr/>
        </p:nvPicPr>
        <p:blipFill>
          <a:blip r:embed="rId10"/>
          <a:srcRect t="1681" b="1681"/>
          <a:stretch>
            <a:fillRect/>
          </a:stretch>
        </p:blipFill>
        <p:spPr>
          <a:xfrm>
            <a:off x="9496425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79" name="圆角矩形 778"/>
          <p:cNvSpPr/>
          <p:nvPr/>
        </p:nvSpPr>
        <p:spPr>
          <a:xfrm>
            <a:off x="9496425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80" name="图片 77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0725" y="5543550"/>
            <a:ext cx="123825" cy="123825"/>
          </a:xfrm>
          <a:prstGeom prst="rect">
            <a:avLst/>
          </a:prstGeom>
        </p:spPr>
      </p:pic>
      <p:sp>
        <p:nvSpPr>
          <p:cNvPr id="781" name="文本框 780" descr="{&quot;isTemplate&quot;:true,&quot;type&quot;:&quot;text&quot;}"/>
          <p:cNvSpPr txBox="1"/>
          <p:nvPr/>
        </p:nvSpPr>
        <p:spPr>
          <a:xfrm>
            <a:off x="9801225" y="5534025"/>
            <a:ext cx="2381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黄山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2" name="圆角矩形 781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83" name="文本框 782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4" name="文本框 783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5" name="文本框 784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06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6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DIFFERENTIATION&lt;/Text&gt;&#10;    &lt;/Box&gt;&#10;    &lt;Text style={{ position: 'absolute', top: '68px', left: '64px', fontSize: '34px', fontWeight: 'bold', color: '#0B1220' }}&gt;&#10;        不做通用视频生成器，只做&lt;span style={{ color: '#2563EB' }}&gt;「角色 × 目的地」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46px', left: '64px', right: '64px', flexDirection: 'row', padding: '0 20px', alignItems: 'center' }}&gt;&#10;        &lt;Text style={{ width: '110px', fontSize: '12.5px', fontWeight: 700, color: '#8A97AB', letterSpacing: '1px' }}&gt;维度&lt;/Text&gt;&#10;        &lt;Text style={{ flex: 1, fontSize: '12.5px', fontWeight: 700, color: '#8A97AB', letterSpacing: '1px' }}&gt;通用 AI 视频工具&lt;/Text&gt;&#10;        &lt;Box style={{ flexDirection: 'row', alignItems: 'center', gap: '8px', width: '470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.5px', fontWeight: 700, color: '#2563EB', letterSpacing: '1px' }}&gt;Kelvoy 可旅&lt;/Text&gt;&#10;        &lt;/Box&gt;&#10;    &lt;/Box&gt;&#10;&#10;    &lt;Box style={{ position: 'absolute', top: '180px', left: '64px', right: '64px', flexDirection: 'column', gap: '12px' }}&gt;&#10;        {[&#10;            { dim: '角色', icon: 'user', a: '每次重新描述，形象随机', b: '账号级资产：外形跨期一致，每期换穿搭' },&#10;            { dim: '目的地', icon: 'map-location-dot', a: '不懂地标，容易失真', b: '景区级符号包 + 实景参考图保真' },&#10;            { dim: '叙事', icon: 'feather', a: '自由发挥，质量看运气', b: '六种目的地类型对应六种镜头语法' },&#10;            { dim: '过程', icon: 'sliders', a: '一键黑盒，不可干预', b: '六阶段 + 人工审核点，可改、可重跑' },&#10;            { dim: '成本', icon: 'coins', a: '按次付费，不可控', b: '本地 DGX 为主 + API 溢出，整期上限 ¥20' },&#10;        ].map((r, i) =&gt; (&#10;            &lt;Box key={i} style={{ flexDirection: 'row', alignItems: 'center', gap: '20px' }}&gt;&#10;                &lt;Box style={{ width: '110px', flexDirection: 'row', alignItems: 'center', gap: '9px' }}&gt;&#10;                    &lt;Box style={{ width: '34px', height: '34px', borderRadius: '10px', background: '#EFF4FE', justifyContent: 'center', alignItems: 'center' }}&gt;&#10;                        &lt;FAIcon name={r.icon} style={{ fill: '#2563EB', width: '16px', height: '16px' }} /&gt;&#10;                    &lt;/Box&gt;&#10;                    &lt;Text style={{ fontSize: '14.5px', fontWeight: 700, color: '#0B1220' }}&gt;{r.dim}&lt;/Text&gt;&#10;                &lt;/Box&gt;&#10;                &lt;Box style={{ flex: 1, flexDirection: 'row', alignItems: 'center', gap: '10px', padding: '17px 18px', background: '#FFFFFF', borderRadius: '11px', border: '1px solid #E6EAF1' }}&gt;&#10;                    &lt;FAIcon name='circle-xmark' style={{ fill: '#CBD5E1', width: '15px', height: '15px' }} /&gt;&#10;                    &lt;Text style={{ fontSize: '13px', color: '#8A97AB' }}&gt;{r.a}&lt;/Text&gt;&#10;                &lt;/Box&gt;&#10;                &lt;Box style={{ width: '470px', flexDirection: 'row', alignItems: 'center', gap: '10px', padding: '17px 18px', background: 'linear-gradient(120deg,#EFF4FE 0%,#F5F1FE 100%)', borderRadius: '11px', border: '1px solid #C7D7FA' }}&gt;&#10;                    &lt;FAIcon name='circle-check' style={{ fill: '#2563EB', width: '15px', height: '15px' }} /&gt;&#10;                    &lt;Text style={{ fontSize: '13px', fontWeight: 600, color: '#1D4ED8' }}&gt;{r.b}&lt;/Text&gt;&#10;                &lt;/Box&gt;&#10;            &lt;/Box&gt;&#10;        ))}&#10;    &lt;/Box&gt;&#10;&#10;    &lt;Box style={{ position: 'absolute', top: '596px', left: '64px', right: '64px', padding: '16px 24px', borderRadius: '12px', background: '#0B1220', flexDirection: 'row', alignItems: 'center', gap: '14px' }}&gt;&#10;        &lt;FAIcon name='shield-halved' style={{ fill: '#93C5FD', width: '18px', height: '18px' }} /&gt;&#10;        &lt;Text style={{ fontSize: '14px', color: 'rgba(255,255,255,0.9)' }}&gt;&#10;            护城河不在模型，在&lt;span style={{ color: '#93C5FD', fontWeight: 700 }}&gt;角色资产、目的地库和跨期一致性&lt;/span&gt;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7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矩形 7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788" name="矩形 787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89" name="文本框 788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0" name="文本框 789" descr="{&quot;isTemplate&quot;:true,&quot;type&quot;:&quot;text&quot;}"/>
          <p:cNvSpPr txBox="1"/>
          <p:nvPr/>
        </p:nvSpPr>
        <p:spPr>
          <a:xfrm>
            <a:off x="10229850" y="409575"/>
            <a:ext cx="13525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DIFFERENTIATION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1" name="文本框 790" descr="{&quot;isTemplate&quot;:true,&quot;type&quot;:&quot;text&quot;}"/>
          <p:cNvSpPr txBox="1"/>
          <p:nvPr/>
        </p:nvSpPr>
        <p:spPr>
          <a:xfrm>
            <a:off x="609600" y="647700"/>
            <a:ext cx="66008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不做通用视频生成器，只做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「角色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目的地」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2" name="圆角矩形 791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93" name="文本框 792" descr="{&quot;isTemplate&quot;:true,&quot;type&quot;:&quot;text&quot;}"/>
          <p:cNvSpPr txBox="1"/>
          <p:nvPr/>
        </p:nvSpPr>
        <p:spPr>
          <a:xfrm>
            <a:off x="800100" y="1409700"/>
            <a:ext cx="10477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维度</a:t>
            </a:r>
            <a:endParaRPr lang="zh-CN" sz="94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4" name="文本框 793" descr="{&quot;isTemplate&quot;:true,&quot;type&quot;:&quot;text&quot;}"/>
          <p:cNvSpPr txBox="1"/>
          <p:nvPr/>
        </p:nvSpPr>
        <p:spPr>
          <a:xfrm>
            <a:off x="1847850" y="1409700"/>
            <a:ext cx="50673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视频工具</a:t>
            </a:r>
            <a:endParaRPr lang="zh-CN" sz="94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5" name="圆角矩形 794"/>
          <p:cNvSpPr/>
          <p:nvPr/>
        </p:nvSpPr>
        <p:spPr>
          <a:xfrm>
            <a:off x="6915150" y="13906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96" name="文本框 795" descr="{&quot;isTemplate&quot;:true,&quot;type&quot;:&quot;text&quot;}"/>
          <p:cNvSpPr txBox="1"/>
          <p:nvPr/>
        </p:nvSpPr>
        <p:spPr>
          <a:xfrm>
            <a:off x="6953250" y="14192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7" name="文本框 796" descr="{&quot;isTemplate&quot;:true,&quot;type&quot;:&quot;text&quot;}"/>
          <p:cNvSpPr txBox="1"/>
          <p:nvPr/>
        </p:nvSpPr>
        <p:spPr>
          <a:xfrm>
            <a:off x="7162800" y="1409700"/>
            <a:ext cx="7620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940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endParaRPr lang="zh-CN" sz="940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8" name="圆角矩形 797"/>
          <p:cNvSpPr/>
          <p:nvPr/>
        </p:nvSpPr>
        <p:spPr>
          <a:xfrm>
            <a:off x="609600" y="17907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799" name="图片 79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" y="1876425"/>
            <a:ext cx="152400" cy="152400"/>
          </a:xfrm>
          <a:prstGeom prst="rect">
            <a:avLst/>
          </a:prstGeom>
        </p:spPr>
      </p:pic>
      <p:sp>
        <p:nvSpPr>
          <p:cNvPr id="800" name="文本框 799" descr="{&quot;isTemplate&quot;:true,&quot;type&quot;:&quot;text&quot;}"/>
          <p:cNvSpPr txBox="1"/>
          <p:nvPr/>
        </p:nvSpPr>
        <p:spPr>
          <a:xfrm>
            <a:off x="1019175" y="18669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1" name="圆角矩形 800"/>
          <p:cNvSpPr/>
          <p:nvPr/>
        </p:nvSpPr>
        <p:spPr>
          <a:xfrm>
            <a:off x="1847850" y="17145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02" name="图片 80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1885950"/>
            <a:ext cx="142875" cy="142875"/>
          </a:xfrm>
          <a:prstGeom prst="rect">
            <a:avLst/>
          </a:prstGeom>
        </p:spPr>
      </p:pic>
      <p:sp>
        <p:nvSpPr>
          <p:cNvPr id="803" name="文本框 802" descr="{&quot;isTemplate&quot;:true,&quot;type&quot;:&quot;text&quot;}"/>
          <p:cNvSpPr txBox="1"/>
          <p:nvPr/>
        </p:nvSpPr>
        <p:spPr>
          <a:xfrm>
            <a:off x="2257425" y="1876425"/>
            <a:ext cx="1362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每次重新描述，形象随机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4" name="圆角矩形 803"/>
          <p:cNvSpPr/>
          <p:nvPr/>
        </p:nvSpPr>
        <p:spPr>
          <a:xfrm>
            <a:off x="7105650" y="17145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05" name="图片 80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1885950"/>
            <a:ext cx="142875" cy="142875"/>
          </a:xfrm>
          <a:prstGeom prst="rect">
            <a:avLst/>
          </a:prstGeom>
        </p:spPr>
      </p:pic>
      <p:sp>
        <p:nvSpPr>
          <p:cNvPr id="806" name="文本框 805" descr="{&quot;isTemplate&quot;:true,&quot;type&quot;:&quot;text&quot;}"/>
          <p:cNvSpPr txBox="1"/>
          <p:nvPr/>
        </p:nvSpPr>
        <p:spPr>
          <a:xfrm>
            <a:off x="7515225" y="1876425"/>
            <a:ext cx="2228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账号级资产：外形跨期一致，每期换穿搭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7" name="圆角矩形 806"/>
          <p:cNvSpPr/>
          <p:nvPr/>
        </p:nvSpPr>
        <p:spPr>
          <a:xfrm>
            <a:off x="609600" y="23812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08" name="图片 80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325" y="2466975"/>
            <a:ext cx="152400" cy="152400"/>
          </a:xfrm>
          <a:prstGeom prst="rect">
            <a:avLst/>
          </a:prstGeom>
        </p:spPr>
      </p:pic>
      <p:sp>
        <p:nvSpPr>
          <p:cNvPr id="809" name="文本框 808" descr="{&quot;isTemplate&quot;:true,&quot;type&quot;:&quot;text&quot;}"/>
          <p:cNvSpPr txBox="1"/>
          <p:nvPr/>
        </p:nvSpPr>
        <p:spPr>
          <a:xfrm>
            <a:off x="1019175" y="2457450"/>
            <a:ext cx="4191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目的地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0" name="圆角矩形 809"/>
          <p:cNvSpPr/>
          <p:nvPr/>
        </p:nvSpPr>
        <p:spPr>
          <a:xfrm>
            <a:off x="1847850" y="230505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11" name="图片 8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2476500"/>
            <a:ext cx="142875" cy="142875"/>
          </a:xfrm>
          <a:prstGeom prst="rect">
            <a:avLst/>
          </a:prstGeom>
        </p:spPr>
      </p:pic>
      <p:sp>
        <p:nvSpPr>
          <p:cNvPr id="812" name="文本框 811" descr="{&quot;isTemplate&quot;:true,&quot;type&quot;:&quot;text&quot;}"/>
          <p:cNvSpPr txBox="1"/>
          <p:nvPr/>
        </p:nvSpPr>
        <p:spPr>
          <a:xfrm>
            <a:off x="2257425" y="2466975"/>
            <a:ext cx="1114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不懂地标，容易失真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3" name="圆角矩形 812"/>
          <p:cNvSpPr/>
          <p:nvPr/>
        </p:nvSpPr>
        <p:spPr>
          <a:xfrm>
            <a:off x="7105650" y="230505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14" name="图片 81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2476500"/>
            <a:ext cx="142875" cy="142875"/>
          </a:xfrm>
          <a:prstGeom prst="rect">
            <a:avLst/>
          </a:prstGeom>
        </p:spPr>
      </p:pic>
      <p:sp>
        <p:nvSpPr>
          <p:cNvPr id="815" name="文本框 814" descr="{&quot;isTemplate&quot;:true,&quot;type&quot;:&quot;text&quot;}"/>
          <p:cNvSpPr txBox="1"/>
          <p:nvPr/>
        </p:nvSpPr>
        <p:spPr>
          <a:xfrm>
            <a:off x="7515225" y="2466975"/>
            <a:ext cx="17811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景区级符号包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实景参考图保真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6" name="圆角矩形 815"/>
          <p:cNvSpPr/>
          <p:nvPr/>
        </p:nvSpPr>
        <p:spPr>
          <a:xfrm>
            <a:off x="609600" y="29718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17" name="图片 816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5325" y="3057525"/>
            <a:ext cx="152400" cy="152400"/>
          </a:xfrm>
          <a:prstGeom prst="rect">
            <a:avLst/>
          </a:prstGeom>
        </p:spPr>
      </p:pic>
      <p:sp>
        <p:nvSpPr>
          <p:cNvPr id="818" name="文本框 817" descr="{&quot;isTemplate&quot;:true,&quot;type&quot;:&quot;text&quot;}"/>
          <p:cNvSpPr txBox="1"/>
          <p:nvPr/>
        </p:nvSpPr>
        <p:spPr>
          <a:xfrm>
            <a:off x="1019175" y="30480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叙事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9" name="圆角矩形 818"/>
          <p:cNvSpPr/>
          <p:nvPr/>
        </p:nvSpPr>
        <p:spPr>
          <a:xfrm>
            <a:off x="1847850" y="28956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20" name="图片 81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3067050"/>
            <a:ext cx="142875" cy="142875"/>
          </a:xfrm>
          <a:prstGeom prst="rect">
            <a:avLst/>
          </a:prstGeom>
        </p:spPr>
      </p:pic>
      <p:sp>
        <p:nvSpPr>
          <p:cNvPr id="821" name="文本框 820" descr="{&quot;isTemplate&quot;:true,&quot;type&quot;:&quot;text&quot;}"/>
          <p:cNvSpPr txBox="1"/>
          <p:nvPr/>
        </p:nvSpPr>
        <p:spPr>
          <a:xfrm>
            <a:off x="2257425" y="3057525"/>
            <a:ext cx="12382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自由发挥，质量看运气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2" name="圆角矩形 821"/>
          <p:cNvSpPr/>
          <p:nvPr/>
        </p:nvSpPr>
        <p:spPr>
          <a:xfrm>
            <a:off x="7105650" y="28956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23" name="图片 82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3067050"/>
            <a:ext cx="142875" cy="142875"/>
          </a:xfrm>
          <a:prstGeom prst="rect">
            <a:avLst/>
          </a:prstGeom>
        </p:spPr>
      </p:pic>
      <p:sp>
        <p:nvSpPr>
          <p:cNvPr id="824" name="文本框 823" descr="{&quot;isTemplate&quot;:true,&quot;type&quot;:&quot;text&quot;}"/>
          <p:cNvSpPr txBox="1"/>
          <p:nvPr/>
        </p:nvSpPr>
        <p:spPr>
          <a:xfrm>
            <a:off x="7515225" y="3057525"/>
            <a:ext cx="18573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六种目的地类型对应六种镜头语法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5" name="圆角矩形 824"/>
          <p:cNvSpPr/>
          <p:nvPr/>
        </p:nvSpPr>
        <p:spPr>
          <a:xfrm>
            <a:off x="609600" y="35623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26" name="图片 825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5325" y="3648075"/>
            <a:ext cx="152400" cy="152400"/>
          </a:xfrm>
          <a:prstGeom prst="rect">
            <a:avLst/>
          </a:prstGeom>
        </p:spPr>
      </p:pic>
      <p:sp>
        <p:nvSpPr>
          <p:cNvPr id="827" name="文本框 826" descr="{&quot;isTemplate&quot;:true,&quot;type&quot;:&quot;text&quot;}"/>
          <p:cNvSpPr txBox="1"/>
          <p:nvPr/>
        </p:nvSpPr>
        <p:spPr>
          <a:xfrm>
            <a:off x="1019175" y="363855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过程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8" name="圆角矩形 827"/>
          <p:cNvSpPr/>
          <p:nvPr/>
        </p:nvSpPr>
        <p:spPr>
          <a:xfrm>
            <a:off x="1847850" y="348615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29" name="图片 82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3657600"/>
            <a:ext cx="142875" cy="142875"/>
          </a:xfrm>
          <a:prstGeom prst="rect">
            <a:avLst/>
          </a:prstGeom>
        </p:spPr>
      </p:pic>
      <p:sp>
        <p:nvSpPr>
          <p:cNvPr id="830" name="文本框 829" descr="{&quot;isTemplate&quot;:true,&quot;type&quot;:&quot;text&quot;}"/>
          <p:cNvSpPr txBox="1"/>
          <p:nvPr/>
        </p:nvSpPr>
        <p:spPr>
          <a:xfrm>
            <a:off x="2257425" y="3648075"/>
            <a:ext cx="1114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一键黑盒，不可干预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1" name="圆角矩形 830"/>
          <p:cNvSpPr/>
          <p:nvPr/>
        </p:nvSpPr>
        <p:spPr>
          <a:xfrm>
            <a:off x="7105650" y="348615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32" name="图片 831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3657600"/>
            <a:ext cx="142875" cy="142875"/>
          </a:xfrm>
          <a:prstGeom prst="rect">
            <a:avLst/>
          </a:prstGeom>
        </p:spPr>
      </p:pic>
      <p:sp>
        <p:nvSpPr>
          <p:cNvPr id="833" name="文本框 832" descr="{&quot;isTemplate&quot;:true,&quot;type&quot;:&quot;text&quot;}"/>
          <p:cNvSpPr txBox="1"/>
          <p:nvPr/>
        </p:nvSpPr>
        <p:spPr>
          <a:xfrm>
            <a:off x="7515225" y="3648075"/>
            <a:ext cx="2028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六阶段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人工审核点，可改、可重跑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4" name="圆角矩形 833"/>
          <p:cNvSpPr/>
          <p:nvPr/>
        </p:nvSpPr>
        <p:spPr>
          <a:xfrm>
            <a:off x="609600" y="4152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35" name="图片 83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5325" y="4238625"/>
            <a:ext cx="152400" cy="152400"/>
          </a:xfrm>
          <a:prstGeom prst="rect">
            <a:avLst/>
          </a:prstGeom>
        </p:spPr>
      </p:pic>
      <p:sp>
        <p:nvSpPr>
          <p:cNvPr id="836" name="文本框 835" descr="{&quot;isTemplate&quot;:true,&quot;type&quot;:&quot;text&quot;}"/>
          <p:cNvSpPr txBox="1"/>
          <p:nvPr/>
        </p:nvSpPr>
        <p:spPr>
          <a:xfrm>
            <a:off x="1019175" y="42291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成本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7" name="圆角矩形 836"/>
          <p:cNvSpPr/>
          <p:nvPr/>
        </p:nvSpPr>
        <p:spPr>
          <a:xfrm>
            <a:off x="1847850" y="40767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38" name="图片 83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4248150"/>
            <a:ext cx="142875" cy="142875"/>
          </a:xfrm>
          <a:prstGeom prst="rect">
            <a:avLst/>
          </a:prstGeom>
        </p:spPr>
      </p:pic>
      <p:sp>
        <p:nvSpPr>
          <p:cNvPr id="839" name="文本框 838" descr="{&quot;isTemplate&quot;:true,&quot;type&quot;:&quot;text&quot;}"/>
          <p:cNvSpPr txBox="1"/>
          <p:nvPr/>
        </p:nvSpPr>
        <p:spPr>
          <a:xfrm>
            <a:off x="2257425" y="4238625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按次付费，不可控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0" name="圆角矩形 839"/>
          <p:cNvSpPr/>
          <p:nvPr/>
        </p:nvSpPr>
        <p:spPr>
          <a:xfrm>
            <a:off x="7105650" y="40767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41" name="图片 84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4248150"/>
            <a:ext cx="142875" cy="142875"/>
          </a:xfrm>
          <a:prstGeom prst="rect">
            <a:avLst/>
          </a:prstGeom>
        </p:spPr>
      </p:pic>
      <p:sp>
        <p:nvSpPr>
          <p:cNvPr id="842" name="文本框 841" descr="{&quot;isTemplate&quot;:true,&quot;type&quot;:&quot;text&quot;}"/>
          <p:cNvSpPr txBox="1"/>
          <p:nvPr/>
        </p:nvSpPr>
        <p:spPr>
          <a:xfrm>
            <a:off x="7515225" y="4238625"/>
            <a:ext cx="2409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DGX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为主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API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溢出，整期上限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¥20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3" name="圆角矩形 842"/>
          <p:cNvSpPr/>
          <p:nvPr/>
        </p:nvSpPr>
        <p:spPr>
          <a:xfrm>
            <a:off x="609600" y="5676900"/>
            <a:ext cx="10972800" cy="476250"/>
          </a:xfrm>
          <a:prstGeom prst="roundRect">
            <a:avLst>
              <a:gd name="adj" fmla="val 24000"/>
            </a:avLst>
          </a:prstGeom>
          <a:solidFill>
            <a:srgbClr val="0B1220"/>
          </a:solidFill>
        </p:spPr>
        <p:txBody>
          <a:bodyPr/>
          <a:p/>
        </p:txBody>
      </p:sp>
      <p:pic>
        <p:nvPicPr>
          <p:cNvPr id="844" name="图片 843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8200" y="5829300"/>
            <a:ext cx="171450" cy="171450"/>
          </a:xfrm>
          <a:prstGeom prst="rect">
            <a:avLst/>
          </a:prstGeom>
        </p:spPr>
      </p:pic>
      <p:sp>
        <p:nvSpPr>
          <p:cNvPr id="845" name="文本框 844" descr="{&quot;isTemplate&quot;:true,&quot;type&quot;:&quot;text&quot;}"/>
          <p:cNvSpPr txBox="1"/>
          <p:nvPr/>
        </p:nvSpPr>
        <p:spPr>
          <a:xfrm>
            <a:off x="1143000" y="5838825"/>
            <a:ext cx="320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护城河不在模型，在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角色资产、目的地库和跨期一致性</a:t>
            </a:r>
            <a:endParaRPr lang="zh-CN" sz="1050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6" name="圆角矩形 84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47" name="文本框 84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8" name="文本框 84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9" name="文本框 84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07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50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PIPELINE&lt;/Text&gt;&#10;    &lt;/Box&gt;&#10;    &lt;Text style={{ position: 'absolute', top: '68px', left: '64px', fontSize: '34px', fontWeight: 'bold', color: '#0B1220' }}&gt;&#10;        六阶段生成，&lt;span style={{ color: '#2563EB' }}&gt;三个人工审核点&lt;/span&gt;兜住质量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flexDirection: 'row', gap: '12px' }}&gt;&#10;        {[&#10;            { code: 'Brief', n: '建期', d: '角色 / 目的地\n模板 / 画幅', c: '#64748B', bg: '#F1F5F9' },&#10;            { code: 'S1', n: '脚本生成', d: '24–30 镜 JSON\n含逐镜字幕', c: '#2563EB', bg: '#EFF4FE' },&#10;            { code: 'S2', n: '角色资产', d: '版本快照\n参考图集', c: '#2563EB', bg: '#EFF4FE' },&#10;            { code: 'S3', n: '关键帧', d: '每镜 1–3 候选\n（传统路径）', c: '#F59E0B', bg: '#FEF6E7' },&#10;            { code: 'S4', n: '视频生成', d: '3–5 秒片段\n截取 1 秒', c: '#7C3AED', bg: '#F5F1FE' },&#10;            { code: 'S5', n: '合成', d: '卡拍 / LUT / 字幕\nAI 标识 MP4', c: '#10B981', bg: '#E9F9F2' },&#10;        ].map((s, i) =&gt; (&#10;            &lt;Box key={i} style={{ width: '182px', height: '175px', padding: '14px 15px', background: '#FFFFFF', borderRadius: '12px', border: '1px solid #E6EAF1', boxShadow: '0 2px 12px rgba(15,23,42,0.04)', flexDirection: 'column', gap: '9px' }}&gt;&#10;                &lt;Box style={{ flexDirection: 'row', alignItems: 'center', justifyContent: 'space-between' }}&gt;&#10;                    &lt;Box style={{ padding: '3px 9px', borderRadius: '6px', background: s.bg }}&gt;&#10;                        &lt;Text style={{ fontSize: '11px', fontWeight: 700, color: s.c, letterSpacing: '0.5px' }}&gt;{s.code}&lt;/Text&gt;&#10;                    &lt;/Box&gt;&#10;                    &lt;Text style={{ fontSize: '13px', fontWeight: 'bold', color: '#DBE4F5' }}&gt;0{i + 1}&lt;/Text&gt;&#10;                &lt;/Box&gt;&#10;                &lt;Text style={{ fontSize: '16px', fontWeight: 'bold', color: '#0B1220' }}&gt;{s.n}&lt;/Text&gt;&#10;                &lt;Box style={{ width: '22px', height: '3px', borderRadius: '2px', background: s.c }} /&gt;&#10;                &lt;Text style={{ fontSize: '12px', color: '#5B6B84', lineHeight: 1.55 }}&gt;{s.d}&lt;/Text&gt;&#10;            &lt;/Box&gt;&#10;        ))}&#10;    &lt;/Box&gt;&#10;&#10;    {[252, 446, 640, 834, 1028].map((x, i) =&gt; (&#10;        &lt;Box key={i} style={{ position: 'absolute', top: '225px', left: `${x - 8}px`, width: '16px', height: '16px', borderRadius: '8px', background: '#F6F8FB', border: '1px solid #DBE4F5', justifyContent: 'center', alignItems: 'center' }}&gt;&#10;            &lt;FAIcon name='chevron-right' style={{ fill: '#2563EB', width: '8px', height: '8px' }} /&gt;&#10;        &lt;/Box&gt;&#10;    ))}&#10;&#10;    {[349, 737, 931].map((cx, i) =&gt; (&#10;        &lt;Box key={i} style={{ position: 'absolute', top: '325px', left: `${cx - 1}px`, width: '2px', height: '26px', background: '#C7D7FA' }} /&gt;&#10;    ))}&#10;    &lt;Box style={{ position: 'absolute', top: '351px', left: '64px', right: '64px', height: '2px', background: '#E6EAF1' }} /&gt;&#10;    {[&#10;        { cx: 349, t: '审核 1 · 改脚本' },&#10;        { cx: 737, t: '审核 2 · 挑关键帧' },&#10;        { cx: 931, t: '审核 3 · 挑片段' },&#10;    ].map((b, i) =&gt; (&#10;        &lt;Box key={i} style={{ position: 'absolute', top: '342px', left: `${b.cx - 85}px`, width: '170px', padding: '9px 0', borderRadius: '999px', background: 'linear-gradient(120deg,#1D4ED8 0%,#7C3AED 100%)', justifyContent: 'center', alignItems: 'center', boxShadow: '0 4px 14px rgba(37,99,235,0.28)' }}&gt;&#10;            &lt;Text style={{ fontSize: '12.5px', fontWeight: 700, color: '#FFFFFF' }}&gt;{b.t}&lt;/Text&gt;&#10;        &lt;/Box&gt;&#10;    ))}&#10;&#10;    &lt;Box style={{ position: 'absolute', top: '418px', left: '64px', right: '64px', padding: '22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compass-drafting' style={{ fill: '#93C5FD', width: '21px', height: '21px' }} /&gt;&#10;        &lt;/Box&gt;&#10;        &lt;Box style={{ flex: 1, flexDirection: 'column', gap: '7px' }}&gt;&#10;            &lt;Text style={{ fontSize: '17px', fontWeight: 'bold', color: '#FFFFFF' }}&gt;设计理念&lt;/Text&gt;&#10;            &lt;Text style={{ fontSize: '13.5px', color: 'rgba(255,255,255,0.82)', lineHeight: 1.6 }}&gt;&#10;                不确定性压在便宜的&lt;span style={{ color: '#93C5FD', fontWeight: 600 }}&gt;静帧阶段&lt;/span&gt;，视频环节只让模型「动一下」，剪辑节奏交给合成。&#10;            &lt;/Text&gt;&#10;        &lt;/Box&gt;&#10;    &lt;/Box&gt;&#10;&#10;    &lt;Box style={{ position: 'absolute', top: '556px', left: '64px', right: '64px', flexDirection: 'row', gap: '14px' }}&gt;&#10;        {[&#10;            { k: '6', u: '阶段', d: '建期 → 脚本 → 资产 → 关键帧 → 视频 → 合成' },&#10;            { k: '3', u: '审核点', d: '脚本 / 关键帧 / 片段，全部可改、可重跑' },&#10;            { k: '1', u: '秒一镜', d: '片段全部通过后进入 compose_ready 合成设置' },&#10;        ].map((x, i) =&gt; (&#10;            &lt;Box key={i} style={{ flex: 1, flexDirection: 'row', alignItems: 'center', gap: '14px', padding: '14px 20px', background: '#FFFFFF', borderRadius: '12px', border: '1px solid #E6EAF1' }}&gt;&#10;                &lt;Text style={{ fontSize: '30px', fontWeight: 'bold', color: '#2563EB', lineHeight: 1 }}&gt;{x.k}&lt;/Text&gt;&#10;                &lt;Box style={{ flexDirection: 'column', gap: '4px' }}&gt;&#10;                    &lt;Text style={{ fontSize: '13.5px', fontWeight: 700, color: '#0B1220' }}&gt;{x.u}&lt;/Text&gt;&#10;                    &lt;Text style={{ fontSize: '11.5px', color: '#8A97AB' }}&gt;{x.d}&lt;/Text&gt;&#10;                &lt;/Box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8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矩形 8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852" name="矩形 85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853" name="文本框 852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4" name="文本框 853" descr="{&quot;isTemplate&quot;:true,&quot;type&quot;:&quot;text&quot;}"/>
          <p:cNvSpPr txBox="1"/>
          <p:nvPr/>
        </p:nvSpPr>
        <p:spPr>
          <a:xfrm>
            <a:off x="10906125" y="409575"/>
            <a:ext cx="676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PIPELINE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5" name="文本框 854" descr="{&quot;isTemplate&quot;:true,&quot;type&quot;:&quot;text&quot;}"/>
          <p:cNvSpPr txBox="1"/>
          <p:nvPr/>
        </p:nvSpPr>
        <p:spPr>
          <a:xfrm>
            <a:off x="609600" y="647700"/>
            <a:ext cx="55054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六阶段生成，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三个人工审核点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兜住质量</a:t>
            </a:r>
            <a:endParaRPr lang="zh-CN" sz="255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6" name="圆角矩形 855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857" name="圆角矩形 856"/>
          <p:cNvSpPr/>
          <p:nvPr/>
        </p:nvSpPr>
        <p:spPr>
          <a:xfrm>
            <a:off x="6096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58" name="圆角矩形 857"/>
          <p:cNvSpPr/>
          <p:nvPr/>
        </p:nvSpPr>
        <p:spPr>
          <a:xfrm>
            <a:off x="752475" y="1562100"/>
            <a:ext cx="4476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859" name="文本框 858" descr="{&quot;isTemplate&quot;:true,&quot;type&quot;:&quot;text&quot;}"/>
          <p:cNvSpPr txBox="1"/>
          <p:nvPr/>
        </p:nvSpPr>
        <p:spPr>
          <a:xfrm>
            <a:off x="838200" y="1590675"/>
            <a:ext cx="276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Brief</a:t>
            </a:r>
            <a:endParaRPr lang="en-US" sz="825" b="1" spc="38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0" name="文本框 859" descr="{&quot;isTemplate&quot;:true,&quot;type&quot;:&quot;text&quot;}"/>
          <p:cNvSpPr txBox="1"/>
          <p:nvPr/>
        </p:nvSpPr>
        <p:spPr>
          <a:xfrm>
            <a:off x="20383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1" name="文本框 860" descr="{&quot;isTemplate&quot;:true,&quot;type&quot;:&quot;text&quot;}"/>
          <p:cNvSpPr txBox="1"/>
          <p:nvPr/>
        </p:nvSpPr>
        <p:spPr>
          <a:xfrm>
            <a:off x="7524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2" name="圆角矩形 861"/>
          <p:cNvSpPr/>
          <p:nvPr/>
        </p:nvSpPr>
        <p:spPr>
          <a:xfrm>
            <a:off x="7524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64748B"/>
          </a:solidFill>
        </p:spPr>
        <p:txBody>
          <a:bodyPr/>
          <a:p/>
        </p:txBody>
      </p:sp>
      <p:sp>
        <p:nvSpPr>
          <p:cNvPr id="863" name="文本框 862" descr="{&quot;isTemplate&quot;:true,&quot;type&quot;:&quot;text&quot;}"/>
          <p:cNvSpPr txBox="1"/>
          <p:nvPr/>
        </p:nvSpPr>
        <p:spPr>
          <a:xfrm>
            <a:off x="7524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
模板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画幅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4" name="圆角矩形 863"/>
          <p:cNvSpPr/>
          <p:nvPr/>
        </p:nvSpPr>
        <p:spPr>
          <a:xfrm>
            <a:off x="24574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65" name="圆角矩形 864"/>
          <p:cNvSpPr/>
          <p:nvPr/>
        </p:nvSpPr>
        <p:spPr>
          <a:xfrm>
            <a:off x="26003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866" name="文本框 865" descr="{&quot;isTemplate&quot;:true,&quot;type&quot;:&quot;text&quot;}"/>
          <p:cNvSpPr txBox="1"/>
          <p:nvPr/>
        </p:nvSpPr>
        <p:spPr>
          <a:xfrm>
            <a:off x="26860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S1</a:t>
            </a:r>
            <a:endParaRPr lang="en-US" sz="825" b="1" spc="38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7" name="文本框 866" descr="{&quot;isTemplate&quot;:true,&quot;type&quot;:&quot;text&quot;}"/>
          <p:cNvSpPr txBox="1"/>
          <p:nvPr/>
        </p:nvSpPr>
        <p:spPr>
          <a:xfrm>
            <a:off x="38862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8" name="文本框 867" descr="{&quot;isTemplate&quot;:true,&quot;type&quot;:&quot;text&quot;}"/>
          <p:cNvSpPr txBox="1"/>
          <p:nvPr/>
        </p:nvSpPr>
        <p:spPr>
          <a:xfrm>
            <a:off x="26003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脚本生成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9" name="圆角矩形 868"/>
          <p:cNvSpPr/>
          <p:nvPr/>
        </p:nvSpPr>
        <p:spPr>
          <a:xfrm>
            <a:off x="26003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870" name="文本框 869" descr="{&quot;isTemplate&quot;:true,&quot;type&quot;:&quot;text&quot;}"/>
          <p:cNvSpPr txBox="1"/>
          <p:nvPr/>
        </p:nvSpPr>
        <p:spPr>
          <a:xfrm>
            <a:off x="26003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24–30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JSON
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含逐镜字幕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1" name="圆角矩形 870"/>
          <p:cNvSpPr/>
          <p:nvPr/>
        </p:nvSpPr>
        <p:spPr>
          <a:xfrm>
            <a:off x="43053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72" name="圆角矩形 871"/>
          <p:cNvSpPr/>
          <p:nvPr/>
        </p:nvSpPr>
        <p:spPr>
          <a:xfrm>
            <a:off x="444817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873" name="文本框 872" descr="{&quot;isTemplate&quot;:true,&quot;type&quot;:&quot;text&quot;}"/>
          <p:cNvSpPr txBox="1"/>
          <p:nvPr/>
        </p:nvSpPr>
        <p:spPr>
          <a:xfrm>
            <a:off x="453390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S2</a:t>
            </a:r>
            <a:endParaRPr lang="en-US" sz="825" b="1" spc="38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4" name="文本框 873" descr="{&quot;isTemplate&quot;:true,&quot;type&quot;:&quot;text&quot;}"/>
          <p:cNvSpPr txBox="1"/>
          <p:nvPr/>
        </p:nvSpPr>
        <p:spPr>
          <a:xfrm>
            <a:off x="57340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5" name="文本框 874" descr="{&quot;isTemplate&quot;:true,&quot;type&quot;:&quot;text&quot;}"/>
          <p:cNvSpPr txBox="1"/>
          <p:nvPr/>
        </p:nvSpPr>
        <p:spPr>
          <a:xfrm>
            <a:off x="44481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角色资产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6" name="圆角矩形 875"/>
          <p:cNvSpPr/>
          <p:nvPr/>
        </p:nvSpPr>
        <p:spPr>
          <a:xfrm>
            <a:off x="44481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877" name="文本框 876" descr="{&quot;isTemplate&quot;:true,&quot;type&quot;:&quot;text&quot;}"/>
          <p:cNvSpPr txBox="1"/>
          <p:nvPr/>
        </p:nvSpPr>
        <p:spPr>
          <a:xfrm>
            <a:off x="44481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版本快照
参考图集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8" name="圆角矩形 877"/>
          <p:cNvSpPr/>
          <p:nvPr/>
        </p:nvSpPr>
        <p:spPr>
          <a:xfrm>
            <a:off x="61531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79" name="圆角矩形 878"/>
          <p:cNvSpPr/>
          <p:nvPr/>
        </p:nvSpPr>
        <p:spPr>
          <a:xfrm>
            <a:off x="62960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880" name="文本框 879" descr="{&quot;isTemplate&quot;:true,&quot;type&quot;:&quot;text&quot;}"/>
          <p:cNvSpPr txBox="1"/>
          <p:nvPr/>
        </p:nvSpPr>
        <p:spPr>
          <a:xfrm>
            <a:off x="63817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S3</a:t>
            </a:r>
            <a:endParaRPr lang="en-US" sz="825" b="1" spc="38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1" name="文本框 880" descr="{&quot;isTemplate&quot;:true,&quot;type&quot;:&quot;text&quot;}"/>
          <p:cNvSpPr txBox="1"/>
          <p:nvPr/>
        </p:nvSpPr>
        <p:spPr>
          <a:xfrm>
            <a:off x="75819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2" name="文本框 881" descr="{&quot;isTemplate&quot;:true,&quot;type&quot;:&quot;text&quot;}"/>
          <p:cNvSpPr txBox="1"/>
          <p:nvPr/>
        </p:nvSpPr>
        <p:spPr>
          <a:xfrm>
            <a:off x="62960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3" name="圆角矩形 882"/>
          <p:cNvSpPr/>
          <p:nvPr/>
        </p:nvSpPr>
        <p:spPr>
          <a:xfrm>
            <a:off x="62960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884" name="文本框 883" descr="{&quot;isTemplate&quot;:true,&quot;type&quot;:&quot;text&quot;}"/>
          <p:cNvSpPr txBox="1"/>
          <p:nvPr/>
        </p:nvSpPr>
        <p:spPr>
          <a:xfrm>
            <a:off x="62960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候选
（传统路径）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5" name="圆角矩形 884"/>
          <p:cNvSpPr/>
          <p:nvPr/>
        </p:nvSpPr>
        <p:spPr>
          <a:xfrm>
            <a:off x="80010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86" name="圆角矩形 885"/>
          <p:cNvSpPr/>
          <p:nvPr/>
        </p:nvSpPr>
        <p:spPr>
          <a:xfrm>
            <a:off x="814387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F5F1FE"/>
          </a:solidFill>
        </p:spPr>
        <p:txBody>
          <a:bodyPr/>
          <a:p/>
        </p:txBody>
      </p:sp>
      <p:sp>
        <p:nvSpPr>
          <p:cNvPr id="887" name="文本框 886" descr="{&quot;isTemplate&quot;:true,&quot;type&quot;:&quot;text&quot;}"/>
          <p:cNvSpPr txBox="1"/>
          <p:nvPr/>
        </p:nvSpPr>
        <p:spPr>
          <a:xfrm>
            <a:off x="822960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S4</a:t>
            </a:r>
            <a:endParaRPr lang="en-US" sz="825" b="1" spc="38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8" name="文本框 887" descr="{&quot;isTemplate&quot;:true,&quot;type&quot;:&quot;text&quot;}"/>
          <p:cNvSpPr txBox="1"/>
          <p:nvPr/>
        </p:nvSpPr>
        <p:spPr>
          <a:xfrm>
            <a:off x="94297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9" name="文本框 888" descr="{&quot;isTemplate&quot;:true,&quot;type&quot;:&quot;text&quot;}"/>
          <p:cNvSpPr txBox="1"/>
          <p:nvPr/>
        </p:nvSpPr>
        <p:spPr>
          <a:xfrm>
            <a:off x="81438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0" name="圆角矩形 889"/>
          <p:cNvSpPr/>
          <p:nvPr/>
        </p:nvSpPr>
        <p:spPr>
          <a:xfrm>
            <a:off x="81438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7C3AED"/>
          </a:solidFill>
        </p:spPr>
        <p:txBody>
          <a:bodyPr/>
          <a:p/>
        </p:txBody>
      </p:sp>
      <p:sp>
        <p:nvSpPr>
          <p:cNvPr id="891" name="文本框 890" descr="{&quot;isTemplate&quot;:true,&quot;type&quot;:&quot;text&quot;}"/>
          <p:cNvSpPr txBox="1"/>
          <p:nvPr/>
        </p:nvSpPr>
        <p:spPr>
          <a:xfrm>
            <a:off x="81438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3–5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秒片段
截取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2" name="圆角矩形 891"/>
          <p:cNvSpPr/>
          <p:nvPr/>
        </p:nvSpPr>
        <p:spPr>
          <a:xfrm>
            <a:off x="98488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93" name="圆角矩形 892"/>
          <p:cNvSpPr/>
          <p:nvPr/>
        </p:nvSpPr>
        <p:spPr>
          <a:xfrm>
            <a:off x="99917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9F9F2"/>
          </a:solidFill>
        </p:spPr>
        <p:txBody>
          <a:bodyPr/>
          <a:p/>
        </p:txBody>
      </p:sp>
      <p:sp>
        <p:nvSpPr>
          <p:cNvPr id="894" name="文本框 893" descr="{&quot;isTemplate&quot;:true,&quot;type&quot;:&quot;text&quot;}"/>
          <p:cNvSpPr txBox="1"/>
          <p:nvPr/>
        </p:nvSpPr>
        <p:spPr>
          <a:xfrm>
            <a:off x="100774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S5</a:t>
            </a:r>
            <a:endParaRPr lang="en-US" sz="825" b="1" spc="38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5" name="文本框 894" descr="{&quot;isTemplate&quot;:true,&quot;type&quot;:&quot;text&quot;}"/>
          <p:cNvSpPr txBox="1"/>
          <p:nvPr/>
        </p:nvSpPr>
        <p:spPr>
          <a:xfrm>
            <a:off x="112776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6" name="文本框 895" descr="{&quot;isTemplate&quot;:true,&quot;type&quot;:&quot;text&quot;}"/>
          <p:cNvSpPr txBox="1"/>
          <p:nvPr/>
        </p:nvSpPr>
        <p:spPr>
          <a:xfrm>
            <a:off x="99917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7" name="圆角矩形 896"/>
          <p:cNvSpPr/>
          <p:nvPr/>
        </p:nvSpPr>
        <p:spPr>
          <a:xfrm>
            <a:off x="99917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898" name="文本框 897" descr="{&quot;isTemplate&quot;:true,&quot;type&quot;:&quot;text&quot;}"/>
          <p:cNvSpPr txBox="1"/>
          <p:nvPr/>
        </p:nvSpPr>
        <p:spPr>
          <a:xfrm>
            <a:off x="99917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卡拍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LUT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
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标识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MP4</a:t>
            </a:r>
            <a:endParaRPr lang="en-US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9" name="圆角矩形 898"/>
          <p:cNvSpPr/>
          <p:nvPr/>
        </p:nvSpPr>
        <p:spPr>
          <a:xfrm>
            <a:off x="23241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0" name="图片 89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62200" y="2181225"/>
            <a:ext cx="76200" cy="76200"/>
          </a:xfrm>
          <a:prstGeom prst="rect">
            <a:avLst/>
          </a:prstGeom>
        </p:spPr>
      </p:pic>
      <p:sp>
        <p:nvSpPr>
          <p:cNvPr id="901" name="圆角矩形 900"/>
          <p:cNvSpPr/>
          <p:nvPr/>
        </p:nvSpPr>
        <p:spPr>
          <a:xfrm>
            <a:off x="417195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2" name="图片 90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10050" y="2181225"/>
            <a:ext cx="76200" cy="76200"/>
          </a:xfrm>
          <a:prstGeom prst="rect">
            <a:avLst/>
          </a:prstGeom>
        </p:spPr>
      </p:pic>
      <p:sp>
        <p:nvSpPr>
          <p:cNvPr id="903" name="圆角矩形 902"/>
          <p:cNvSpPr/>
          <p:nvPr/>
        </p:nvSpPr>
        <p:spPr>
          <a:xfrm>
            <a:off x="60198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4" name="图片 90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57900" y="2181225"/>
            <a:ext cx="76200" cy="76200"/>
          </a:xfrm>
          <a:prstGeom prst="rect">
            <a:avLst/>
          </a:prstGeom>
        </p:spPr>
      </p:pic>
      <p:sp>
        <p:nvSpPr>
          <p:cNvPr id="905" name="圆角矩形 904"/>
          <p:cNvSpPr/>
          <p:nvPr/>
        </p:nvSpPr>
        <p:spPr>
          <a:xfrm>
            <a:off x="786765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6" name="图片 90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5750" y="2181225"/>
            <a:ext cx="76200" cy="76200"/>
          </a:xfrm>
          <a:prstGeom prst="rect">
            <a:avLst/>
          </a:prstGeom>
        </p:spPr>
      </p:pic>
      <p:sp>
        <p:nvSpPr>
          <p:cNvPr id="907" name="圆角矩形 906"/>
          <p:cNvSpPr/>
          <p:nvPr/>
        </p:nvSpPr>
        <p:spPr>
          <a:xfrm>
            <a:off x="97155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8" name="图片 90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53600" y="2181225"/>
            <a:ext cx="76200" cy="76200"/>
          </a:xfrm>
          <a:prstGeom prst="rect">
            <a:avLst/>
          </a:prstGeom>
        </p:spPr>
      </p:pic>
      <p:sp>
        <p:nvSpPr>
          <p:cNvPr id="909" name="矩形 908"/>
          <p:cNvSpPr/>
          <p:nvPr/>
        </p:nvSpPr>
        <p:spPr>
          <a:xfrm>
            <a:off x="331470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0" name="矩形 909"/>
          <p:cNvSpPr/>
          <p:nvPr/>
        </p:nvSpPr>
        <p:spPr>
          <a:xfrm>
            <a:off x="701040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1" name="矩形 910"/>
          <p:cNvSpPr/>
          <p:nvPr/>
        </p:nvSpPr>
        <p:spPr>
          <a:xfrm>
            <a:off x="885825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2" name="矩形 911"/>
          <p:cNvSpPr/>
          <p:nvPr/>
        </p:nvSpPr>
        <p:spPr>
          <a:xfrm>
            <a:off x="609600" y="3343275"/>
            <a:ext cx="10972800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913" name="圆角矩形 912"/>
          <p:cNvSpPr/>
          <p:nvPr/>
        </p:nvSpPr>
        <p:spPr>
          <a:xfrm>
            <a:off x="251460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4" name="文本框 913" descr="{&quot;isTemplate&quot;:true,&quot;type&quot;:&quot;text&quot;}"/>
          <p:cNvSpPr txBox="1"/>
          <p:nvPr/>
        </p:nvSpPr>
        <p:spPr>
          <a:xfrm>
            <a:off x="2914650" y="3343275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改脚本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5" name="圆角矩形 914"/>
          <p:cNvSpPr/>
          <p:nvPr/>
        </p:nvSpPr>
        <p:spPr>
          <a:xfrm>
            <a:off x="621030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6" name="文本框 915" descr="{&quot;isTemplate&quot;:true,&quot;type&quot;:&quot;text&quot;}"/>
          <p:cNvSpPr txBox="1"/>
          <p:nvPr/>
        </p:nvSpPr>
        <p:spPr>
          <a:xfrm>
            <a:off x="6543675" y="3343275"/>
            <a:ext cx="952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挑关键帧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7" name="圆角矩形 916"/>
          <p:cNvSpPr/>
          <p:nvPr/>
        </p:nvSpPr>
        <p:spPr>
          <a:xfrm>
            <a:off x="805815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8" name="文本框 917" descr="{&quot;isTemplate&quot;:true,&quot;type&quot;:&quot;text&quot;}"/>
          <p:cNvSpPr txBox="1"/>
          <p:nvPr/>
        </p:nvSpPr>
        <p:spPr>
          <a:xfrm>
            <a:off x="8458200" y="3343275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挑片段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9" name="圆角矩形 918"/>
          <p:cNvSpPr/>
          <p:nvPr/>
        </p:nvSpPr>
        <p:spPr>
          <a:xfrm>
            <a:off x="609600" y="3981450"/>
            <a:ext cx="10972800" cy="933450"/>
          </a:xfrm>
          <a:prstGeom prst="roundRect">
            <a:avLst>
              <a:gd name="adj" fmla="val 14286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920" name="圆角矩形 919"/>
          <p:cNvSpPr/>
          <p:nvPr/>
        </p:nvSpPr>
        <p:spPr>
          <a:xfrm>
            <a:off x="876300" y="4229100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921" name="图片 92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0125" y="4352925"/>
            <a:ext cx="200025" cy="200025"/>
          </a:xfrm>
          <a:prstGeom prst="rect">
            <a:avLst/>
          </a:prstGeom>
        </p:spPr>
      </p:pic>
      <p:sp>
        <p:nvSpPr>
          <p:cNvPr id="922" name="文本框 921" descr="{&quot;isTemplate&quot;:true,&quot;type&quot;:&quot;text&quot;}"/>
          <p:cNvSpPr txBox="1"/>
          <p:nvPr/>
        </p:nvSpPr>
        <p:spPr>
          <a:xfrm>
            <a:off x="1543050" y="419100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设计理念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3" name="文本框 922" descr="{&quot;isTemplate&quot;:true,&quot;type&quot;:&quot;text&quot;}"/>
          <p:cNvSpPr txBox="1"/>
          <p:nvPr/>
        </p:nvSpPr>
        <p:spPr>
          <a:xfrm>
            <a:off x="1543050" y="4457700"/>
            <a:ext cx="97726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不确定性压在便宜的</a:t>
            </a:r>
            <a:r>
              <a:rPr lang="zh-CN" sz="101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静帧阶段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，视频环节只让模型「动一下」，剪辑节奏交给合成。</a:t>
            </a:r>
            <a:endParaRPr lang="zh-CN" sz="101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4" name="圆角矩形 923"/>
          <p:cNvSpPr/>
          <p:nvPr/>
        </p:nvSpPr>
        <p:spPr>
          <a:xfrm>
            <a:off x="609600" y="5295900"/>
            <a:ext cx="35718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25" name="文本框 924" descr="{&quot;isTemplate&quot;:true,&quot;type&quot;:&quot;text&quot;}"/>
          <p:cNvSpPr txBox="1"/>
          <p:nvPr/>
        </p:nvSpPr>
        <p:spPr>
          <a:xfrm>
            <a:off x="800100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6" name="文本框 925" descr="{&quot;isTemplate&quot;:true,&quot;type&quot;:&quot;text&quot;}"/>
          <p:cNvSpPr txBox="1"/>
          <p:nvPr/>
        </p:nvSpPr>
        <p:spPr>
          <a:xfrm>
            <a:off x="1114425" y="5438775"/>
            <a:ext cx="23050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阶段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7" name="文本框 926" descr="{&quot;isTemplate&quot;:true,&quot;type&quot;:&quot;text&quot;}"/>
          <p:cNvSpPr txBox="1"/>
          <p:nvPr/>
        </p:nvSpPr>
        <p:spPr>
          <a:xfrm>
            <a:off x="1114425" y="5638800"/>
            <a:ext cx="23050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资产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8" name="圆角矩形 927"/>
          <p:cNvSpPr/>
          <p:nvPr/>
        </p:nvSpPr>
        <p:spPr>
          <a:xfrm>
            <a:off x="4314825" y="5295900"/>
            <a:ext cx="356235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29" name="文本框 928" descr="{&quot;isTemplate&quot;:true,&quot;type&quot;:&quot;text&quot;}"/>
          <p:cNvSpPr txBox="1"/>
          <p:nvPr/>
        </p:nvSpPr>
        <p:spPr>
          <a:xfrm>
            <a:off x="4505325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0" name="文本框 929" descr="{&quot;isTemplate&quot;:true,&quot;type&quot;:&quot;text&quot;}"/>
          <p:cNvSpPr txBox="1"/>
          <p:nvPr/>
        </p:nvSpPr>
        <p:spPr>
          <a:xfrm>
            <a:off x="4819650" y="5438775"/>
            <a:ext cx="1981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审核点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1" name="文本框 930" descr="{&quot;isTemplate&quot;:true,&quot;type&quot;:&quot;text&quot;}"/>
          <p:cNvSpPr txBox="1"/>
          <p:nvPr/>
        </p:nvSpPr>
        <p:spPr>
          <a:xfrm>
            <a:off x="4819650" y="5638800"/>
            <a:ext cx="1981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片段，全部可改、可重跑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2" name="圆角矩形 931"/>
          <p:cNvSpPr/>
          <p:nvPr/>
        </p:nvSpPr>
        <p:spPr>
          <a:xfrm>
            <a:off x="8010525" y="5295900"/>
            <a:ext cx="35718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33" name="文本框 932" descr="{&quot;isTemplate&quot;:true,&quot;type&quot;:&quot;text&quot;}"/>
          <p:cNvSpPr txBox="1"/>
          <p:nvPr/>
        </p:nvSpPr>
        <p:spPr>
          <a:xfrm>
            <a:off x="8201025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4" name="文本框 933" descr="{&quot;isTemplate&quot;:true,&quot;type&quot;:&quot;text&quot;}"/>
          <p:cNvSpPr txBox="1"/>
          <p:nvPr/>
        </p:nvSpPr>
        <p:spPr>
          <a:xfrm>
            <a:off x="8515350" y="5438775"/>
            <a:ext cx="23145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5" name="文本框 934" descr="{&quot;isTemplate&quot;:true,&quot;type&quot;:&quot;text&quot;}"/>
          <p:cNvSpPr txBox="1"/>
          <p:nvPr/>
        </p:nvSpPr>
        <p:spPr>
          <a:xfrm>
            <a:off x="8515350" y="5638800"/>
            <a:ext cx="23145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片段全部通过后进入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compose_ready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6" name="圆角矩形 93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937" name="文本框 93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8" name="文本框 93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9" name="文本框 93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08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40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TWO PATHS&lt;/Text&gt;&#10;    &lt;/Box&gt;&#10;    &lt;Text style={{ position: 'absolute', top: '68px', left: '64px', fontSize: '34px', fontWeight: 'bold', color: '#0B1220' }}&gt;&#10;        默认&lt;span style={{ color: '#2563EB' }}&gt;直出视频&lt;/span&gt;，需要精修再走关键帧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24px' }}&gt;&#10;        {[&#10;            {&#10;                tag: '推荐', title: '直出视频（新项目默认）', code: 'video_source: references',&#10;                color: '#2563EB', bg: '#EFF4FE', bd: '#C7D7FA',&#10;                flow: ['脚本审核', '素材检查', '视频生成', '片段审核'],&#10;                bullets: [&#10;                    '角色第一张参考图 + 地标第一张实景图，按序送 MiniMax H3 双参考图生视频',&#10;                    '跳过图片候选与关键帧审核，不产生图片积分',&#10;                    '生成 3–5 秒素材，用户截取严格 1 秒',&#10;                ],&#10;                foot: '路径最短 · 成本最低 · 适合批量出片',&#10;            },&#10;            {&#10;                tag: '精修', title: '关键帧（传统路径）', code: 'video_source: keyframe',&#10;                color: '#F59E0B', bg: '#FEF6E7', bd: '#F5DFAE',&#10;                flow: ['脚本审核', '关键帧候选', '挑图', '视频', '片段审核'],&#10;                bullets: [&#10;                    '每镜 1–3 张候选（Qwen-Image 2.1，角色 / 地标双参考）',&#10;                    '人工逐镜挑图，可改 prompt 后重生成',&#10;                    '选定的关键帧作为首帧图生视频（MiniMax H3）',&#10;                ],&#10;                foot: '逐镜可控 · 画面可精修 · 适合重点一期',&#10;            },&#10;        ].map((c, i) =&gt; (&#10;            &lt;Box key={i} style={{ flex: 1, padding: '24px 26px', background: '#FFFFFF', borderRadius: '16px', border: '1px solid #E6EAF1', boxShadow: '0 4px 18px rgba(15,23,42,0.05)', flexDirection: 'column', gap: '16px' }}&gt;&#10;                &lt;Box style={{ flexDirection: 'row', alignItems: 'center', justifyContent: 'space-between' }}&gt;&#10;                    &lt;Box style={{ flexDirection: 'row', alignItems: 'center', gap: '10px' }}&gt;&#10;                        &lt;Box style={{ padding: '4px 12px', borderRadius: '999px', background: c.bg, border: `1px solid ${c.bd}` }}&gt;&#10;                            &lt;Text style={{ fontSize: '11.5px', fontWeight: 700, color: c.color, letterSpacing: '1px' }}&gt;{c.tag}&lt;/Text&gt;&#10;                        &lt;/Box&gt;&#10;                        &lt;Text style={{ fontSize: '19px', fontWeight: 'bold', color: '#0B1220' }}&gt;{c.title}&lt;/Text&gt;&#10;                    &lt;/Box&gt;&#10;                &lt;/Box&gt;&#10;                &lt;Box style={{ flexDirection: 'row', alignItems: 'center', gap: '8px' }}&gt;&#10;                    &lt;Box style={{ padding: '4px 10px', borderRadius: '6px', background: '#0B1220' }}&gt;&#10;                        &lt;Text style={{ fontSize: '11px', fontWeight: 600, color: '#93C5FD', letterSpacing: '0.5px' }}&gt;{c.code}&lt;/Text&gt;&#10;                    &lt;/Box&gt;&#10;                &lt;/Box&gt;&#10;                &lt;Box style={{ flexDirection: 'row', alignItems: 'center', gap: '6px', flexWrap: 'wrap' }}&gt;&#10;                    {c.flow.map((f, j) =&gt; (&#10;                        &lt;Box key={j} style={{ flexDirection: 'row', alignItems: 'center', gap: '6px' }}&gt;&#10;                            &lt;Box style={{ padding: '6px 12px', borderRadius: '8px', background: c.bg }}&gt;&#10;                                &lt;Text style={{ fontSize: '12px', fontWeight: 600, color: c.color }}&gt;{f}&lt;/Text&gt;&#10;                            &lt;/Box&gt;&#10;                            {j &lt; c.flow.length - 1 &amp;&amp; (&#10;                                &lt;FAIcon name='chevron-right' style={{ fill: '#94A3B8', width: '10px', height: '10px' }} /&gt;&#10;                            )}&#10;                        &lt;/Box&gt;&#10;                    ))}&#10;                &lt;/Box&gt;&#10;                &lt;Box style={{ width: '100%', height: '1px', background: '#EEF2F8' }} /&gt;&#10;                {c.bullets.map((b, j) =&gt; (&#10;                    &lt;Box key={j} style={{ flexDirection: 'row', alignItems: 'flex-start', gap: '10px' }}&gt;&#10;                        &lt;Box style={{ width: '20px', height: '20px', borderRadius: '6px', background: c.bg, justifyContent: 'center', alignItems: 'center', marginTop: '1px' }}&gt;&#10;                            &lt;Text style={{ fontSize: '11px', fontWeight: 700, color: c.color }}&gt;{j + 1}&lt;/Text&gt;&#10;                        &lt;/Box&gt;&#10;                        &lt;Text style={{ flex: 1, fontSize: '13px', color: '#42536B', lineHeight: 1.6 }}&gt;{b}&lt;/Text&gt;&#10;                    &lt;/Box&gt;&#10;                ))}&#10;                &lt;Box style={{ flexDirection: 'row', alignItems: 'center', gap: '8px', padding: '10px 14px', borderRadius: '9px', background: '#F6F8FB' }}&gt;&#10;                    &lt;FAIcon name={i === 0 ? 'bolt' : 'crosshairs'} style={{ fill: c.color, width: '13px', height: '13px' }} /&gt;&#10;                    &lt;Text style={{ fontSize: '12px', fontWeight: 600, color: '#5B6B84' }}&gt;{c.foot}&lt;/Text&gt;&#10;                &lt;/Box&gt;&#10;            &lt;/Box&gt;&#10;        ))}&#10;    &lt;/Box&gt;&#10;&#10;    &lt;Box style={{ position: 'absolute', top: '622px', left: '64px', right: '64px', flexDirection: 'row', alignItems: 'center', gap: '10px', padding: '13px 20px', borderRadius: '11px', background: '#FFFFFF', border: '1px solid #E6EAF1' }}&gt;&#10;        &lt;FAIcon name='clock-rotate-left' style={{ fill: '#8A97AB', width: '14px', height: '14px' }} /&gt;&#10;        &lt;Text style={{ fontSize: '12.5px', color: '#5B6B84' }}&gt;旧项目按原流程运行、不自动转换；旧逐镜项目可显式迁移为「新版剪辑」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9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矩形 94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942" name="矩形 94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943" name="文本框 942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4" name="文本框 943" descr="{&quot;isTemplate&quot;:true,&quot;type&quot;:&quot;text&quot;}"/>
          <p:cNvSpPr txBox="1"/>
          <p:nvPr/>
        </p:nvSpPr>
        <p:spPr>
          <a:xfrm>
            <a:off x="10696575" y="409575"/>
            <a:ext cx="8858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TWO PATHS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5" name="文本框 944" descr="{&quot;isTemplate&quot;:true,&quot;type&quot;:&quot;text&quot;}"/>
          <p:cNvSpPr txBox="1"/>
          <p:nvPr/>
        </p:nvSpPr>
        <p:spPr>
          <a:xfrm>
            <a:off x="609600" y="647700"/>
            <a:ext cx="51816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默认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直出视频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，需要精修再走关键帧</a:t>
            </a:r>
            <a:endParaRPr lang="zh-CN" sz="255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6" name="圆角矩形 945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947" name="圆角矩形 946"/>
          <p:cNvSpPr/>
          <p:nvPr/>
        </p:nvSpPr>
        <p:spPr>
          <a:xfrm>
            <a:off x="609600" y="1428750"/>
            <a:ext cx="5372100" cy="3267075"/>
          </a:xfrm>
          <a:prstGeom prst="roundRect">
            <a:avLst>
              <a:gd name="adj" fmla="val 46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7145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48" name="圆角矩形 947"/>
          <p:cNvSpPr/>
          <p:nvPr/>
        </p:nvSpPr>
        <p:spPr>
          <a:xfrm>
            <a:off x="857250" y="1666875"/>
            <a:ext cx="466725" cy="209550"/>
          </a:xfrm>
          <a:prstGeom prst="roundRect">
            <a:avLst>
              <a:gd name="adj" fmla="val 4540909"/>
            </a:avLst>
          </a:prstGeom>
          <a:solidFill>
            <a:srgbClr val="EFF4FE"/>
          </a:soli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sp>
        <p:nvSpPr>
          <p:cNvPr id="949" name="文本框 948" descr="{&quot;isTemplate&quot;:true,&quot;type&quot;:&quot;text&quot;}"/>
          <p:cNvSpPr txBox="1"/>
          <p:nvPr/>
        </p:nvSpPr>
        <p:spPr>
          <a:xfrm>
            <a:off x="971550" y="1704975"/>
            <a:ext cx="238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865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0" name="文本框 949" descr="{&quot;isTemplate&quot;:true,&quot;type&quot;:&quot;text&quot;}"/>
          <p:cNvSpPr txBox="1"/>
          <p:nvPr/>
        </p:nvSpPr>
        <p:spPr>
          <a:xfrm>
            <a:off x="1419225" y="1657350"/>
            <a:ext cx="19907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直出视频（新项目默认）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1" name="圆角矩形 950"/>
          <p:cNvSpPr/>
          <p:nvPr/>
        </p:nvSpPr>
        <p:spPr>
          <a:xfrm>
            <a:off x="857250" y="2028825"/>
            <a:ext cx="1609725" cy="209550"/>
          </a:xfrm>
          <a:prstGeom prst="roundRect">
            <a:avLst>
              <a:gd name="adj" fmla="val 27273"/>
            </a:avLst>
          </a:prstGeom>
          <a:solidFill>
            <a:srgbClr val="0B1220"/>
          </a:solidFill>
        </p:spPr>
        <p:txBody>
          <a:bodyPr/>
          <a:p/>
        </p:txBody>
      </p:sp>
      <p:sp>
        <p:nvSpPr>
          <p:cNvPr id="952" name="文本框 951" descr="{&quot;isTemplate&quot;:true,&quot;type&quot;:&quot;text&quot;}"/>
          <p:cNvSpPr txBox="1"/>
          <p:nvPr/>
        </p:nvSpPr>
        <p:spPr>
          <a:xfrm>
            <a:off x="952500" y="2066925"/>
            <a:ext cx="1419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video_source: references</a:t>
            </a:r>
            <a:endParaRPr lang="en-US" sz="825" b="1" spc="38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3" name="圆角矩形 952"/>
          <p:cNvSpPr/>
          <p:nvPr/>
        </p:nvSpPr>
        <p:spPr>
          <a:xfrm>
            <a:off x="8572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54" name="文本框 953" descr="{&quot;isTemplate&quot;:true,&quot;type&quot;:&quot;text&quot;}"/>
          <p:cNvSpPr txBox="1"/>
          <p:nvPr/>
        </p:nvSpPr>
        <p:spPr>
          <a:xfrm>
            <a:off x="9715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脚本审核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55" name="图片 95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0200" y="2476500"/>
            <a:ext cx="95250" cy="95250"/>
          </a:xfrm>
          <a:prstGeom prst="rect">
            <a:avLst/>
          </a:prstGeom>
        </p:spPr>
      </p:pic>
      <p:sp>
        <p:nvSpPr>
          <p:cNvPr id="956" name="圆角矩形 955"/>
          <p:cNvSpPr/>
          <p:nvPr/>
        </p:nvSpPr>
        <p:spPr>
          <a:xfrm>
            <a:off x="175260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57" name="文本框 956" descr="{&quot;isTemplate&quot;:true,&quot;type&quot;:&quot;text&quot;}"/>
          <p:cNvSpPr txBox="1"/>
          <p:nvPr/>
        </p:nvSpPr>
        <p:spPr>
          <a:xfrm>
            <a:off x="186690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素材检查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58" name="图片 95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95550" y="2476500"/>
            <a:ext cx="95250" cy="95250"/>
          </a:xfrm>
          <a:prstGeom prst="rect">
            <a:avLst/>
          </a:prstGeom>
        </p:spPr>
      </p:pic>
      <p:sp>
        <p:nvSpPr>
          <p:cNvPr id="959" name="圆角矩形 958"/>
          <p:cNvSpPr/>
          <p:nvPr/>
        </p:nvSpPr>
        <p:spPr>
          <a:xfrm>
            <a:off x="26479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0" name="文本框 959" descr="{&quot;isTemplate&quot;:true,&quot;type&quot;:&quot;text&quot;}"/>
          <p:cNvSpPr txBox="1"/>
          <p:nvPr/>
        </p:nvSpPr>
        <p:spPr>
          <a:xfrm>
            <a:off x="27622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61" name="图片 96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90900" y="2476500"/>
            <a:ext cx="95250" cy="95250"/>
          </a:xfrm>
          <a:prstGeom prst="rect">
            <a:avLst/>
          </a:prstGeom>
        </p:spPr>
      </p:pic>
      <p:sp>
        <p:nvSpPr>
          <p:cNvPr id="962" name="圆角矩形 961"/>
          <p:cNvSpPr/>
          <p:nvPr/>
        </p:nvSpPr>
        <p:spPr>
          <a:xfrm>
            <a:off x="354330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3" name="文本框 962" descr="{&quot;isTemplate&quot;:true,&quot;type&quot;:&quot;text&quot;}"/>
          <p:cNvSpPr txBox="1"/>
          <p:nvPr/>
        </p:nvSpPr>
        <p:spPr>
          <a:xfrm>
            <a:off x="365760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片段审核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4" name="矩形 963"/>
          <p:cNvSpPr/>
          <p:nvPr/>
        </p:nvSpPr>
        <p:spPr>
          <a:xfrm>
            <a:off x="857250" y="2800350"/>
            <a:ext cx="4876800" cy="9525"/>
          </a:xfrm>
          <a:prstGeom prst="rect">
            <a:avLst/>
          </a:prstGeom>
          <a:solidFill>
            <a:srgbClr val="EEF2F8"/>
          </a:solidFill>
        </p:spPr>
        <p:txBody>
          <a:bodyPr/>
          <a:p/>
        </p:txBody>
      </p:sp>
      <p:sp>
        <p:nvSpPr>
          <p:cNvPr id="965" name="圆角矩形 964"/>
          <p:cNvSpPr/>
          <p:nvPr/>
        </p:nvSpPr>
        <p:spPr>
          <a:xfrm>
            <a:off x="857250" y="297180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6" name="文本框 965" descr="{&quot;isTemplate&quot;:true,&quot;type&quot;:&quot;text&quot;}"/>
          <p:cNvSpPr txBox="1"/>
          <p:nvPr/>
        </p:nvSpPr>
        <p:spPr>
          <a:xfrm>
            <a:off x="923925" y="300037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7" name="文本框 966" descr="{&quot;isTemplate&quot;:true,&quot;type&quot;:&quot;text&quot;}"/>
          <p:cNvSpPr txBox="1"/>
          <p:nvPr/>
        </p:nvSpPr>
        <p:spPr>
          <a:xfrm>
            <a:off x="1143000" y="296227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角色第一张参考图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地标第一张实景图，按序送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MiniMax H3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双参考图生视频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8" name="圆角矩形 967"/>
          <p:cNvSpPr/>
          <p:nvPr/>
        </p:nvSpPr>
        <p:spPr>
          <a:xfrm>
            <a:off x="857250" y="336232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9" name="文本框 968" descr="{&quot;isTemplate&quot;:true,&quot;type&quot;:&quot;text&quot;}"/>
          <p:cNvSpPr txBox="1"/>
          <p:nvPr/>
        </p:nvSpPr>
        <p:spPr>
          <a:xfrm>
            <a:off x="923925" y="3390900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0" name="文本框 969" descr="{&quot;isTemplate&quot;:true,&quot;type&quot;:&quot;text&quot;}"/>
          <p:cNvSpPr txBox="1"/>
          <p:nvPr/>
        </p:nvSpPr>
        <p:spPr>
          <a:xfrm>
            <a:off x="1143000" y="3352800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跳过图片候选与关键帧审核，不产生图片积分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1" name="圆角矩形 970"/>
          <p:cNvSpPr/>
          <p:nvPr/>
        </p:nvSpPr>
        <p:spPr>
          <a:xfrm>
            <a:off x="857250" y="375285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72" name="文本框 971" descr="{&quot;isTemplate&quot;:true,&quot;type&quot;:&quot;text&quot;}"/>
          <p:cNvSpPr txBox="1"/>
          <p:nvPr/>
        </p:nvSpPr>
        <p:spPr>
          <a:xfrm>
            <a:off x="923925" y="378142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3" name="文本框 972" descr="{&quot;isTemplate&quot;:true,&quot;type&quot;:&quot;text&quot;}"/>
          <p:cNvSpPr txBox="1"/>
          <p:nvPr/>
        </p:nvSpPr>
        <p:spPr>
          <a:xfrm>
            <a:off x="1143000" y="374332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生成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3–5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秒素材，用户截取严格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4" name="圆角矩形 973"/>
          <p:cNvSpPr/>
          <p:nvPr/>
        </p:nvSpPr>
        <p:spPr>
          <a:xfrm>
            <a:off x="857250" y="4133850"/>
            <a:ext cx="4876800" cy="333375"/>
          </a:xfrm>
          <a:prstGeom prst="roundRect">
            <a:avLst>
              <a:gd name="adj" fmla="val 25714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975" name="图片 97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0600" y="4238625"/>
            <a:ext cx="123825" cy="123825"/>
          </a:xfrm>
          <a:prstGeom prst="rect">
            <a:avLst/>
          </a:prstGeom>
        </p:spPr>
      </p:pic>
      <p:sp>
        <p:nvSpPr>
          <p:cNvPr id="976" name="文本框 975" descr="{&quot;isTemplate&quot;:true,&quot;type&quot;:&quot;text&quot;}"/>
          <p:cNvSpPr txBox="1"/>
          <p:nvPr/>
        </p:nvSpPr>
        <p:spPr>
          <a:xfrm>
            <a:off x="1190625" y="4229100"/>
            <a:ext cx="18383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路径最短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成本最低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适合批量出片</a:t>
            </a:r>
            <a:endParaRPr lang="zh-CN" sz="900" b="1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7" name="圆角矩形 976"/>
          <p:cNvSpPr/>
          <p:nvPr/>
        </p:nvSpPr>
        <p:spPr>
          <a:xfrm>
            <a:off x="6210300" y="1428750"/>
            <a:ext cx="5372100" cy="3267075"/>
          </a:xfrm>
          <a:prstGeom prst="roundRect">
            <a:avLst>
              <a:gd name="adj" fmla="val 46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7145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78" name="圆角矩形 977"/>
          <p:cNvSpPr/>
          <p:nvPr/>
        </p:nvSpPr>
        <p:spPr>
          <a:xfrm>
            <a:off x="6457950" y="1666875"/>
            <a:ext cx="466725" cy="209550"/>
          </a:xfrm>
          <a:prstGeom prst="roundRect">
            <a:avLst>
              <a:gd name="adj" fmla="val 4540909"/>
            </a:avLst>
          </a:prstGeom>
          <a:solidFill>
            <a:srgbClr val="FEF6E7"/>
          </a:solidFill>
          <a:ln w="12700">
            <a:solidFill>
              <a:srgbClr val="F5DFAE"/>
            </a:solidFill>
            <a:prstDash val="solid"/>
          </a:ln>
        </p:spPr>
        <p:txBody>
          <a:bodyPr/>
          <a:p/>
        </p:txBody>
      </p:sp>
      <p:sp>
        <p:nvSpPr>
          <p:cNvPr id="979" name="文本框 978" descr="{&quot;isTemplate&quot;:true,&quot;type&quot;:&quot;text&quot;}"/>
          <p:cNvSpPr txBox="1"/>
          <p:nvPr/>
        </p:nvSpPr>
        <p:spPr>
          <a:xfrm>
            <a:off x="6572250" y="1704975"/>
            <a:ext cx="238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 spc="75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精修</a:t>
            </a:r>
            <a:endParaRPr lang="zh-CN" sz="865" b="1" spc="75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0" name="文本框 979" descr="{&quot;isTemplate&quot;:true,&quot;type&quot;:&quot;text&quot;}"/>
          <p:cNvSpPr txBox="1"/>
          <p:nvPr/>
        </p:nvSpPr>
        <p:spPr>
          <a:xfrm>
            <a:off x="7019925" y="1657350"/>
            <a:ext cx="162877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关键帧（传统路径）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1" name="圆角矩形 980"/>
          <p:cNvSpPr/>
          <p:nvPr/>
        </p:nvSpPr>
        <p:spPr>
          <a:xfrm>
            <a:off x="6457950" y="2028825"/>
            <a:ext cx="1543050" cy="209550"/>
          </a:xfrm>
          <a:prstGeom prst="roundRect">
            <a:avLst>
              <a:gd name="adj" fmla="val 27273"/>
            </a:avLst>
          </a:prstGeom>
          <a:solidFill>
            <a:srgbClr val="0B1220"/>
          </a:solidFill>
        </p:spPr>
        <p:txBody>
          <a:bodyPr/>
          <a:p/>
        </p:txBody>
      </p:sp>
      <p:sp>
        <p:nvSpPr>
          <p:cNvPr id="982" name="文本框 981" descr="{&quot;isTemplate&quot;:true,&quot;type&quot;:&quot;text&quot;}"/>
          <p:cNvSpPr txBox="1"/>
          <p:nvPr/>
        </p:nvSpPr>
        <p:spPr>
          <a:xfrm>
            <a:off x="6553200" y="2066925"/>
            <a:ext cx="13525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video_source: keyframe</a:t>
            </a:r>
            <a:endParaRPr lang="en-US" sz="825" b="1" spc="38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3" name="圆角矩形 982"/>
          <p:cNvSpPr/>
          <p:nvPr/>
        </p:nvSpPr>
        <p:spPr>
          <a:xfrm>
            <a:off x="64579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84" name="文本框 983" descr="{&quot;isTemplate&quot;:true,&quot;type&quot;:&quot;text&quot;}"/>
          <p:cNvSpPr txBox="1"/>
          <p:nvPr/>
        </p:nvSpPr>
        <p:spPr>
          <a:xfrm>
            <a:off x="65722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脚本审核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85" name="图片 98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00900" y="2476500"/>
            <a:ext cx="95250" cy="95250"/>
          </a:xfrm>
          <a:prstGeom prst="rect">
            <a:avLst/>
          </a:prstGeom>
        </p:spPr>
      </p:pic>
      <p:sp>
        <p:nvSpPr>
          <p:cNvPr id="986" name="圆角矩形 985"/>
          <p:cNvSpPr/>
          <p:nvPr/>
        </p:nvSpPr>
        <p:spPr>
          <a:xfrm>
            <a:off x="7353300" y="2390775"/>
            <a:ext cx="8001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87" name="文本框 986" descr="{&quot;isTemplate&quot;:true,&quot;type&quot;:&quot;text&quot;}"/>
          <p:cNvSpPr txBox="1"/>
          <p:nvPr/>
        </p:nvSpPr>
        <p:spPr>
          <a:xfrm>
            <a:off x="7467600" y="244792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关键帧候选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88" name="图片 98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0550" y="2476500"/>
            <a:ext cx="95250" cy="95250"/>
          </a:xfrm>
          <a:prstGeom prst="rect">
            <a:avLst/>
          </a:prstGeom>
        </p:spPr>
      </p:pic>
      <p:sp>
        <p:nvSpPr>
          <p:cNvPr id="989" name="圆角矩形 988"/>
          <p:cNvSpPr/>
          <p:nvPr/>
        </p:nvSpPr>
        <p:spPr>
          <a:xfrm>
            <a:off x="8362950" y="2390775"/>
            <a:ext cx="4572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0" name="文本框 989" descr="{&quot;isTemplate&quot;:true,&quot;type&quot;:&quot;text&quot;}"/>
          <p:cNvSpPr txBox="1"/>
          <p:nvPr/>
        </p:nvSpPr>
        <p:spPr>
          <a:xfrm>
            <a:off x="8477250" y="24479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挑图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91" name="图片 9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77300" y="2476500"/>
            <a:ext cx="95250" cy="95250"/>
          </a:xfrm>
          <a:prstGeom prst="rect">
            <a:avLst/>
          </a:prstGeom>
        </p:spPr>
      </p:pic>
      <p:sp>
        <p:nvSpPr>
          <p:cNvPr id="992" name="圆角矩形 991"/>
          <p:cNvSpPr/>
          <p:nvPr/>
        </p:nvSpPr>
        <p:spPr>
          <a:xfrm>
            <a:off x="9029700" y="2390775"/>
            <a:ext cx="4572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3" name="文本框 992" descr="{&quot;isTemplate&quot;:true,&quot;type&quot;:&quot;text&quot;}"/>
          <p:cNvSpPr txBox="1"/>
          <p:nvPr/>
        </p:nvSpPr>
        <p:spPr>
          <a:xfrm>
            <a:off x="9144000" y="24479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94" name="图片 99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44050" y="2476500"/>
            <a:ext cx="95250" cy="95250"/>
          </a:xfrm>
          <a:prstGeom prst="rect">
            <a:avLst/>
          </a:prstGeom>
        </p:spPr>
      </p:pic>
      <p:sp>
        <p:nvSpPr>
          <p:cNvPr id="995" name="圆角矩形 994"/>
          <p:cNvSpPr/>
          <p:nvPr/>
        </p:nvSpPr>
        <p:spPr>
          <a:xfrm>
            <a:off x="96964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6" name="文本框 995" descr="{&quot;isTemplate&quot;:true,&quot;type&quot;:&quot;text&quot;}"/>
          <p:cNvSpPr txBox="1"/>
          <p:nvPr/>
        </p:nvSpPr>
        <p:spPr>
          <a:xfrm>
            <a:off x="98107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片段审核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7" name="矩形 996"/>
          <p:cNvSpPr/>
          <p:nvPr/>
        </p:nvSpPr>
        <p:spPr>
          <a:xfrm>
            <a:off x="6457950" y="2800350"/>
            <a:ext cx="4876800" cy="9525"/>
          </a:xfrm>
          <a:prstGeom prst="rect">
            <a:avLst/>
          </a:prstGeom>
          <a:solidFill>
            <a:srgbClr val="EEF2F8"/>
          </a:solidFill>
        </p:spPr>
        <p:txBody>
          <a:bodyPr/>
          <a:p/>
        </p:txBody>
      </p:sp>
      <p:sp>
        <p:nvSpPr>
          <p:cNvPr id="998" name="圆角矩形 997"/>
          <p:cNvSpPr/>
          <p:nvPr/>
        </p:nvSpPr>
        <p:spPr>
          <a:xfrm>
            <a:off x="6457950" y="297180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9" name="文本框 998" descr="{&quot;isTemplate&quot;:true,&quot;type&quot;:&quot;text&quot;}"/>
          <p:cNvSpPr txBox="1"/>
          <p:nvPr/>
        </p:nvSpPr>
        <p:spPr>
          <a:xfrm>
            <a:off x="6524625" y="300037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" name="文本框 999" descr="{&quot;isTemplate&quot;:true,&quot;type&quot;:&quot;text&quot;}"/>
          <p:cNvSpPr txBox="1"/>
          <p:nvPr/>
        </p:nvSpPr>
        <p:spPr>
          <a:xfrm>
            <a:off x="6743700" y="296227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张候选（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，角色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地标双参考）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1" name="圆角矩形 1000"/>
          <p:cNvSpPr/>
          <p:nvPr/>
        </p:nvSpPr>
        <p:spPr>
          <a:xfrm>
            <a:off x="6457950" y="336232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1002" name="文本框 1001" descr="{&quot;isTemplate&quot;:true,&quot;type&quot;:&quot;text&quot;}"/>
          <p:cNvSpPr txBox="1"/>
          <p:nvPr/>
        </p:nvSpPr>
        <p:spPr>
          <a:xfrm>
            <a:off x="6524625" y="3390900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3" name="文本框 1002" descr="{&quot;isTemplate&quot;:true,&quot;type&quot;:&quot;text&quot;}"/>
          <p:cNvSpPr txBox="1"/>
          <p:nvPr/>
        </p:nvSpPr>
        <p:spPr>
          <a:xfrm>
            <a:off x="6743700" y="3352800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人工逐镜挑图，可改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prompt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后重生成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4" name="圆角矩形 1003"/>
          <p:cNvSpPr/>
          <p:nvPr/>
        </p:nvSpPr>
        <p:spPr>
          <a:xfrm>
            <a:off x="6457950" y="375285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1005" name="文本框 1004" descr="{&quot;isTemplate&quot;:true,&quot;type&quot;:&quot;text&quot;}"/>
          <p:cNvSpPr txBox="1"/>
          <p:nvPr/>
        </p:nvSpPr>
        <p:spPr>
          <a:xfrm>
            <a:off x="6524625" y="378142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6" name="文本框 1005" descr="{&quot;isTemplate&quot;:true,&quot;type&quot;:&quot;text&quot;}"/>
          <p:cNvSpPr txBox="1"/>
          <p:nvPr/>
        </p:nvSpPr>
        <p:spPr>
          <a:xfrm>
            <a:off x="6743700" y="374332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选定的关键帧作为首帧图生视频（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MiniMax H3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7" name="圆角矩形 1006"/>
          <p:cNvSpPr/>
          <p:nvPr/>
        </p:nvSpPr>
        <p:spPr>
          <a:xfrm>
            <a:off x="6457950" y="4133850"/>
            <a:ext cx="4876800" cy="333375"/>
          </a:xfrm>
          <a:prstGeom prst="roundRect">
            <a:avLst>
              <a:gd name="adj" fmla="val 25714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1008" name="图片 1007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1300" y="4238625"/>
            <a:ext cx="123825" cy="123825"/>
          </a:xfrm>
          <a:prstGeom prst="rect">
            <a:avLst/>
          </a:prstGeom>
        </p:spPr>
      </p:pic>
      <p:sp>
        <p:nvSpPr>
          <p:cNvPr id="1009" name="文本框 1008" descr="{&quot;isTemplate&quot;:true,&quot;type&quot;:&quot;text&quot;}"/>
          <p:cNvSpPr txBox="1"/>
          <p:nvPr/>
        </p:nvSpPr>
        <p:spPr>
          <a:xfrm>
            <a:off x="6791325" y="4229100"/>
            <a:ext cx="19526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逐镜可控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画面可精修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适合重点一期</a:t>
            </a:r>
            <a:endParaRPr lang="zh-CN" sz="900" b="1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0" name="圆角矩形 1009"/>
          <p:cNvSpPr/>
          <p:nvPr/>
        </p:nvSpPr>
        <p:spPr>
          <a:xfrm>
            <a:off x="609600" y="5924550"/>
            <a:ext cx="10972800" cy="390525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1011" name="图片 1010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0100" y="6057900"/>
            <a:ext cx="133350" cy="133350"/>
          </a:xfrm>
          <a:prstGeom prst="rect">
            <a:avLst/>
          </a:prstGeom>
        </p:spPr>
      </p:pic>
      <p:sp>
        <p:nvSpPr>
          <p:cNvPr id="1012" name="文本框 1011" descr="{&quot;isTemplate&quot;:true,&quot;type&quot;:&quot;text&quot;}"/>
          <p:cNvSpPr txBox="1"/>
          <p:nvPr/>
        </p:nvSpPr>
        <p:spPr>
          <a:xfrm>
            <a:off x="1028700" y="6048375"/>
            <a:ext cx="3933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旧项目按原流程运行、不自动转换；旧逐镜项目可显式迁移为「新版剪辑」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3" name="圆角矩形 1012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14" name="文本框 1013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5" name="文本框 1014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6" name="文本框 1015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09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EDITING RULES&lt;/Text&gt;&#10;    &lt;/Box&gt;&#10;    &lt;Text style={{ position: 'absolute', top: '68px', left: '64px', fontSize: '34px', fontWeight: 'bold', color: '#0B1220' }}&gt;&#10;        每镜严格 1 秒：&lt;span style={{ color: '#2563EB' }}&gt;30 帧 @30fps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height: '170px', background: '#FFFFFF', borderRadius: '14px', border: '1px solid #E6EAF1', boxShadow: '0 2px 12px rgba(15,23,42,0.04)', flexDirection: 'column', padding: '18px 24px 14px 24px' }}&gt;&#10;        &lt;Box style={{ flexDirection: 'row', justifyContent: 'space-between', alignItems: 'center' }}&gt;&#10;            &lt;Text style={{ fontSize: '13px', fontWeight: 700, color: '#0B1220' }}&gt;时间轴 · 一期成片片段示意&lt;/Text&gt;&#10;            &lt;Text style={{ fontSize: '11.5px', color: '#8A97AB' }}&gt;绿色竖线 = 切点；相邻镜头前后各 2 帧片内淡入淡出&lt;/Text&gt;&#10;        &lt;/Box&gt;&#10;&#10;        &lt;Box style={{ position: 'relative', top: '0px', flexDirection: 'row', marginTop: '14px' }}&gt;&#10;            {['0s', '1s', '2s', '3s', '4s', '5s', '6s'].map((t, i) =&gt; (&#10;                &lt;Text key={i} style={{ position: 'absolute', left: `${16 + i * 186}px`, top: '0px', fontSize: '11px', color: '#94A3B8' }}&gt;{t}&lt;/Text&gt;&#10;            ))}&#10;            &lt;Box style={{ position: 'absolute', top: '20px', left: '24px', width: '1104px', height: '2px', background: '#E6EAF1' }} /&gt;&#10;        &lt;/Box&gt;&#10;&#10;        &lt;Box style={{ position: 'absolute', top: '72px', left: '24px', flexDirection: 'row', gap: '12px' }}&gt;&#10;            {[1, 2, 3, 4, 5, 6].map((n) =&gt; (&#10;                &lt;Box key={n} style={{ width: '174px', flexDirection: 'column', gap: '5px' }}&gt;&#10;                    &lt;Box style={{ width: '100%', height: '62px', borderRadius: '9px', background: 'linear-gradient(135deg,#EFF4FE 0%,#F5F1FE 100%)', border: '1px solid #DBE4F5', justifyContent: 'center', alignItems: 'center', flexDirection: 'column', gap: '2px' }}&gt;&#10;                        &lt;Text style={{ fontSize: '13px', fontWeight: 700, color: '#1D4ED8' }}&gt;镜头 {n}&lt;/Text&gt;&#10;                        &lt;Text style={{ fontSize: '10.5px', color: '#5B6B84' }}&gt;1.0s · 30 帧&lt;/Text&gt;&#10;                    &lt;/Box&gt;&#10;                    &lt;Box style={{ width: '100%', padding: '3px 0', borderRadius: '6px', background: '#F1F5F9', justifyContent: 'center', alignItems: 'center' }}&gt;&#10;                        &lt;Text style={{ fontSize: '9.5px', color: '#8A97AB' }}&gt;字幕烧录&lt;/Text&gt;&#10;                    &lt;/Box&gt;&#10;                &lt;/Box&gt;&#10;            ))}&#10;        &lt;/Box&gt;&#10;        {[203, 389, 575, 761, 947].map((x, i) =&gt; (&#10;            &lt;Box key={i} style={{ position: 'absolute', top: '72px', left: `${x}px`, width: '3px', height: '62px', borderRadius: '1px', background: '#10B981' }} /&gt;&#10;        ))}&#10;    &lt;/Box&gt;&#10;&#10;    &lt;Box style={{ position: 'absolute', top: '348px', left: '64px', right: '64px', flexDirection: 'row', gap: '20px' }}&gt;&#10;        {[&#10;            { icon: 'magnet', t: '整数帧窗口', d: '起点按 1/30 秒吸附，Worker 校验选段不越片尾' },&#10;            { icon: 'closed-captioning', t: '字幕默认开启', d: '每镜一秒窗口烧录 Shot.caption，片头偏移由拼接自然带入' },&#10;        ].map((c, i) =&gt; (&#10;            &lt;Box key={i} style={{ flex: 1, padding: '20px 24px', background: '#FFFFFF', borderRadius: '13px', border: '1px solid #E6EAF1', flexDirection: 'column', gap: '9px' }}&gt;&#10;                &lt;Box style={{ flexDirection: 'row', alignItems: 'center', gap: '11px' }}&gt;&#10;                    &lt;Box style={{ width: '34px', height: '34px', borderRadius: '10px', background: '#EFF4FE', justifyContent: 'center', alignItems: 'center' }}&gt;&#10;                        &lt;FAIcon name={c.icon} style={{ fill: '#2563EB', width: '16px', height: '16px' }} /&gt;&#10;                    &lt;/Box&gt;&#10;                    &lt;Text style={{ fontSize: '16px', fontWeight: 'bold', color: '#0B1220' }}&gt;{c.t}&lt;/Text&gt;&#10;                &lt;/Box&gt;&#10;                &lt;Text style={{ fontSize: '12.5px', color: '#5B6B84', lineHeight: 1.6 }}&gt;{c.d}&lt;/Text&gt;&#10;            &lt;/Box&gt;&#10;        ))}&#10;    &lt;/Box&gt;&#10;&#10;    &lt;Box style={{ position: 'absolute', top: '496px', left: '64px', right: '64px', flexDirection: 'row', gap: '20px' }}&gt;&#10;        {[&#10;            { icon: 'scissors', t: '片头片尾默认关闭', d: '合成设置里可选用已交付素材；配乐只覆盖全片、不移动切点' },&#10;            { icon: 'certificate', t: 'AI 标识', d: '右下角半透明水印 + 文件元数据，符合 2025-09 施行标识办法' },&#10;        ].map((c, i) =&gt; (&#10;            &lt;Box key={i} style={{ flex: 1, padding: '20px 24px', background: '#FFFFFF', borderRadius: '13px', border: '1px solid #E6EAF1', flexDirection: 'column', gap: '9px' }}&gt;&#10;                &lt;Box style={{ flexDirection: 'row', alignItems: 'center', gap: '11px' }}&gt;&#10;                    &lt;Box style={{ width: '34px', height: '34px', borderRadius: '10px', background: '#F5F1FE', justifyContent: 'center', alignItems: 'center' }}&gt;&#10;                        &lt;FAIcon name={c.icon} style={{ fill: '#7C3AED', width: '16px', height: '16px' }} /&gt;&#10;                    &lt;/Box&gt;&#10;                    &lt;Text style={{ fontSize: '16px', fontWeight: 'bold', color: '#0B1220' }}&gt;{c.t}&lt;/Text&gt;&#10;                &lt;/Box&gt;&#10;                &lt;Text style={{ fontSize: '12.5px', color: '#5B6B84', lineHeight: 1.6 }}&gt;{c.d}&lt;/Text&gt;&#10;            &lt;/Box&gt;&#10;        ))}&#10;    &lt;/Box&gt;&#10;&#10;    &lt;Box style={{ position: 'absolute', top: '622px', left: '64px', right: '64px', padding: '13px 20px', borderRadius: '11px', background: 'linear-gradient(120deg,#0A1128 0%,#16233F 60%,#312E81 100%)', flexDirection: 'row', alignItems: 'center', gap: '12px' }}&gt;&#10;        &lt;FAIcon name='stopwatch' style={{ fill: '#93C5FD', width: '15px', height: '15px' }} /&gt;&#10;        &lt;Text style={{ fontSize: '12.5px', color: 'rgba(255,255,255,0.88)' }}&gt;1 秒一镜 · 30 帧 · 字幕烧录 · 绿线切点 —— 节奏明快，适配 9:16 信息流观看习惯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0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9" name="矩形 28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 descr="{&quot;isTemplate&quot;:true,&quot;type&quot;:&quot;text&quot;}"/>
          <p:cNvSpPr txBox="1"/>
          <p:nvPr/>
        </p:nvSpPr>
        <p:spPr>
          <a:xfrm>
            <a:off x="10429875" y="409575"/>
            <a:ext cx="1152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EDITING RULES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 descr="{&quot;isTemplate&quot;:true,&quot;type&quot;:&quot;text&quot;}"/>
          <p:cNvSpPr txBox="1"/>
          <p:nvPr/>
        </p:nvSpPr>
        <p:spPr>
          <a:xfrm>
            <a:off x="609600" y="647700"/>
            <a:ext cx="44958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每镜严格</a:t>
            </a: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秒：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30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@30fps</a:t>
            </a:r>
            <a:endParaRPr lang="en-US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4" name="圆角矩形 33"/>
          <p:cNvSpPr/>
          <p:nvPr/>
        </p:nvSpPr>
        <p:spPr>
          <a:xfrm>
            <a:off x="609600" y="1428750"/>
            <a:ext cx="109728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838200" y="1600200"/>
            <a:ext cx="1495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时间轴</a:t>
            </a:r>
            <a:r>
              <a:rPr lang="en-US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一期成片片段示意</a:t>
            </a:r>
            <a:endParaRPr lang="zh-CN" sz="9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8772525" y="1609725"/>
            <a:ext cx="2581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绿色竖线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切点；相邻镜头前后各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2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帧片内淡入淡出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906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0s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27622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45339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2s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 descr="{&quot;isTemplate&quot;:true,&quot;type&quot;:&quot;text&quot;}"/>
          <p:cNvSpPr txBox="1"/>
          <p:nvPr/>
        </p:nvSpPr>
        <p:spPr>
          <a:xfrm>
            <a:off x="63055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3s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80772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4s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98488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5s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 descr="{&quot;isTemplate&quot;:true,&quot;type&quot;:&quot;text&quot;}"/>
          <p:cNvSpPr txBox="1"/>
          <p:nvPr/>
        </p:nvSpPr>
        <p:spPr>
          <a:xfrm>
            <a:off x="116205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6s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066800" y="2076450"/>
            <a:ext cx="10515600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45" name="圆角矩形 44"/>
          <p:cNvSpPr/>
          <p:nvPr/>
        </p:nvSpPr>
        <p:spPr>
          <a:xfrm>
            <a:off x="8382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14859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14097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圆角矩形 47"/>
          <p:cNvSpPr/>
          <p:nvPr/>
        </p:nvSpPr>
        <p:spPr>
          <a:xfrm>
            <a:off x="8382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14859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圆角矩形 49"/>
          <p:cNvSpPr/>
          <p:nvPr/>
        </p:nvSpPr>
        <p:spPr>
          <a:xfrm>
            <a:off x="26098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51" name="文本框 50" descr="{&quot;isTemplate&quot;:true,&quot;type&quot;:&quot;text&quot;}"/>
          <p:cNvSpPr txBox="1"/>
          <p:nvPr/>
        </p:nvSpPr>
        <p:spPr>
          <a:xfrm>
            <a:off x="32575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31813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26098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32575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43815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50292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49530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43815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50292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61531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68008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67246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61531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68008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圆角矩形 64"/>
          <p:cNvSpPr/>
          <p:nvPr/>
        </p:nvSpPr>
        <p:spPr>
          <a:xfrm>
            <a:off x="79248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66" name="文本框 65" descr="{&quot;isTemplate&quot;:true,&quot;type&quot;:&quot;text&quot;}"/>
          <p:cNvSpPr txBox="1"/>
          <p:nvPr/>
        </p:nvSpPr>
        <p:spPr>
          <a:xfrm>
            <a:off x="85725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 descr="{&quot;isTemplate&quot;:true,&quot;type&quot;:&quot;text&quot;}"/>
          <p:cNvSpPr txBox="1"/>
          <p:nvPr/>
        </p:nvSpPr>
        <p:spPr>
          <a:xfrm>
            <a:off x="84963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圆角矩形 67"/>
          <p:cNvSpPr/>
          <p:nvPr/>
        </p:nvSpPr>
        <p:spPr>
          <a:xfrm>
            <a:off x="79248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85725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96964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103441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102679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96964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74" name="文本框 73" descr="{&quot;isTemplate&quot;:true,&quot;type&quot;:&quot;text&quot;}"/>
          <p:cNvSpPr txBox="1"/>
          <p:nvPr/>
        </p:nvSpPr>
        <p:spPr>
          <a:xfrm>
            <a:off x="103441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圆角矩形 74"/>
          <p:cNvSpPr/>
          <p:nvPr/>
        </p:nvSpPr>
        <p:spPr>
          <a:xfrm>
            <a:off x="25431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6" name="圆角矩形 75"/>
          <p:cNvSpPr/>
          <p:nvPr/>
        </p:nvSpPr>
        <p:spPr>
          <a:xfrm>
            <a:off x="431482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7" name="圆角矩形 76"/>
          <p:cNvSpPr/>
          <p:nvPr/>
        </p:nvSpPr>
        <p:spPr>
          <a:xfrm>
            <a:off x="60864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8" name="圆角矩形 77"/>
          <p:cNvSpPr/>
          <p:nvPr/>
        </p:nvSpPr>
        <p:spPr>
          <a:xfrm>
            <a:off x="785812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9" name="圆角矩形 78"/>
          <p:cNvSpPr/>
          <p:nvPr/>
        </p:nvSpPr>
        <p:spPr>
          <a:xfrm>
            <a:off x="96297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80" name="圆角矩形 79"/>
          <p:cNvSpPr/>
          <p:nvPr/>
        </p:nvSpPr>
        <p:spPr>
          <a:xfrm>
            <a:off x="609600" y="33147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81" name="圆角矩形 80"/>
          <p:cNvSpPr/>
          <p:nvPr/>
        </p:nvSpPr>
        <p:spPr>
          <a:xfrm>
            <a:off x="838200" y="35052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2" name="图片 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3925" y="3590925"/>
            <a:ext cx="152400" cy="152400"/>
          </a:xfrm>
          <a:prstGeom prst="rect">
            <a:avLst/>
          </a:prstGeom>
        </p:spPr>
      </p:pic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1266825" y="3571875"/>
            <a:ext cx="7620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整数帧窗口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838200" y="39147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起点按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1/30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秒吸附，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校验选段不越片尾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圆角矩形 84"/>
          <p:cNvSpPr/>
          <p:nvPr/>
        </p:nvSpPr>
        <p:spPr>
          <a:xfrm>
            <a:off x="6191250" y="33147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86" name="圆角矩形 85"/>
          <p:cNvSpPr/>
          <p:nvPr/>
        </p:nvSpPr>
        <p:spPr>
          <a:xfrm>
            <a:off x="6419850" y="35052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5575" y="3590925"/>
            <a:ext cx="152400" cy="152400"/>
          </a:xfrm>
          <a:prstGeom prst="rect">
            <a:avLst/>
          </a:prstGeom>
        </p:spPr>
      </p:pic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6848475" y="3571875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字幕默认开启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6419850" y="39147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每镜一秒窗口烧录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Shot.caption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，片头偏移由拼接自然带入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圆角矩形 89"/>
          <p:cNvSpPr/>
          <p:nvPr/>
        </p:nvSpPr>
        <p:spPr>
          <a:xfrm>
            <a:off x="609600" y="47244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1" name="圆角矩形 90"/>
          <p:cNvSpPr/>
          <p:nvPr/>
        </p:nvSpPr>
        <p:spPr>
          <a:xfrm>
            <a:off x="838200" y="4914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92" name="图片 91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925" y="5000625"/>
            <a:ext cx="152400" cy="152400"/>
          </a:xfrm>
          <a:prstGeom prst="rect">
            <a:avLst/>
          </a:prstGeom>
        </p:spPr>
      </p:pic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1266825" y="4981575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片头片尾默认关闭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838200" y="53244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合成设置里可选用已交付素材；配乐只覆盖全片、不移动切点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" name="圆角矩形 94"/>
          <p:cNvSpPr/>
          <p:nvPr/>
        </p:nvSpPr>
        <p:spPr>
          <a:xfrm>
            <a:off x="6191250" y="47244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6419850" y="4914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97" name="图片 96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5575" y="5000625"/>
            <a:ext cx="152400" cy="152400"/>
          </a:xfrm>
          <a:prstGeom prst="rect">
            <a:avLst/>
          </a:prstGeom>
        </p:spPr>
      </p:pic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6848475" y="4981575"/>
            <a:ext cx="5238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标识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/>
        </p:nvSpPr>
        <p:spPr>
          <a:xfrm>
            <a:off x="6419850" y="53244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右下角半透明水印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文件元数据，符合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2025-09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施行标识办法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609600" y="5924550"/>
            <a:ext cx="10972800" cy="390525"/>
          </a:xfrm>
          <a:prstGeom prst="roundRect">
            <a:avLst>
              <a:gd name="adj" fmla="val 26829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pic>
        <p:nvPicPr>
          <p:cNvPr id="101" name="图片 10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100" y="6048375"/>
            <a:ext cx="142875" cy="142875"/>
          </a:xfrm>
          <a:prstGeom prst="rect">
            <a:avLst/>
          </a:prstGeom>
        </p:spPr>
      </p:pic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1057275" y="6048375"/>
            <a:ext cx="4314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30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绿线切点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节奏明快，适配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9:16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信息流观看习惯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10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3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3 · HOW&lt;/Text&gt;&#10;        &lt;/Box&gt;&#10;        &lt;Text style={{ fontSize: '58px', fontWeight: 'bold', color: '#FFFFFF', lineHeight: 1.15, letterSpacing: '-1px' }}&gt;&#10;            技术与工程&#10;        &lt;/Text&gt;&#10;        &lt;Text style={{ fontSize: '17px', color: 'rgba(255,255,255,0.72)', lineHeight: 1.7 }}&gt;&#10;            本地优先的单机闭环：SQLite 唯一真源，敢在现场重试的工程底座。&#10;        &lt;/Text&gt;&#10;    &lt;/Box&gt;&#10;&#10;    &lt;Box style={{ position: 'absolute', top: '470px', left: '88px', width: '660px', flexDirection: 'column', gap: '16px' }}&gt;&#10;        {[&#10;            '单机闭环：React + Vite / Hono / SQLite / Worker / ComfyUI',&#10;            '每个环节一个接口，本地为主、API 溢出',&#10;            '动作级计价，原子预留、结算、释放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2 ? '26px' : '8px', height: '8px', borderRadius: '4px', background: i === 2 ? '#60A5FA' : 'rgba(255,255,255,0.25)' }} /&gt;&#10;                &lt;Text style={{ fontSize: '11px', color: i === 2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11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矩形 10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109" name="矩形 1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110" name="矩形 10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111" name="任意多边形 110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112" name="任意多边形 111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295400" y="1905000"/>
            <a:ext cx="19145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03 · HOW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本地优先的单机闭环：</a:t>
            </a:r>
            <a:r>
              <a:rPr lang="en-US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SQLite </a:t>
            </a: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唯一真源，敢在现场重试的工程底座。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8" name="圆角矩形 117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8700" y="4476750"/>
            <a:ext cx="4048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单机闭环：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React + Vite / Hono / SQLite / Worker / ComfyUI</a:t>
            </a:r>
            <a:endParaRPr lang="en-US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28700" y="4800600"/>
            <a:ext cx="2562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每个环节一个接口，本地为主、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圆角矩形 121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028700" y="5124450"/>
            <a:ext cx="2286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动作级计价，原子预留、结算、释放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圆角矩形 123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25" name="文本框 124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6" name="圆角矩形 125"/>
          <p:cNvSpPr/>
          <p:nvPr/>
        </p:nvSpPr>
        <p:spPr>
          <a:xfrm>
            <a:off x="13049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14763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1771650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0" name="圆角矩形 129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31" name="文本框 130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11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ARCHITECTURE&lt;/Text&gt;&#10;    &lt;/Box&gt;&#10;    &lt;Text style={{ position: 'absolute', top: '68px', left: '64px', fontSize: '34px', fontWeight: 'bold', color: '#0B1220' }}&gt;&#10;        本地优先的单机闭环，&lt;span style={{ color: '#2563EB' }}&gt;SQLite 是唯一真源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730px', flexDirection: 'column', gap: '8px' }}&gt;&#10;        {[&#10;            { tag: 'WEB', t: '浏览器 · React + Vite', d: '官网 / 登录 / 建期 / 审片台 / 用量 / 分享页', c: '#2563EB', bg: '#EFF4FE', icon: 'window-maximize' },&#10;            { tag: 'API', t: 'apps/web · Hono :3000', d: 'auth · episodes · review · share · assets', c: '#2563EB', bg: '#EFF4FE', icon: 'network-wired' },&#10;            { tag: 'STORE', t: 'packages/store · SQLite', d: '期 / 角色 / 目的地 / 模板 / 任务 / 积分 —— 唯一真源', c: '#F59E0B', bg: '#FEF6E7', icon: 'database', hl: true },&#10;            { tag: 'WORKER', t: 'apps/worker · 消费循环', d: '任务租约 · 生成适配 · 产物归档 · ffmpeg 合成 · 积分结算', c: '#7C3AED', bg: '#F5F1FE', icon: 'gears' },&#10;            { tag: 'INFER', t: 'services/inference :8100 → ComfyUI :8188', d: 'Qwen-Image 2.1 · MiniMax H3（comfyui-bridge 工作流）', c: '#10B981', bg: '#E9F9F2', icon: 'microchip' },&#10;        ].map((r, i) =&gt; (&#10;            &lt;Box key={i} style={{ width: '730px', height: '70px', flexDirection: 'row', alignItems: 'center', gap: '16px', padding: '0 20px', background: '#FFFFFF', borderRadius: '12px', border: r.hl ? '2px solid #F59E0B' : '1px solid #E6EAF1', boxShadow: r.hl ? '0 4px 16px rgba(245,158,11,0.12)' : '0 2px 10px rgba(15,23,42,0.03)' }}&gt;&#10;                &lt;Box style={{ width: '42px', height: '42px', borderRadius: '11px', background: r.bg, justifyContent: 'center', alignItems: 'center' }}&gt;&#10;                    &lt;FAIcon name={r.icon} style={{ fill: r.c, width: '19px', height: '19px' }} /&gt;&#10;                &lt;/Box&gt;&#10;                &lt;Box style={{ width: '300px', flexDirection: 'column', gap: '3px' }}&gt;&#10;                    &lt;Text style={{ fontSize: '14.5px', fontWeight: 700, color: '#0B1220' }}&gt;{r.t}&lt;/Text&gt;&#10;                    &lt;Text style={{ fontSize: '10px', fontWeight: 700, color: r.c, letterSpacing: '1.5px' }}&gt;{r.tag}&lt;/Text&gt;&#10;                &lt;/Box&gt;&#10;                &lt;Text style={{ flex: 1, fontSize: '12px', color: '#5B6B84', lineHeight: 1.5 }}&gt;{r.d}&lt;/Text&gt;&#10;            &lt;/Box&gt;&#10;        ))}&#10;        {[220, 298, 376, 454].map((y, i) =&gt; (&#10;            &lt;Box key={i} style={{ position: 'absolute', top: `${y}px`, left: '104px', width: '2px', height: '8px', background: '#C7D7FA' }} /&gt;&#10;        ))}&#10;    &lt;/Box&gt;&#10;&#10;    &lt;Box style={{ position: 'absolute', top: '150px', right: '64px', width: '398px', height: '478px', padding: '24px 26px', borderRadius: '16px', background: 'linear-gradient(160deg,#0A1128 0%,#16233F 55%,#312E81 100%)', flexDirection: 'column', gap: '16px', boxShadow: '0 10px 30px rgba(15,23,42,0.25)' }}&gt;&#10;        &lt;Box style={{ flexDirection: 'row', alignItems: 'center', gap: '10px' }}&gt;&#10;            &lt;FAIcon name='shield-halved' style={{ fill: '#93C5FD', width: '17px', height: '17px' }} /&gt;&#10;            &lt;Text style={{ fontSize: '16px', fontWeight: 'bold', color: '#FFFFFF' }}&gt;架构红线（ADR-0004）&lt;/Text&gt;&#10;        &lt;/Box&gt;&#10;        {[&#10;            '无 Redis / Postgres / 对象存储',&#10;            'web 与 worker 直调 store，无内部 HTTP',&#10;            'compose 唯一碰 ffmpeg，只在 worker',&#10;            'providers 可插拔，换模型不改上层',&#10;            '产物落本地磁盘 projects/&lt;期号&gt;/…',&#10;            'store 保持 async，为拆机留边界',&#10;        ].map((t, i) =&gt; (&#10;            &lt;Box key={i} style={{ flexDirection: 'row', alignItems: 'flex-start', gap: '10px', padding: '10px 12px', background: 'rgba(255,255,255,0.05)', borderRadius: '9px', border: '1px solid rgba(255,255,255,0.1)' }}&gt;&#10;                &lt;Text style={{ fontSize: '11px', fontWeight: 700, color: '#93C5FD', marginTop: '1px' }}&gt;{String(i + 1).padStart(2, '0')}&lt;/Text&gt;&#10;                &lt;Text style={{ flex: 1, fontSize: '12.5px', color: 'rgba(255,255,255,0.88)', lineHeight: 1.5 }}&gt;{t}&lt;/Text&gt;&#10;            &lt;/Box&gt;&#10;        ))}&#10;    &lt;/Box&gt;&#10;&#10;    &lt;Box style={{ position: 'absolute', top: '654px', left: '64px', width: '730px', flexDirection: 'row', alignItems: 'center', gap: '10px' }}&gt;&#10;        &lt;FAIcon name='circle-info' style={{ fill: '#8A97AB', width: '13px', height: '13px' }} /&gt;&#10;        &lt;Text style={{ fontSize: '11.5px', color: '#8A97AB' }}&gt;单机部署、单数据源，最大限度降低运维复杂度与一致性风险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2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矩形 1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136" name="矩形 135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10458450" y="409575"/>
            <a:ext cx="11239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ARCHITECTURE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609600" y="647700"/>
            <a:ext cx="60102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本地优先的单机闭环，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SQLite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是唯一真源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圆角矩形 139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141" name="圆角矩形 140"/>
          <p:cNvSpPr/>
          <p:nvPr/>
        </p:nvSpPr>
        <p:spPr>
          <a:xfrm>
            <a:off x="609600" y="14287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42" name="圆角矩形 141"/>
          <p:cNvSpPr/>
          <p:nvPr/>
        </p:nvSpPr>
        <p:spPr>
          <a:xfrm>
            <a:off x="800100" y="15621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143" name="图片 14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676400"/>
            <a:ext cx="180975" cy="180975"/>
          </a:xfrm>
          <a:prstGeom prst="rect">
            <a:avLst/>
          </a:prstGeom>
        </p:spPr>
      </p:pic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1352550" y="160972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浏览器</a:t>
            </a: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· React + Vite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1352550" y="18097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WEB</a:t>
            </a:r>
            <a:endParaRPr lang="en-US" sz="750" b="1" spc="113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4362450" y="165735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官网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登录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审片台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用量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分享页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609600" y="217170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48" name="圆角矩形 147"/>
          <p:cNvSpPr/>
          <p:nvPr/>
        </p:nvSpPr>
        <p:spPr>
          <a:xfrm>
            <a:off x="800100" y="230505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149" name="图片 14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419350"/>
            <a:ext cx="180975" cy="180975"/>
          </a:xfrm>
          <a:prstGeom prst="rect">
            <a:avLst/>
          </a:prstGeom>
        </p:spPr>
      </p:pic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1352550" y="235267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apps/web · Hono :3000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1352550" y="255270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API</a:t>
            </a:r>
            <a:endParaRPr lang="en-US" sz="750" b="1" spc="113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4362450" y="240030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auth · episodes · review · share · assets</a:t>
            </a:r>
            <a:endParaRPr lang="en-US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3" name="圆角矩形 152"/>
          <p:cNvSpPr/>
          <p:nvPr/>
        </p:nvSpPr>
        <p:spPr>
          <a:xfrm>
            <a:off x="609600" y="29146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52400" dist="38100" dir="5400000">
              <a:srgbClr val="F59E0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4" name="圆角矩形 153"/>
          <p:cNvSpPr/>
          <p:nvPr/>
        </p:nvSpPr>
        <p:spPr>
          <a:xfrm>
            <a:off x="800100" y="30480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FEF6E7"/>
          </a:solidFill>
        </p:spPr>
        <p:txBody>
          <a:bodyPr/>
          <a:p/>
        </p:txBody>
      </p:sp>
      <p:pic>
        <p:nvPicPr>
          <p:cNvPr id="155" name="图片 15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162300"/>
            <a:ext cx="180975" cy="180975"/>
          </a:xfrm>
          <a:prstGeom prst="rect">
            <a:avLst/>
          </a:prstGeom>
        </p:spPr>
      </p:pic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1352550" y="309562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packages/store · SQLite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1352550" y="32956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STORE</a:t>
            </a:r>
            <a:endParaRPr lang="en-US" sz="750" b="1" spc="113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4362450" y="314325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期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模板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唯一真源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609600" y="365760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60" name="圆角矩形 159"/>
          <p:cNvSpPr/>
          <p:nvPr/>
        </p:nvSpPr>
        <p:spPr>
          <a:xfrm>
            <a:off x="800100" y="379095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161" name="图片 160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" y="3905250"/>
            <a:ext cx="180975" cy="180975"/>
          </a:xfrm>
          <a:prstGeom prst="rect">
            <a:avLst/>
          </a:prstGeom>
        </p:spPr>
      </p:pic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1352550" y="383857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apps/worker · </a:t>
            </a: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消费循环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1352550" y="403860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WORKER</a:t>
            </a:r>
            <a:endParaRPr lang="en-US" sz="750" b="1" spc="113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4362450" y="388620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任务租约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生成适配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产物归档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ffmpeg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积分结算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609600" y="44005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66" name="圆角矩形 165"/>
          <p:cNvSpPr/>
          <p:nvPr/>
        </p:nvSpPr>
        <p:spPr>
          <a:xfrm>
            <a:off x="800100" y="45339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167" name="图片 166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" y="4648200"/>
            <a:ext cx="180975" cy="180975"/>
          </a:xfrm>
          <a:prstGeom prst="rect">
            <a:avLst/>
          </a:prstGeom>
        </p:spPr>
      </p:pic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1352550" y="4495800"/>
            <a:ext cx="2857500" cy="3333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services/inference :8100 → ComfyUI :8188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1352550" y="48577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INFER</a:t>
            </a:r>
            <a:endParaRPr lang="en-US" sz="750" b="1" spc="113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362450" y="4524375"/>
            <a:ext cx="3009900" cy="4191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 · MiniMax H3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comfyui-bridge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工作流）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1600200" y="352425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2" name="矩形 171"/>
          <p:cNvSpPr/>
          <p:nvPr/>
        </p:nvSpPr>
        <p:spPr>
          <a:xfrm>
            <a:off x="1600200" y="426720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3" name="矩形 172"/>
          <p:cNvSpPr/>
          <p:nvPr/>
        </p:nvSpPr>
        <p:spPr>
          <a:xfrm>
            <a:off x="1600200" y="501015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1600200" y="575310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5" name="圆角矩形 174"/>
          <p:cNvSpPr/>
          <p:nvPr/>
        </p:nvSpPr>
        <p:spPr>
          <a:xfrm>
            <a:off x="7791450" y="1428750"/>
            <a:ext cx="3790950" cy="4552950"/>
          </a:xfrm>
          <a:prstGeom prst="roundRect">
            <a:avLst>
              <a:gd name="adj" fmla="val 4020"/>
            </a:avLst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4200000" scaled="1"/>
          </a:gradFill>
          <a:effectLst>
            <a:outerShdw blurRad="285750" dist="95250" dir="5400000">
              <a:srgbClr val="0F172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176" name="图片 175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39100" y="1676400"/>
            <a:ext cx="161925" cy="161925"/>
          </a:xfrm>
          <a:prstGeom prst="rect">
            <a:avLst/>
          </a:prstGeom>
        </p:spPr>
      </p:pic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8296275" y="1657350"/>
            <a:ext cx="1704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架构红线（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ADR-0004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圆角矩形 177"/>
          <p:cNvSpPr/>
          <p:nvPr/>
        </p:nvSpPr>
        <p:spPr>
          <a:xfrm>
            <a:off x="8039100" y="200025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8153400" y="210502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8382000" y="209550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Redis / Postgres /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对象存储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1" name="圆角矩形 180"/>
          <p:cNvSpPr/>
          <p:nvPr/>
        </p:nvSpPr>
        <p:spPr>
          <a:xfrm>
            <a:off x="8039100" y="256222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2" name="文本框 181" descr="{&quot;isTemplate&quot;:true,&quot;type&quot;:&quot;text&quot;}"/>
          <p:cNvSpPr txBox="1"/>
          <p:nvPr/>
        </p:nvSpPr>
        <p:spPr>
          <a:xfrm>
            <a:off x="8153400" y="266700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8382000" y="265747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web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worker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直调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store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，无内部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HTTP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8039100" y="312420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8153400" y="322897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8382000" y="321945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compose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唯一碰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ffmpeg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，只在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worker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7" name="圆角矩形 186"/>
          <p:cNvSpPr/>
          <p:nvPr/>
        </p:nvSpPr>
        <p:spPr>
          <a:xfrm>
            <a:off x="8039100" y="368617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153400" y="379095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文本框 188" descr="{&quot;isTemplate&quot;:true,&quot;type&quot;:&quot;text&quot;}"/>
          <p:cNvSpPr txBox="1"/>
          <p:nvPr/>
        </p:nvSpPr>
        <p:spPr>
          <a:xfrm>
            <a:off x="8382000" y="378142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providers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可插拔，换模型不改上层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0" name="圆角矩形 189"/>
          <p:cNvSpPr/>
          <p:nvPr/>
        </p:nvSpPr>
        <p:spPr>
          <a:xfrm>
            <a:off x="8039100" y="424815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153400" y="435292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382000" y="434340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产物落本地磁盘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projects/&lt;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期号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&gt;/…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" name="圆角矩形 192"/>
          <p:cNvSpPr/>
          <p:nvPr/>
        </p:nvSpPr>
        <p:spPr>
          <a:xfrm>
            <a:off x="8039100" y="481012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8153400" y="491490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382000" y="490537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store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保持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async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，为拆机留边界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6" name="图片 195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38875"/>
            <a:ext cx="123825" cy="123825"/>
          </a:xfrm>
          <a:prstGeom prst="rect">
            <a:avLst/>
          </a:prstGeom>
        </p:spPr>
      </p:pic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828675" y="62293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单机部署、单数据源，最大限度降低运维复杂度与一致性风险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8" name="圆角矩形 197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12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MODELS &amp; PROVIDERS&lt;/Text&gt;&#10;    &lt;/Box&gt;&#10;    &lt;Text style={{ position: 'absolute', top: '68px', left: '64px', fontSize: '34px', fontWeight: 'bold', color: '#0B1220' }}&gt;&#10;        每个环节一个接口，&lt;span style={{ color: '#2563EB' }}&gt;本地为主、API 溢出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padding: '0 18px' }}&gt;&#10;        &lt;Text style={{ width: '92px', fontSize: '12px', fontWeight: 700, color: '#8A97AB', letterSpacing: '1px' }}&gt;环节&lt;/Text&gt;&#10;        &lt;Text style={{ width: '300px', fontSize: '12px', fontWeight: 700, color: '#8A97AB', letterSpacing: '1px' }}&gt;模型 / 服务&lt;/Text&gt;&#10;        &lt;Text style={{ flex: 1, fontSize: '12px', fontWeight: 700, color: '#8A97AB', letterSpacing: '1px' }}&gt;说明&lt;/Text&gt;&#10;    &lt;/Box&gt;&#10;&#10;    &lt;Box style={{ position: 'absolute', top: '180px', left: '64px', right: '64px', flexDirection: 'column', gap: '9px' }}&gt;&#10;        {[&#10;            { tag: '脚本', icon: 'pen-nib', m: 'StepFun API', d: 'brief + 目的地包 → 24–30 镜结构化 JSON；支持按指令优化重生成', c: '#2563EB', bg: '#EFF4FE', local: false },&#10;            { tag: '图像', icon: 'image', m: 'Qwen-Image 2.1（ComfyUI）', d: '单参考 = 角色；双参考 = 角色 + 地标；每镜 1–3 候选', c: '#2563EB', bg: '#EFF4FE', local: true },&#10;            { tag: '视频', icon: 'film', m: 'MiniMax H3（ComfyUI）', d: '双参考直出 / 关键帧图生视频；生成预算 240–270 秒', c: '#7C3AED', bg: '#F5F1FE', local: true },&#10;            { tag: '溢出', icon: 'arrow-down-up-across-line', m: '可灵 / 即梦 API', d: '本地重试 ≤ 2 次自动切换；排队超阈值也直接溢出', c: '#F59E0B', bg: '#FEF6E7', local: false },&#10;            { tag: '音乐', icon: 'music', m: '授权素材库', d: '按 tone 检索授权曲目，MVP 不生成音乐', c: '#10B981', bg: '#E9F9F2', local: false },&#10;            { tag: '合成', icon: 'clapperboard', m: 'FFmpeg（Worker）', d: '30 帧整数窗口、LUT、ASS 字幕、转场、AI 标识、封装', c: '#0B1220', bg: '#F1F5F9', local: true },&#10;        ].map((r, i) =&gt; (&#10;            &lt;Box key={i} style={{ flexDirection: 'row', alignItems: 'center', gap: '18px', padding: '13px 18px', background: '#FFFFFF', borderRadius: '11px', border: '1px solid #E6EAF1' }}&gt;&#10;                &lt;Box style={{ width: '92px', flexDirection: 'row', alignItems: 'center', gap: '9px' }}&gt;&#10;                    &lt;Box style={{ width: '30px', height: '30px', borderRadius: '9px', background: r.bg, justifyContent: 'center', alignItems: 'center' }}&gt;&#10;                        &lt;FAIcon name={r.icon} style={{ fill: r.c, width: '14px', height: '14px' }} /&gt;&#10;                    &lt;/Box&gt;&#10;                    &lt;Text style={{ fontSize: '13.5px', fontWeight: 700, color: '#0B1220' }}&gt;{r.tag}&lt;/Text&gt;&#10;                &lt;/Box&gt;&#10;                &lt;Box style={{ width: '300px', flexDirection: 'row', alignItems: 'center', gap: '8px' }}&gt;&#10;                    &lt;Text style={{ fontSize: '13px', fontWeight: 600, color: r.c === '#0B1220' ? '#334155' : r.c }}&gt;{r.m}&lt;/Text&gt;&#10;                    {r.local &amp;&amp; (&#10;                        &lt;Box style={{ padding: '2px 8px', borderRadius: '999px', background: '#E9F9F2', border: '1px solid #A7E8CF' }}&gt;&#10;                            &lt;Text style={{ fontSize: '9.5px', fontWeight: 700, color: '#059669' }}&gt;本地&lt;/Text&gt;&#10;                        &lt;/Box&gt;&#10;                    )}&#10;                &lt;/Box&gt;&#10;                &lt;Text style={{ flex: 1, fontSize: '12.5px', color: '#5B6B84', lineHeight: 1.5 }}&gt;{r.d}&lt;/Text&gt;&#10;            &lt;/Box&gt;&#10;        ))}&#10;    &lt;/Box&gt;&#10;&#10;    &lt;Box style={{ position: 'absolute', top: '600px', left: '64px', right: '64px', padding: '14px 20px', borderRadius: '11px', background: '#0B1220', flexDirection: 'row', alignItems: 'center', gap: '12px' }}&gt;&#10;        &lt;FAIcon name='receipt' style={{ fill: '#93C5FD', width: '15px', height: '15px' }} /&gt;&#10;        &lt;Text style={{ fontSize: '12.5px', color: 'rgba(255,255,255,0.88)' }}&gt;&#10;            每次调用记录 &lt;span style={{ color: '#93C5FD', fontWeight: 600 }}&gt;provider / 模型 / 版本 / seed / 参考图哈希 / 费用&lt;/span&gt;，期级汇总成成本报告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3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矩形 20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04" name="矩形 20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9886950" y="409575"/>
            <a:ext cx="1695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MODELS &amp; PROVIDERS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609600" y="647700"/>
            <a:ext cx="5848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每个环节一个接口，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本地为主、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圆角矩形 20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81050" y="1428750"/>
            <a:ext cx="8763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环节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文本框 209" descr="{&quot;isTemplate&quot;:true,&quot;type&quot;:&quot;text&quot;}"/>
          <p:cNvSpPr txBox="1"/>
          <p:nvPr/>
        </p:nvSpPr>
        <p:spPr>
          <a:xfrm>
            <a:off x="1657350" y="1428750"/>
            <a:ext cx="2857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en-US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服务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4514850" y="1428750"/>
            <a:ext cx="68961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说明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09600" y="171450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13" name="圆角矩形 212"/>
          <p:cNvSpPr/>
          <p:nvPr/>
        </p:nvSpPr>
        <p:spPr>
          <a:xfrm>
            <a:off x="781050" y="18383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14" name="图片 21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0" y="1914525"/>
            <a:ext cx="133350" cy="133350"/>
          </a:xfrm>
          <a:prstGeom prst="rect">
            <a:avLst/>
          </a:prstGeom>
        </p:spPr>
      </p:pic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1152525" y="190500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828800" y="1905000"/>
            <a:ext cx="7620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StepFun API</a:t>
            </a:r>
            <a:endParaRPr lang="en-US" sz="9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4857750" y="187642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brief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目的地包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→ 24–30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镜结构化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JSON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；支持按指令优化重生成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圆角矩形 217"/>
          <p:cNvSpPr/>
          <p:nvPr/>
        </p:nvSpPr>
        <p:spPr>
          <a:xfrm>
            <a:off x="609600" y="233362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19" name="圆角矩形 218"/>
          <p:cNvSpPr/>
          <p:nvPr/>
        </p:nvSpPr>
        <p:spPr>
          <a:xfrm>
            <a:off x="781050" y="24574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20" name="图片 21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7250" y="2533650"/>
            <a:ext cx="133350" cy="133350"/>
          </a:xfrm>
          <a:prstGeom prst="rect">
            <a:avLst/>
          </a:prstGeom>
        </p:spPr>
      </p:pic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1152525" y="252412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图像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1828800" y="2524125"/>
            <a:ext cx="18288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</a:t>
            </a:r>
            <a:r>
              <a:rPr lang="zh-CN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ComfyUI</a:t>
            </a:r>
            <a:r>
              <a:rPr lang="zh-CN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3733800" y="2524125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3810000" y="2543175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4857750" y="249555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单参考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角色；双参考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地标；每镜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候选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圆角矩形 225"/>
          <p:cNvSpPr/>
          <p:nvPr/>
        </p:nvSpPr>
        <p:spPr>
          <a:xfrm>
            <a:off x="609600" y="295275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27" name="圆角矩形 226"/>
          <p:cNvSpPr/>
          <p:nvPr/>
        </p:nvSpPr>
        <p:spPr>
          <a:xfrm>
            <a:off x="781050" y="3076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28" name="图片 227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7250" y="3152775"/>
            <a:ext cx="133350" cy="133350"/>
          </a:xfrm>
          <a:prstGeom prst="rect">
            <a:avLst/>
          </a:prstGeom>
        </p:spPr>
      </p:pic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1152525" y="314325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1828800" y="3143250"/>
            <a:ext cx="15716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MiniMax H3</a:t>
            </a:r>
            <a:r>
              <a:rPr lang="zh-CN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ComfyUI</a:t>
            </a:r>
            <a:r>
              <a:rPr lang="zh-CN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3476625" y="3143250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3552825" y="3162300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4857750" y="311467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双参考直出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关键帧图生视频；生成预算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240–270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圆角矩形 233"/>
          <p:cNvSpPr/>
          <p:nvPr/>
        </p:nvSpPr>
        <p:spPr>
          <a:xfrm>
            <a:off x="609600" y="357187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35" name="圆角矩形 234"/>
          <p:cNvSpPr/>
          <p:nvPr/>
        </p:nvSpPr>
        <p:spPr>
          <a:xfrm>
            <a:off x="781050" y="36957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pic>
        <p:nvPicPr>
          <p:cNvPr id="236" name="图片 235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7250" y="3771900"/>
            <a:ext cx="133350" cy="133350"/>
          </a:xfrm>
          <a:prstGeom prst="rect">
            <a:avLst/>
          </a:prstGeom>
        </p:spPr>
      </p:pic>
      <p:sp>
        <p:nvSpPr>
          <p:cNvPr id="237" name="文本框 236" descr="{&quot;isTemplate&quot;:true,&quot;type&quot;:&quot;text&quot;}"/>
          <p:cNvSpPr txBox="1"/>
          <p:nvPr/>
        </p:nvSpPr>
        <p:spPr>
          <a:xfrm>
            <a:off x="1152525" y="376237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1828800" y="3762375"/>
            <a:ext cx="885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可灵</a:t>
            </a:r>
            <a:r>
              <a:rPr lang="en-US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即梦</a:t>
            </a:r>
            <a:r>
              <a:rPr lang="en-US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 API</a:t>
            </a:r>
            <a:endParaRPr lang="en-US" sz="97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文本框 238" descr="{&quot;isTemplate&quot;:true,&quot;type&quot;:&quot;text&quot;}"/>
          <p:cNvSpPr txBox="1"/>
          <p:nvPr/>
        </p:nvSpPr>
        <p:spPr>
          <a:xfrm>
            <a:off x="4857750" y="373380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本地重试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≤ 2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次自动切换；排队超阈值也直接溢出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0" name="圆角矩形 239"/>
          <p:cNvSpPr/>
          <p:nvPr/>
        </p:nvSpPr>
        <p:spPr>
          <a:xfrm>
            <a:off x="609600" y="419100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41" name="圆角矩形 240"/>
          <p:cNvSpPr/>
          <p:nvPr/>
        </p:nvSpPr>
        <p:spPr>
          <a:xfrm>
            <a:off x="781050" y="43148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42" name="图片 24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7250" y="4391025"/>
            <a:ext cx="133350" cy="133350"/>
          </a:xfrm>
          <a:prstGeom prst="rect">
            <a:avLst/>
          </a:prstGeom>
        </p:spPr>
      </p:pic>
      <p:sp>
        <p:nvSpPr>
          <p:cNvPr id="243" name="文本框 242" descr="{&quot;isTemplate&quot;:true,&quot;type&quot;:&quot;text&quot;}"/>
          <p:cNvSpPr txBox="1"/>
          <p:nvPr/>
        </p:nvSpPr>
        <p:spPr>
          <a:xfrm>
            <a:off x="1152525" y="438150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音乐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4" name="文本框 243" descr="{&quot;isTemplate&quot;:true,&quot;type&quot;:&quot;text&quot;}"/>
          <p:cNvSpPr txBox="1"/>
          <p:nvPr/>
        </p:nvSpPr>
        <p:spPr>
          <a:xfrm>
            <a:off x="1828800" y="4381500"/>
            <a:ext cx="6191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授权素材库</a:t>
            </a:r>
            <a:endParaRPr lang="zh-CN" sz="975" b="1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5" name="文本框 244" descr="{&quot;isTemplate&quot;:true,&quot;type&quot;:&quot;text&quot;}"/>
          <p:cNvSpPr txBox="1"/>
          <p:nvPr/>
        </p:nvSpPr>
        <p:spPr>
          <a:xfrm>
            <a:off x="4857750" y="435292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tone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检索授权曲目，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MVP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不生成音乐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6" name="圆角矩形 245"/>
          <p:cNvSpPr/>
          <p:nvPr/>
        </p:nvSpPr>
        <p:spPr>
          <a:xfrm>
            <a:off x="609600" y="481012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47" name="圆角矩形 246"/>
          <p:cNvSpPr/>
          <p:nvPr/>
        </p:nvSpPr>
        <p:spPr>
          <a:xfrm>
            <a:off x="781050" y="49339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248" name="图片 247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7250" y="5010150"/>
            <a:ext cx="133350" cy="133350"/>
          </a:xfrm>
          <a:prstGeom prst="rect">
            <a:avLst/>
          </a:prstGeom>
        </p:spPr>
      </p:pic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1152525" y="500062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1828800" y="5000625"/>
            <a:ext cx="12096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FFmpeg</a:t>
            </a:r>
            <a:r>
              <a:rPr lang="zh-CN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Worker</a:t>
            </a:r>
            <a:r>
              <a:rPr lang="zh-CN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1" name="圆角矩形 250"/>
          <p:cNvSpPr/>
          <p:nvPr/>
        </p:nvSpPr>
        <p:spPr>
          <a:xfrm>
            <a:off x="3114675" y="5000625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3190875" y="5019675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3" name="文本框 252" descr="{&quot;isTemplate&quot;:true,&quot;type&quot;:&quot;text&quot;}"/>
          <p:cNvSpPr txBox="1"/>
          <p:nvPr/>
        </p:nvSpPr>
        <p:spPr>
          <a:xfrm>
            <a:off x="4857750" y="497205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帧整数窗口、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LUT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ASS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字幕、转场、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标识、封装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4" name="圆角矩形 253"/>
          <p:cNvSpPr/>
          <p:nvPr/>
        </p:nvSpPr>
        <p:spPr>
          <a:xfrm>
            <a:off x="609600" y="5715000"/>
            <a:ext cx="10972800" cy="409575"/>
          </a:xfrm>
          <a:prstGeom prst="roundRect">
            <a:avLst>
              <a:gd name="adj" fmla="val 25581"/>
            </a:avLst>
          </a:prstGeom>
          <a:solidFill>
            <a:srgbClr val="0B1220"/>
          </a:solidFill>
        </p:spPr>
        <p:txBody>
          <a:bodyPr/>
          <a:p/>
        </p:txBody>
      </p:sp>
      <p:pic>
        <p:nvPicPr>
          <p:cNvPr id="255" name="图片 25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0100" y="5848350"/>
            <a:ext cx="142875" cy="142875"/>
          </a:xfrm>
          <a:prstGeom prst="rect">
            <a:avLst/>
          </a:prstGeom>
        </p:spPr>
      </p:pic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1057275" y="5848350"/>
            <a:ext cx="46767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每次调用记录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provider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版本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seed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参考图哈希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费用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，期级汇总成成本报告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圆角矩形 256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文本框 258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13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1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ENGINEERING&lt;/Text&gt;&#10;    &lt;/Box&gt;&#10;    &lt;Text style={{ position: 'absolute', top: '68px', left: '64px', fontSize: '34px', fontWeight: 'bold', color: '#0B1220' }}&gt;&#10;        敢在现场重试的&lt;span style={{ color: '#2563EB' }}&gt;六个设计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 icon: 'file-signature', t: '任务租约', d: '租约到期由下一次队列领取回收；Worker 重启不丢任务' },&#10;            { icon: 'layer-group', t: '事务化结果提交', d: '任务结果、期状态、积分结算单事务落库（ADR-0007）' },&#10;            { icon: 'rotate-left', t: '失败重试复用候选', d: '沿用原 generation_id，已成功落盘的候选不重复烧 GPU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justifyContent: 'space-between' }}&gt;&#10;                    &lt;Box style={{ width: '38px', height: '38px', borderRadius: '11px', background: '#EFF4FE', justifyContent: 'center', alignItems: 'center' }}&gt;&#10;                        &lt;FAIcon name={c.icon} style={{ fill: '#2563EB', width: '17px', height: '17px' }} /&gt;&#10;                    &lt;/Box&gt;&#10;                    &lt;Box style={{ width: '24px', height: '24px', borderRadius: '12px', background: '#E9F9F2', justifyContent: 'center', alignItems: 'center' }}&gt;&#10;                        &lt;FAIcon name='check' style={{ fill: '#10B981', width: '12px', height: '12px' }} /&gt;&#10;                    &lt;/Box&gt;&#10;                &lt;/Box&gt;&#10;                &lt;Text style={{ fontSize: '16.5px', fontWeight: 'bold', color: '#0B1220' }}&gt;{c.t}&lt;/Text&gt;&#10;                &lt;Text style={{ fontSize: '12.5px', color: '#5B6B84', lineHeight: 1.65 }}&gt;{c.d}&lt;/Text&gt;&#10;            &lt;/Box&gt;&#10;        ))}&#10;    &lt;/Box&gt;&#10;&#10;    &lt;Box style={{ position: 'absolute', top: '330px', left: '64px', right: '64px', flexDirection: 'row', gap: '18px' }}&gt;&#10;        {[&#10;            { icon: 'power-off', t: '优雅停机', d: 'SIGTERM 停止领新任务，等待在跑任务收尾再退出' },&#10;            { icon: 'file-circle-check', t: '媒体完整性校验', d: '流式下载限 512 MiB；Pillow 验图、ffmpeg 验流，损坏即取消' },&#10;            { icon: 'broom', t: '过期产物清扫', d: 'Worker 每小时清理过期推理媒体与发布暂存，控磁盘水位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justifyContent: 'space-between' }}&gt;&#10;                    &lt;Box style={{ width: '38px', height: '38px', borderRadius: '11px', background: '#F5F1FE', justifyContent: 'center', alignItems: 'center' }}&gt;&#10;                        &lt;FAIcon name={c.icon} style={{ fill: '#7C3AED', width: '17px', height: '17px' }} /&gt;&#10;                    &lt;/Box&gt;&#10;                    &lt;Box style={{ width: '24px', height: '24px', borderRadius: '12px', background: '#E9F9F2', justifyContent: 'center', alignItems: 'center' }}&gt;&#10;                        &lt;FAIcon name='check' style={{ fill: '#10B981', width: '12px', height: '12px' }} /&gt;&#10;                    &lt;/Box&gt;&#10;                &lt;/Box&gt;&#10;                &lt;Text style={{ fontSize: '16.5px', fontWeight: 'bold', color: '#0B1220' }}&gt;{c.t}&lt;/Text&gt;&#10;                &lt;Text style={{ fontSize: '12.5px', color: '#5B6B84', lineHeight: 1.65 }}&gt;{c.d}&lt;/Text&gt;&#10;            &lt;/Box&gt;&#10;        ))}&#10;    &lt;/Box&gt;&#10;&#10;    &lt;Box style={{ position: 'absolute', top: '500px', left: '64px', right: '64px', padding: '22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rotate' style={{ fill: '#93C5FD', width: '21px', height: '21px' }} /&gt;&#10;        &lt;/Box&gt;&#10;        &lt;Box style={{ flex: 1, flexDirection: 'column', gap: '7px' }}&gt;&#10;            &lt;Text style={{ fontSize: '17px', fontWeight: 'bold', color: '#FFFFFF' }}&gt;设计原则&lt;/Text&gt;&#10;            &lt;Text style={{ fontSize: '13.5px', color: 'rgba(255,255,255,0.82)', lineHeight: 1.6 }}&gt;&#10;                失败是常态 —— 每条机制都让&lt;span style={{ color: '#93C5FD', fontWeight: 600 }}&gt;「重试」更便宜、更安全&lt;/span&gt;：不丢任务、不烧重复算力、不流出坏产物。&#10;            &lt;/Text&gt;&#10;        &lt;/Box&gt;&#10;    &lt;/Box&gt;&#10;&#10;    &lt;Box style={{ position: 'absolute', top: '634px', left: '64px', right: '64px', flexDirection: 'row', gap: '14px' }}&gt;&#10;        {['不丢任务', '不重复烧卡', '不出脏数据', '不中断生成', '不传坏文件', '不涨磁盘'].map((t, i) =&gt; (&#10;            &lt;Box key={i} style={{ flex: 1, padding: '9px 0', borderRadius: '9px', background: '#FFFFFF', border: '1px solid #E6EAF1', justifyContent: 'center', alignItems: 'center' }}&gt;&#10;                &lt;Text style={{ fontSize: '12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4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矩形 2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63" name="矩形 26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文本框 264" descr="{&quot;isTemplate&quot;:true,&quot;type&quot;:&quot;text&quot;}"/>
          <p:cNvSpPr txBox="1"/>
          <p:nvPr/>
        </p:nvSpPr>
        <p:spPr>
          <a:xfrm>
            <a:off x="10553700" y="409575"/>
            <a:ext cx="10287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ENGINEERING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609600" y="647700"/>
            <a:ext cx="3562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敢在现场重试的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六个设计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7" name="圆角矩形 266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68" name="圆角矩形 267"/>
          <p:cNvSpPr/>
          <p:nvPr/>
        </p:nvSpPr>
        <p:spPr>
          <a:xfrm>
            <a:off x="60960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69" name="圆角矩形 268"/>
          <p:cNvSpPr/>
          <p:nvPr/>
        </p:nvSpPr>
        <p:spPr>
          <a:xfrm>
            <a:off x="83820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70" name="图片 26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2975" y="1743075"/>
            <a:ext cx="161925" cy="161925"/>
          </a:xfrm>
          <a:prstGeom prst="rect">
            <a:avLst/>
          </a:prstGeom>
        </p:spPr>
      </p:pic>
      <p:sp>
        <p:nvSpPr>
          <p:cNvPr id="271" name="圆角矩形 270"/>
          <p:cNvSpPr/>
          <p:nvPr/>
        </p:nvSpPr>
        <p:spPr>
          <a:xfrm>
            <a:off x="369570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72" name="图片 27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52850" y="1762125"/>
            <a:ext cx="114300" cy="114300"/>
          </a:xfrm>
          <a:prstGeom prst="rect">
            <a:avLst/>
          </a:prstGeom>
        </p:spPr>
      </p:pic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83820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任务租约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83820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租约到期由下一次队列领取回收；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重启不丢任务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5" name="圆角矩形 274"/>
          <p:cNvSpPr/>
          <p:nvPr/>
        </p:nvSpPr>
        <p:spPr>
          <a:xfrm>
            <a:off x="432435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6" name="圆角矩形 275"/>
          <p:cNvSpPr/>
          <p:nvPr/>
        </p:nvSpPr>
        <p:spPr>
          <a:xfrm>
            <a:off x="455295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77" name="图片 27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7725" y="1743075"/>
            <a:ext cx="161925" cy="161925"/>
          </a:xfrm>
          <a:prstGeom prst="rect">
            <a:avLst/>
          </a:prstGeom>
        </p:spPr>
      </p:pic>
      <p:sp>
        <p:nvSpPr>
          <p:cNvPr id="278" name="圆角矩形 277"/>
          <p:cNvSpPr/>
          <p:nvPr/>
        </p:nvSpPr>
        <p:spPr>
          <a:xfrm>
            <a:off x="741045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79" name="图片 27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7600" y="1762125"/>
            <a:ext cx="114300" cy="114300"/>
          </a:xfrm>
          <a:prstGeom prst="rect">
            <a:avLst/>
          </a:prstGeom>
        </p:spPr>
      </p:pic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455295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事务化结果提交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455295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任务结果、期状态、积分结算单事务落库（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ADR-0007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2" name="圆角矩形 281"/>
          <p:cNvSpPr/>
          <p:nvPr/>
        </p:nvSpPr>
        <p:spPr>
          <a:xfrm>
            <a:off x="803910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3" name="圆角矩形 282"/>
          <p:cNvSpPr/>
          <p:nvPr/>
        </p:nvSpPr>
        <p:spPr>
          <a:xfrm>
            <a:off x="826770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84" name="图片 283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72475" y="1743075"/>
            <a:ext cx="161925" cy="161925"/>
          </a:xfrm>
          <a:prstGeom prst="rect">
            <a:avLst/>
          </a:prstGeom>
        </p:spPr>
      </p:pic>
      <p:sp>
        <p:nvSpPr>
          <p:cNvPr id="285" name="圆角矩形 284"/>
          <p:cNvSpPr/>
          <p:nvPr/>
        </p:nvSpPr>
        <p:spPr>
          <a:xfrm>
            <a:off x="1112520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86" name="图片 28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2350" y="1762125"/>
            <a:ext cx="114300" cy="114300"/>
          </a:xfrm>
          <a:prstGeom prst="rect">
            <a:avLst/>
          </a:prstGeom>
        </p:spPr>
      </p:pic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26770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失败重试复用候选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26770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沿用原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generation_id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，已成功落盘的候选不重复烧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GPU</a:t>
            </a:r>
            <a:endParaRPr lang="en-US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9" name="圆角矩形 288"/>
          <p:cNvSpPr/>
          <p:nvPr/>
        </p:nvSpPr>
        <p:spPr>
          <a:xfrm>
            <a:off x="609600" y="31432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0" name="圆角矩形 289"/>
          <p:cNvSpPr/>
          <p:nvPr/>
        </p:nvSpPr>
        <p:spPr>
          <a:xfrm>
            <a:off x="83820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91" name="图片 29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2975" y="3457575"/>
            <a:ext cx="161925" cy="161925"/>
          </a:xfrm>
          <a:prstGeom prst="rect">
            <a:avLst/>
          </a:prstGeom>
        </p:spPr>
      </p:pic>
      <p:sp>
        <p:nvSpPr>
          <p:cNvPr id="292" name="圆角矩形 291"/>
          <p:cNvSpPr/>
          <p:nvPr/>
        </p:nvSpPr>
        <p:spPr>
          <a:xfrm>
            <a:off x="369570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93" name="图片 29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52850" y="3476625"/>
            <a:ext cx="114300" cy="114300"/>
          </a:xfrm>
          <a:prstGeom prst="rect">
            <a:avLst/>
          </a:prstGeom>
        </p:spPr>
      </p:pic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820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优雅停机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838200" y="41148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SIGTERM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停止领新任务，等待在跑任务收尾再退出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6" name="圆角矩形 295"/>
          <p:cNvSpPr/>
          <p:nvPr/>
        </p:nvSpPr>
        <p:spPr>
          <a:xfrm>
            <a:off x="4324350" y="3143250"/>
            <a:ext cx="3543300" cy="1657350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7" name="圆角矩形 296"/>
          <p:cNvSpPr/>
          <p:nvPr/>
        </p:nvSpPr>
        <p:spPr>
          <a:xfrm>
            <a:off x="455295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98" name="图片 297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57725" y="3457575"/>
            <a:ext cx="161925" cy="161925"/>
          </a:xfrm>
          <a:prstGeom prst="rect">
            <a:avLst/>
          </a:prstGeom>
        </p:spPr>
      </p:pic>
      <p:sp>
        <p:nvSpPr>
          <p:cNvPr id="299" name="圆角矩形 298"/>
          <p:cNvSpPr/>
          <p:nvPr/>
        </p:nvSpPr>
        <p:spPr>
          <a:xfrm>
            <a:off x="741045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300" name="图片 29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7600" y="3476625"/>
            <a:ext cx="114300" cy="114300"/>
          </a:xfrm>
          <a:prstGeom prst="rect">
            <a:avLst/>
          </a:prstGeom>
        </p:spPr>
      </p:pic>
      <p:sp>
        <p:nvSpPr>
          <p:cNvPr id="301" name="文本框 300" descr="{&quot;isTemplate&quot;:true,&quot;type&quot;:&quot;text&quot;}"/>
          <p:cNvSpPr txBox="1"/>
          <p:nvPr/>
        </p:nvSpPr>
        <p:spPr>
          <a:xfrm>
            <a:off x="455295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媒体完整性校验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4552950" y="4114800"/>
            <a:ext cx="3086100" cy="476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流式下载限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512 MiB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Pillow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验图、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ffmpeg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验流，损坏即取消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3" name="圆角矩形 302"/>
          <p:cNvSpPr/>
          <p:nvPr/>
        </p:nvSpPr>
        <p:spPr>
          <a:xfrm>
            <a:off x="8039100" y="31432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304" name="圆角矩形 303"/>
          <p:cNvSpPr/>
          <p:nvPr/>
        </p:nvSpPr>
        <p:spPr>
          <a:xfrm>
            <a:off x="826770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305" name="图片 30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72475" y="3457575"/>
            <a:ext cx="161925" cy="161925"/>
          </a:xfrm>
          <a:prstGeom prst="rect">
            <a:avLst/>
          </a:prstGeom>
        </p:spPr>
      </p:pic>
      <p:sp>
        <p:nvSpPr>
          <p:cNvPr id="306" name="圆角矩形 305"/>
          <p:cNvSpPr/>
          <p:nvPr/>
        </p:nvSpPr>
        <p:spPr>
          <a:xfrm>
            <a:off x="1112520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307" name="图片 30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2350" y="3476625"/>
            <a:ext cx="114300" cy="114300"/>
          </a:xfrm>
          <a:prstGeom prst="rect">
            <a:avLst/>
          </a:prstGeom>
        </p:spPr>
      </p:pic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826770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过期产物清扫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8267700" y="41148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每小时清理过期推理媒体与发布暂存，控磁盘水位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0" name="圆角矩形 309"/>
          <p:cNvSpPr/>
          <p:nvPr/>
        </p:nvSpPr>
        <p:spPr>
          <a:xfrm>
            <a:off x="609600" y="4762500"/>
            <a:ext cx="10972800" cy="933450"/>
          </a:xfrm>
          <a:prstGeom prst="roundRect">
            <a:avLst>
              <a:gd name="adj" fmla="val 14286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1" name="圆角矩形 310"/>
          <p:cNvSpPr/>
          <p:nvPr/>
        </p:nvSpPr>
        <p:spPr>
          <a:xfrm>
            <a:off x="876300" y="5010150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2" name="图片 31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00125" y="5133975"/>
            <a:ext cx="200025" cy="200025"/>
          </a:xfrm>
          <a:prstGeom prst="rect">
            <a:avLst/>
          </a:prstGeom>
        </p:spPr>
      </p:pic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1543050" y="497205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设计原则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1543050" y="5238750"/>
            <a:ext cx="97726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失败是常态</a:t>
            </a:r>
            <a:r>
              <a:rPr lang="en-US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每条机制都让</a:t>
            </a:r>
            <a:r>
              <a:rPr lang="zh-CN" sz="101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「重试」更便宜、更安全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：不丢任务、不烧重复算力、不流出坏产物。</a:t>
            </a:r>
            <a:endParaRPr lang="zh-CN" sz="101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09600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1238250" y="612457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不丢任务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7" name="圆角矩形 316"/>
          <p:cNvSpPr/>
          <p:nvPr/>
        </p:nvSpPr>
        <p:spPr>
          <a:xfrm>
            <a:off x="2457450" y="6038850"/>
            <a:ext cx="1724025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303847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不重复烧卡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314825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0" name="文本框 319" descr="{&quot;isTemplate&quot;:true,&quot;type&quot;:&quot;text&quot;}"/>
          <p:cNvSpPr txBox="1"/>
          <p:nvPr/>
        </p:nvSpPr>
        <p:spPr>
          <a:xfrm>
            <a:off x="488632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不出脏数据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1" name="圆角矩形 320"/>
          <p:cNvSpPr/>
          <p:nvPr/>
        </p:nvSpPr>
        <p:spPr>
          <a:xfrm>
            <a:off x="6162675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73417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不中断生成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8010525" y="6038850"/>
            <a:ext cx="1724025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4" name="文本框 323" descr="{&quot;isTemplate&quot;:true,&quot;type&quot;:&quot;text&quot;}"/>
          <p:cNvSpPr txBox="1"/>
          <p:nvPr/>
        </p:nvSpPr>
        <p:spPr>
          <a:xfrm>
            <a:off x="8591550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不传坏文件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5" name="圆角矩形 324"/>
          <p:cNvSpPr/>
          <p:nvPr/>
        </p:nvSpPr>
        <p:spPr>
          <a:xfrm>
            <a:off x="9867900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6" name="文本框 325" descr="{&quot;isTemplate&quot;:true,&quot;type&quot;:&quot;text&quot;}"/>
          <p:cNvSpPr txBox="1"/>
          <p:nvPr/>
        </p:nvSpPr>
        <p:spPr>
          <a:xfrm>
            <a:off x="10496550" y="612457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不涨磁盘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7" name="圆角矩形 326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0" name="文本框 329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14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1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CREDITS &amp; COST&lt;/Text&gt;&#10;    &lt;/Box&gt;&#10;    &lt;Text style={{ position: 'absolute', top: '68px', left: '64px', fontSize: '34px', fontWeight: 'bold', color: '#0B1220' }}&gt;&#10;        动作级计价，&lt;span style={{ color: '#2563EB' }}&gt;原子预留、结算、释放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440px', padding: '20px 24px', background: '#FFFFFF', borderRadius: '14px', border: '1px solid #E6EAF1', flexDirection: 'column', gap: '4px' }}&gt;&#10;        &lt;Text style={{ fontSize: '15px', fontWeight: 'bold', color: '#0B1220', marginBottom: '6px' }}&gt;计价表&lt;/Text&gt;&#10;        {[&#10;            { t: '脚本生成', p: '1', u: '/ 次', icon: 'pen-nib' },&#10;            { t: '图片', p: '1', u: '/ 张', icon: 'image' },&#10;            { t: '视频', p: '10', u: '/ 段', icon: 'film', hl: true },&#10;            { t: '合成', p: '1', u: '/ 次', icon: 'clapperboard' },&#10;        ].map((r, i) =&gt; (&#10;            &lt;Box key={i} style={{ flexDirection: 'row', alignItems: 'center', gap: '12px', padding: '10px 12px', background: r.hl ? '#F5F1FE' : '#F6F8FB', borderRadius: '9px', marginBottom: '6px' }}&gt;&#10;                &lt;FAIcon name={r.icon} style={{ fill: r.hl ? '#7C3AED' : '#64748B', width: '15px', height: '15px' }} /&gt;&#10;                &lt;Text style={{ flex: 1, fontSize: '13.5px', fontWeight: 600, color: '#0B1220' }}&gt;{r.t}&lt;/Text&gt;&#10;                &lt;Text style={{ fontSize: '19px', fontWeight: 'bold', color: r.hl ? '#7C3AED' : '#2563EB' }}&gt;{r.p}&lt;/Text&gt;&#10;                &lt;Text style={{ fontSize: '11.5px', color: '#8A97AB', width: '30px' }}&gt;{r.u}&lt;/Text&gt;&#10;            &lt;/Box&gt;&#10;        ))}&#10;    &lt;/Box&gt;&#10;&#10;    &lt;Box style={{ position: 'absolute', top: '392px', left: '64px', width: '440px', padding: '18px 24px', background: '#FFFFFF', borderRadius: '14px', border: '1px solid #E6EAF1', flexDirection: 'column', gap: '12px' }}&gt;&#10;        {[&#10;            '积分由团队 CLI 发放，不接购买与支付',&#10;            '建期 / 阶段提交先预留，成功结算、失败释放',&#10;            '流水不可变且幂等；用量页按期按模型展示',&#10;        ].map((t, i) =&gt; (&#10;            &lt;Box key={i} style={{ flexDirection: 'row', alignItems: 'flex-start', gap: '10px' }}&gt;&#10;                &lt;FAIcon name='circle-check' style={{ fill: '#10B981', width: '14px', height: '14px', marginTop: '2px' }} /&gt;&#10;                &lt;Text style={{ flex: 1, fontSize: '12.5px', color: '#42536B', lineHeight: 1.55 }}&gt;{t}&lt;/Text&gt;&#10;            &lt;/Box&gt;&#10;        ))}&#10;    &lt;/Box&gt;&#10;&#10;    &lt;Box style={{ position: 'absolute', top: '150px', left: '528px', width: '688px', height: '436px', padding: '22px 30px', background: '#FFFFFF', borderRadius: '14px', border: '1px solid #E6EAF1', flexDirection: 'column' }}&gt;&#10;        &lt;Box style={{ flexDirection: 'row', justifyContent: 'space-between', alignItems: 'center' }}&gt;&#10;            &lt;Text style={{ fontSize: '15px', fontWeight: 'bold', color: '#0B1220' }}&gt;一期积分对比（按 28 镜估算）&lt;/Text&gt;&#10;            &lt;Text style={{ fontSize: '11.5px', color: '#8A97AB' }}&gt;直出路径省掉图片积分&lt;/Text&gt;&#10;        &lt;/Box&gt;&#10;&#10;        {[&#10;            { x: 30, v: 282, h: 131, t: '直出视频', hot: true },&#10;            { x: 189, v: 310, h: 144, t: '关键帧 ×1' },&#10;            { x: 348, v: 338, h: 157, t: '关键帧 ×2' },&#10;            { x: 507, v: 366, h: 170, t: '关键帧 ×3' },&#10;        ].map((b, i) =&gt; (&#10;            &lt;Box key={i}&gt;&#10;                &lt;Text style={{ position: 'absolute', left: `${b.x}px`, top: `${280 - b.h - 26}px`, width: '90px', textAlign: 'center', fontSize: '16px', fontWeight: 'bold', color: b.hot ? '#059669' : '#64748B' }}&gt;{b.v}&lt;/Text&gt;&#10;                &lt;Box style={{ position: 'absolute', left: `${b.x}px`, top: `${280 - b.h}px`, width: '90px', height: `${b.h}px`, borderRadius: '8px 8px 3px 3px', background: b.hot ? 'linear-gradient(180deg,#34D399 0%,#10B981 100%)' : 'linear-gradient(180deg,#DBE4F5 0%,#C9D5EA 100%)', boxShadow: b.hot ? '0 6px 18px rgba(16,185,129,0.3)' : 'none' }} /&gt;&#10;                &lt;Text style={{ position: 'absolute', left: `${b.x}px`, top: '290px', width: '90px', textAlign: 'center', fontSize: '12px', fontWeight: 600, color: b.hot ? '#0B1220' : '#8A97AB' }}&gt;{b.t}&lt;/Text&gt;&#10;            &lt;/Box&gt;&#10;        ))}&#10;        &lt;Box style={{ position: 'absolute', left: '30px', top: '280px', width: '567px', height: '2px', background: '#E6EAF1' }} /&gt;&#10;        &lt;Box style={{ position: 'absolute', left: '132px', top: '118px', padding: '5px 12px', borderRadius: '999px', background: '#E9F9F2', border: '1px solid #A7E8CF' }}&gt;&#10;            &lt;Text style={{ fontSize: '12px', fontWeight: 700, color: '#059669' }}&gt;较关键帧 ×3 省约 23%&lt;/Text&gt;&#10;        &lt;/Box&gt;&#10;        &lt;Text style={{ position: 'absolute', left: '30px', top: '318px', width: '567px', fontSize: '11.5px', color: '#8A97AB', lineHeight: 1.55 }}&gt;&#10;            GPU 用量另按「镜数 × 候选 × 单位成本 × 1.5」独立估算展示&#10;        &lt;/Text&gt;&#10;    &lt;/Box&gt;&#10;&#10;    &lt;Box style={{ position: 'absolute', top: '606px', left: '64px', right: '64px', padding: '15px 22px', borderRadius: '12px', background: 'linear-gradient(120deg,#0A1128 0%,#16233F 60%,#312E81 100%)', flexDirection: 'row', alignItems: 'center', gap: '12px', boxShadow: '0 8px 24px rgba(15,23,42,0.2)' }}&gt;&#10;        &lt;FAIcon name='sack-dollar' style={{ fill: '#93C5FD', width: '17px', height: '17px' }} /&gt;&#10;        &lt;Text style={{ fontSize: '13px', color: 'rgba(255,255,255,0.9)' }}&gt;&#10;            成本红线：&lt;span style={{ color: '#93C5FD', fontWeight: 700 }}&gt;整期所有环节都走国内 API 的费用上限 ¥20&lt;/span&gt; —— 团队预算约束，不是定价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5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矩形 3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333" name="矩形 33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10325100" y="409575"/>
            <a:ext cx="1257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CREDITS &amp; COST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6" name="文本框 335" descr="{&quot;isTemplate&quot;:true,&quot;type&quot;:&quot;text&quot;}"/>
          <p:cNvSpPr txBox="1"/>
          <p:nvPr/>
        </p:nvSpPr>
        <p:spPr>
          <a:xfrm>
            <a:off x="609600" y="647700"/>
            <a:ext cx="51816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动作级计价，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原子预留、结算、释放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7" name="圆角矩形 336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8" name="圆角矩形 337"/>
          <p:cNvSpPr/>
          <p:nvPr/>
        </p:nvSpPr>
        <p:spPr>
          <a:xfrm>
            <a:off x="609600" y="1428750"/>
            <a:ext cx="4191000" cy="2628900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838200" y="1619250"/>
            <a:ext cx="37338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计价表</a:t>
            </a:r>
            <a:endParaRPr lang="zh-CN" sz="11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0" name="圆角矩形 339"/>
          <p:cNvSpPr/>
          <p:nvPr/>
        </p:nvSpPr>
        <p:spPr>
          <a:xfrm>
            <a:off x="838200" y="1885950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41" name="图片 3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2019300"/>
            <a:ext cx="142875" cy="142875"/>
          </a:xfrm>
          <a:prstGeom prst="rect">
            <a:avLst/>
          </a:prstGeom>
        </p:spPr>
      </p:pic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1209675" y="2009775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脚本生成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3943350" y="1981200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文本框 343" descr="{&quot;isTemplate&quot;:true,&quot;type&quot;:&quot;text&quot;}"/>
          <p:cNvSpPr txBox="1"/>
          <p:nvPr/>
        </p:nvSpPr>
        <p:spPr>
          <a:xfrm>
            <a:off x="4171950" y="2028825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5" name="圆角矩形 344"/>
          <p:cNvSpPr/>
          <p:nvPr/>
        </p:nvSpPr>
        <p:spPr>
          <a:xfrm>
            <a:off x="838200" y="2390775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46" name="图片 34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2524125"/>
            <a:ext cx="142875" cy="142875"/>
          </a:xfrm>
          <a:prstGeom prst="rect">
            <a:avLst/>
          </a:prstGeom>
        </p:spPr>
      </p:pic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1209675" y="2514600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3943350" y="2486025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4171950" y="2533650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张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圆角矩形 349"/>
          <p:cNvSpPr/>
          <p:nvPr/>
        </p:nvSpPr>
        <p:spPr>
          <a:xfrm>
            <a:off x="838200" y="2895600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" y="3028950"/>
            <a:ext cx="142875" cy="14287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209675" y="3019425"/>
            <a:ext cx="25050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3829050" y="2990850"/>
            <a:ext cx="2286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sz="142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4171950" y="3038475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段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838200" y="3400425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56" name="图片 355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533775"/>
            <a:ext cx="142875" cy="142875"/>
          </a:xfrm>
          <a:prstGeom prst="rect">
            <a:avLst/>
          </a:prstGeom>
        </p:spPr>
      </p:pic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1209675" y="3524250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8" name="文本框 357" descr="{&quot;isTemplate&quot;:true,&quot;type&quot;:&quot;text&quot;}"/>
          <p:cNvSpPr txBox="1"/>
          <p:nvPr/>
        </p:nvSpPr>
        <p:spPr>
          <a:xfrm>
            <a:off x="3943350" y="3495675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4171950" y="3543300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0" name="圆角矩形 359"/>
          <p:cNvSpPr/>
          <p:nvPr/>
        </p:nvSpPr>
        <p:spPr>
          <a:xfrm>
            <a:off x="609600" y="3733800"/>
            <a:ext cx="4191000" cy="1257300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361" name="图片 36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3924300"/>
            <a:ext cx="133350" cy="133350"/>
          </a:xfrm>
          <a:prstGeom prst="rect">
            <a:avLst/>
          </a:prstGeom>
        </p:spPr>
      </p:pic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1066800" y="39052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积分由团队</a:t>
            </a:r>
            <a:r>
              <a:rPr lang="en-US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CLI </a:t>
            </a: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发放，不接购买与支付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63" name="图片 36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4267200"/>
            <a:ext cx="133350" cy="133350"/>
          </a:xfrm>
          <a:prstGeom prst="rect">
            <a:avLst/>
          </a:prstGeom>
        </p:spPr>
      </p:pic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1066800" y="42481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阶段提交先预留，成功结算、失败释放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65" name="图片 364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4610100"/>
            <a:ext cx="133350" cy="133350"/>
          </a:xfrm>
          <a:prstGeom prst="rect">
            <a:avLst/>
          </a:prstGeom>
        </p:spPr>
      </p:pic>
      <p:sp>
        <p:nvSpPr>
          <p:cNvPr id="366" name="文本框 365" descr="{&quot;isTemplate&quot;:true,&quot;type&quot;:&quot;text&quot;}"/>
          <p:cNvSpPr txBox="1"/>
          <p:nvPr/>
        </p:nvSpPr>
        <p:spPr>
          <a:xfrm>
            <a:off x="1066800" y="45910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流水不可变且幂等；用量页按期按模型展示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7" name="圆角矩形 366"/>
          <p:cNvSpPr/>
          <p:nvPr/>
        </p:nvSpPr>
        <p:spPr>
          <a:xfrm>
            <a:off x="5029200" y="1428750"/>
            <a:ext cx="6553200" cy="4152900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5314950" y="1638300"/>
            <a:ext cx="19812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一期积分对比（按</a:t>
            </a:r>
            <a:r>
              <a:rPr lang="en-US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28 </a:t>
            </a: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镜估算）</a:t>
            </a:r>
            <a:endParaRPr lang="zh-CN" sz="11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0201275" y="1657350"/>
            <a:ext cx="1095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直出路径省掉图片积分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5600700" y="2981325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282</a:t>
            </a:r>
            <a:endParaRPr lang="en-US" sz="1200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1" name="任意多边形 370"/>
          <p:cNvSpPr/>
          <p:nvPr/>
        </p:nvSpPr>
        <p:spPr>
          <a:xfrm>
            <a:off x="5600700" y="3228975"/>
            <a:ext cx="857250" cy="1247775"/>
          </a:xfrm>
          <a:custGeom>
            <a:avLst/>
            <a:gdLst/>
            <a:ahLst/>
            <a:cxnLst/>
            <a:pathLst>
              <a:path w="90" h="131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28"/>
                </a:lnTo>
                <a:cubicBezTo>
                  <a:pt x="90" y="130"/>
                  <a:pt x="89" y="131"/>
                  <a:pt x="87" y="131"/>
                </a:cubicBezTo>
                <a:lnTo>
                  <a:pt x="3" y="131"/>
                </a:lnTo>
                <a:cubicBezTo>
                  <a:pt x="1" y="131"/>
                  <a:pt x="0" y="130"/>
                  <a:pt x="0" y="128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34D399"/>
              </a:gs>
              <a:gs pos="100000">
                <a:srgbClr val="10B981"/>
              </a:gs>
            </a:gsLst>
            <a:lin ang="5400000" scaled="1"/>
          </a:gradFill>
          <a:effectLst>
            <a:outerShdw blurRad="171450" dist="57150" dir="5400000">
              <a:srgbClr val="10B981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5600700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直出视频</a:t>
            </a:r>
            <a:endParaRPr lang="zh-CN" sz="9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3" name="文本框 372" descr="{&quot;isTemplate&quot;:true,&quot;type&quot;:&quot;text&quot;}"/>
          <p:cNvSpPr txBox="1"/>
          <p:nvPr/>
        </p:nvSpPr>
        <p:spPr>
          <a:xfrm>
            <a:off x="7115175" y="2857500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310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4" name="任意多边形 373"/>
          <p:cNvSpPr/>
          <p:nvPr/>
        </p:nvSpPr>
        <p:spPr>
          <a:xfrm>
            <a:off x="7115175" y="3105150"/>
            <a:ext cx="857250" cy="1371600"/>
          </a:xfrm>
          <a:custGeom>
            <a:avLst/>
            <a:gdLst/>
            <a:ahLst/>
            <a:cxnLst/>
            <a:pathLst>
              <a:path w="90" h="144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41"/>
                </a:lnTo>
                <a:cubicBezTo>
                  <a:pt x="90" y="143"/>
                  <a:pt x="89" y="144"/>
                  <a:pt x="87" y="144"/>
                </a:cubicBezTo>
                <a:lnTo>
                  <a:pt x="3" y="144"/>
                </a:lnTo>
                <a:cubicBezTo>
                  <a:pt x="1" y="144"/>
                  <a:pt x="0" y="143"/>
                  <a:pt x="0" y="141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75" name="文本框 374" descr="{&quot;isTemplate&quot;:true,&quot;type&quot;:&quot;text&quot;}"/>
          <p:cNvSpPr txBox="1"/>
          <p:nvPr/>
        </p:nvSpPr>
        <p:spPr>
          <a:xfrm>
            <a:off x="7115175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×1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8629650" y="2733675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338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7" name="任意多边形 376"/>
          <p:cNvSpPr/>
          <p:nvPr/>
        </p:nvSpPr>
        <p:spPr>
          <a:xfrm>
            <a:off x="8629650" y="2981325"/>
            <a:ext cx="857250" cy="1495425"/>
          </a:xfrm>
          <a:custGeom>
            <a:avLst/>
            <a:gdLst/>
            <a:ahLst/>
            <a:cxnLst/>
            <a:pathLst>
              <a:path w="90" h="157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54"/>
                </a:lnTo>
                <a:cubicBezTo>
                  <a:pt x="90" y="156"/>
                  <a:pt x="89" y="157"/>
                  <a:pt x="87" y="157"/>
                </a:cubicBezTo>
                <a:lnTo>
                  <a:pt x="3" y="157"/>
                </a:lnTo>
                <a:cubicBezTo>
                  <a:pt x="1" y="157"/>
                  <a:pt x="0" y="156"/>
                  <a:pt x="0" y="154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8629650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×2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9" name="文本框 378" descr="{&quot;isTemplate&quot;:true,&quot;type&quot;:&quot;text&quot;}"/>
          <p:cNvSpPr txBox="1"/>
          <p:nvPr/>
        </p:nvSpPr>
        <p:spPr>
          <a:xfrm>
            <a:off x="10144125" y="2609850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366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0" name="任意多边形 379"/>
          <p:cNvSpPr/>
          <p:nvPr/>
        </p:nvSpPr>
        <p:spPr>
          <a:xfrm>
            <a:off x="10144125" y="2857500"/>
            <a:ext cx="857250" cy="1619250"/>
          </a:xfrm>
          <a:custGeom>
            <a:avLst/>
            <a:gdLst/>
            <a:ahLst/>
            <a:cxnLst/>
            <a:pathLst>
              <a:path w="90" h="170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67"/>
                </a:lnTo>
                <a:cubicBezTo>
                  <a:pt x="90" y="169"/>
                  <a:pt x="89" y="170"/>
                  <a:pt x="87" y="170"/>
                </a:cubicBezTo>
                <a:lnTo>
                  <a:pt x="3" y="170"/>
                </a:lnTo>
                <a:cubicBezTo>
                  <a:pt x="1" y="170"/>
                  <a:pt x="0" y="169"/>
                  <a:pt x="0" y="167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81" name="文本框 380" descr="{&quot;isTemplate&quot;:true,&quot;type&quot;:&quot;text&quot;}"/>
          <p:cNvSpPr txBox="1"/>
          <p:nvPr/>
        </p:nvSpPr>
        <p:spPr>
          <a:xfrm>
            <a:off x="10144125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×3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2" name="矩形 381"/>
          <p:cNvSpPr/>
          <p:nvPr/>
        </p:nvSpPr>
        <p:spPr>
          <a:xfrm>
            <a:off x="5600700" y="4470400"/>
            <a:ext cx="5400675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383" name="圆角矩形 382"/>
          <p:cNvSpPr/>
          <p:nvPr/>
        </p:nvSpPr>
        <p:spPr>
          <a:xfrm>
            <a:off x="10029825" y="1933575"/>
            <a:ext cx="1428750" cy="238125"/>
          </a:xfrm>
          <a:prstGeom prst="roundRect">
            <a:avLst>
              <a:gd name="adj" fmla="val 399600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384" name="文本框 383" descr="{&quot;isTemplate&quot;:true,&quot;type&quot;:&quot;text&quot;}"/>
          <p:cNvSpPr txBox="1"/>
          <p:nvPr/>
        </p:nvSpPr>
        <p:spPr>
          <a:xfrm>
            <a:off x="10144125" y="1981200"/>
            <a:ext cx="12001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较关键帧</a:t>
            </a:r>
            <a:r>
              <a:rPr lang="en-US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 ×3 </a:t>
            </a:r>
            <a:r>
              <a:rPr lang="zh-CN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省约</a:t>
            </a:r>
            <a:r>
              <a:rPr lang="en-US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 23%</a:t>
            </a:r>
            <a:endParaRPr lang="en-US" sz="900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5" name="文本框 384" descr="{&quot;isTemplate&quot;:true,&quot;type&quot;:&quot;text&quot;}"/>
          <p:cNvSpPr txBox="1"/>
          <p:nvPr/>
        </p:nvSpPr>
        <p:spPr>
          <a:xfrm>
            <a:off x="5600700" y="4893310"/>
            <a:ext cx="5400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GPU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用量另按「镜数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候选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单位成本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1.5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」独立估算展示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6" name="圆角矩形 385"/>
          <p:cNvSpPr/>
          <p:nvPr/>
        </p:nvSpPr>
        <p:spPr>
          <a:xfrm>
            <a:off x="609600" y="5772150"/>
            <a:ext cx="10972800" cy="447675"/>
          </a:xfrm>
          <a:prstGeom prst="roundRect">
            <a:avLst>
              <a:gd name="adj" fmla="val 25532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28600" dist="76200" dir="5400000">
              <a:srgbClr val="0F172A">
                <a:alpha val="20000"/>
              </a:srgbClr>
            </a:outerShdw>
          </a:effectLst>
        </p:spPr>
        <p:txBody>
          <a:bodyPr/>
          <a:p/>
        </p:txBody>
      </p:sp>
      <p:pic>
        <p:nvPicPr>
          <p:cNvPr id="387" name="图片 386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9150" y="5915025"/>
            <a:ext cx="161925" cy="161925"/>
          </a:xfrm>
          <a:prstGeom prst="rect">
            <a:avLst/>
          </a:prstGeom>
        </p:spPr>
      </p:pic>
      <p:sp>
        <p:nvSpPr>
          <p:cNvPr id="388" name="文本框 387" descr="{&quot;isTemplate&quot;:true,&quot;type&quot;:&quot;text&quot;}"/>
          <p:cNvSpPr txBox="1"/>
          <p:nvPr/>
        </p:nvSpPr>
        <p:spPr>
          <a:xfrm>
            <a:off x="1095375" y="5924550"/>
            <a:ext cx="4743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成本红线：</a:t>
            </a:r>
            <a:r>
              <a:rPr lang="zh-CN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整期所有环节都走国内</a:t>
            </a:r>
            <a:r>
              <a:rPr lang="en-US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API </a:t>
            </a:r>
            <a:r>
              <a:rPr lang="zh-CN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的费用上限</a:t>
            </a:r>
            <a:r>
              <a:rPr lang="en-US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¥20</a:t>
            </a:r>
            <a:r>
              <a:rPr lang="en-US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团队预算约束，不是定价</a:t>
            </a:r>
            <a:endParaRPr lang="zh-CN" sz="975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9" name="圆角矩形 388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90" name="文本框 389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1" name="文本框 390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2" name="文本框 391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15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3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COMPLIANCE &amp; SAFETY&lt;/Text&gt;&#10;    &lt;/Box&gt;&#10;    &lt;Text style={{ position: 'absolute', top: '68px', left: '64px', fontSize: '34px', fontWeight: 'bold', color: '#0B1220' }}&gt;&#10;        成片&lt;span style={{ color: '#2563EB' }}&gt;可溯源&lt;/span&gt;，内容&lt;span style={{ color: '#7C3AED' }}&gt;有护栏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&#10;                icon: 'certificate', c: '#2563EB', bg: '#EFF4FE', bd: '#C7D7FA', t: 'AI 标识（显式 + 隐式）',&#10;                d: '右下角半透明「AI 生成 · 虚构角色 · 真实目的地」水印 + 文件元数据；模型自带 SynthID / C2PA 不剥离，符合 2025-09 施行的《人工智能生成合成内容标识办法》',&#10;                tag: '合规底线',&#10;            },&#10;            {&#10;                icon: 'ban', c: '#DC2626', bg: '#FDECEC', bd: '#F5C2C2', t: '内容拦截',&#10;                d: 'prompt 层关键词黑名单，命中即拒绝并提示修改创作要求',&#10;                tag: '源头阻断',&#10;            },&#10;        ].map((c, i) =&gt; (&#10;            &lt;Box key={i} style={{ flex: 1, padding: '24px 26px', background: '#FFFFFF', borderRadius: '14px', border: '1px solid #E6EAF1', boxShadow: '0 2px 12px rgba(15,23,42,0.04)', flexDirection: 'column', gap: '12px' }}&gt;&#10;                &lt;Box style={{ flexDirection: 'row', alignItems: 'center', justifyContent: 'space-between' }}&gt;&#10;                    &lt;Box style={{ width: '40px', height: '40px', borderRadius: '12px', background: c.bg, border: `1px solid ${c.bd}`, justifyContent: 'center', alignItems: 'center' }}&gt;&#10;                        &lt;FAIcon name={c.icon} style={{ fill: c.c, width: '18px', height: '18px' }} /&gt;&#10;                    &lt;/Box&gt;&#10;                    &lt;Text style={{ fontSize: '11px', fontWeight: 700, color: c.c, letterSpacing: '1px' }}&gt;{c.tag}&lt;/Text&gt;&#10;                &lt;/Box&gt;&#10;                &lt;Text style={{ fontSize: '17px', fontWeight: 'bold', color: '#0B1220' }}&gt;{c.t}&lt;/Text&gt;&#10;                &lt;Text style={{ fontSize: '12.5px', color: '#5B6B84', lineHeight: 1.7 }}&gt;{c.d}&lt;/Text&gt;&#10;            &lt;/Box&gt;&#10;        ))}&#10;    &lt;/Box&gt;&#10;&#10;    &lt;Box style={{ position: 'absolute', top: '392px', left: '64px', right: '64px', flexDirection: 'row', gap: '18px' }}&gt;&#10;        {[&#10;            {&#10;                icon: 'lock', c: '#7C3AED', bg: '#F5F1FE', bd: '#DDD0FA', t: '数据隔离',&#10;                d: '多租户行级 owner_id 过滤；密钥只在 worker / 推理侧；分享页不含账号信息',&#10;                tag: '隐私保护',&#10;            },&#10;            {&#10;                icon: 'scale-balanced', c: '#10B981', bg: '#E9F9F2', bd: '#A7E8CF', t: '版权与保真',&#10;                d: '音乐只用授权曲库；不生成他人商标；私营店铺一律虚构；地标失真属质量红线',&#10;                tag: '内容可信',&#10;            },&#10;        ].map((c, i) =&gt; (&#10;            &lt;Box key={i} style={{ flex: 1, padding: '24px 26px', background: '#FFFFFF', borderRadius: '14px', border: '1px solid #E6EAF1', boxShadow: '0 2px 12px rgba(15,23,42,0.04)', flexDirection: 'column', gap: '12px' }}&gt;&#10;                &lt;Box style={{ flexDirection: 'row', alignItems: 'center', justifyContent: 'space-between' }}&gt;&#10;                    &lt;Box style={{ width: '40px', height: '40px', borderRadius: '12px', background: c.bg, border: `1px solid ${c.bd}`, justifyContent: 'center', alignItems: 'center' }}&gt;&#10;                        &lt;FAIcon name={c.icon} style={{ fill: c.c, width: '18px', height: '18px' }} /&gt;&#10;                    &lt;/Box&gt;&#10;                    &lt;Text style={{ fontSize: '11px', fontWeight: 700, color: c.c, letterSpacing: '1px' }}&gt;{c.tag}&lt;/Text&gt;&#10;                &lt;/Box&gt;&#10;                &lt;Text style={{ fontSize: '17px', fontWeight: 'bold', color: '#0B1220' }}&gt;{c.t}&lt;/Text&gt;&#10;                &lt;Text style={{ fontSize: '12.5px', color: '#5B6B84', lineHeight: 1.7 }}&gt;{c.d}&lt;/Text&gt;&#10;            &lt;/Box&gt;&#10;        ))}&#10;    &lt;/Box&gt;&#10;&#10;    &lt;Box style={{ position: 'absolute', top: '626px', left: '64px', right: '64px', flexDirection: 'row', gap: '14px' }}&gt;&#10;        {['显式水印', '隐式元数据', 'SynthID / C2PA', '关键词黑名单', '行级数据隔离', '授权曲库'].map((t, i) =&gt; (&#10;            &lt;Box key={i} style={{ flex: 1, padding: '9px 0', borderRadius: '9px', background: '#FFFFFF', border: '1px solid #E6EAF1', justifyContent: 'center', alignItems: 'center' }}&gt;&#10;                &lt;Text style={{ fontSize: '11.5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6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矩形 39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395" name="矩形 394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96" name="文本框 395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7" name="文本框 396" descr="{&quot;isTemplate&quot;:true,&quot;type&quot;:&quot;text&quot;}"/>
          <p:cNvSpPr txBox="1"/>
          <p:nvPr/>
        </p:nvSpPr>
        <p:spPr>
          <a:xfrm>
            <a:off x="9820275" y="409575"/>
            <a:ext cx="1762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COMPLIANCE &amp; SAFETY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8" name="文本框 397" descr="{&quot;isTemplate&quot;:true,&quot;type&quot;:&quot;text&quot;}"/>
          <p:cNvSpPr txBox="1"/>
          <p:nvPr/>
        </p:nvSpPr>
        <p:spPr>
          <a:xfrm>
            <a:off x="609600" y="647700"/>
            <a:ext cx="3562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成片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可溯源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，内容</a:t>
            </a:r>
            <a:r>
              <a:rPr lang="zh-CN" sz="2550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有护栏</a:t>
            </a:r>
            <a:endParaRPr lang="zh-CN" sz="2550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9" name="圆角矩形 398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00" name="圆角矩形 399"/>
          <p:cNvSpPr/>
          <p:nvPr/>
        </p:nvSpPr>
        <p:spPr>
          <a:xfrm>
            <a:off x="609600" y="1428750"/>
            <a:ext cx="5400675" cy="175260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01" name="圆角矩形 400"/>
          <p:cNvSpPr/>
          <p:nvPr/>
        </p:nvSpPr>
        <p:spPr>
          <a:xfrm>
            <a:off x="857250" y="165735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402" name="图片 40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2025" y="1762125"/>
            <a:ext cx="171450" cy="171450"/>
          </a:xfrm>
          <a:prstGeom prst="rect">
            <a:avLst/>
          </a:prstGeom>
        </p:spPr>
      </p:pic>
      <p:sp>
        <p:nvSpPr>
          <p:cNvPr id="403" name="文本框 402" descr="{&quot;isTemplate&quot;:true,&quot;type&quot;:&quot;text&quot;}"/>
          <p:cNvSpPr txBox="1"/>
          <p:nvPr/>
        </p:nvSpPr>
        <p:spPr>
          <a:xfrm>
            <a:off x="5305425" y="178117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合规底线</a:t>
            </a:r>
            <a:endParaRPr lang="zh-CN" sz="825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4" name="文本框 403" descr="{&quot;isTemplate&quot;:true,&quot;type&quot;:&quot;text&quot;}"/>
          <p:cNvSpPr txBox="1"/>
          <p:nvPr/>
        </p:nvSpPr>
        <p:spPr>
          <a:xfrm>
            <a:off x="857250" y="215265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标识（显式</a:t>
            </a:r>
            <a:r>
              <a:rPr lang="en-US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隐式）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5" name="文本框 404" descr="{&quot;isTemplate&quot;:true,&quot;type&quot;:&quot;text&quot;}"/>
          <p:cNvSpPr txBox="1"/>
          <p:nvPr/>
        </p:nvSpPr>
        <p:spPr>
          <a:xfrm>
            <a:off x="857250" y="2466975"/>
            <a:ext cx="4905375" cy="4857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右下角半透明「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生成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虚构角色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真实目的地」水印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文件元数据；模型自带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SynthID / C2PA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不剥离，符合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2025-09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施行的《人工智能生成合成内容标识办法》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6" name="圆角矩形 405"/>
          <p:cNvSpPr/>
          <p:nvPr/>
        </p:nvSpPr>
        <p:spPr>
          <a:xfrm>
            <a:off x="6181725" y="1428750"/>
            <a:ext cx="5400675" cy="175260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07" name="圆角矩形 406"/>
          <p:cNvSpPr/>
          <p:nvPr/>
        </p:nvSpPr>
        <p:spPr>
          <a:xfrm>
            <a:off x="6429375" y="165735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 w="12700">
            <a:solidFill>
              <a:srgbClr val="F5C2C2"/>
            </a:solidFill>
            <a:prstDash val="solid"/>
          </a:ln>
        </p:spPr>
        <p:txBody>
          <a:bodyPr/>
          <a:p/>
        </p:txBody>
      </p:sp>
      <p:pic>
        <p:nvPicPr>
          <p:cNvPr id="408" name="图片 40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4150" y="1762125"/>
            <a:ext cx="171450" cy="171450"/>
          </a:xfrm>
          <a:prstGeom prst="rect">
            <a:avLst/>
          </a:prstGeom>
        </p:spPr>
      </p:pic>
      <p:sp>
        <p:nvSpPr>
          <p:cNvPr id="409" name="文本框 408" descr="{&quot;isTemplate&quot;:true,&quot;type&quot;:&quot;text&quot;}"/>
          <p:cNvSpPr txBox="1"/>
          <p:nvPr/>
        </p:nvSpPr>
        <p:spPr>
          <a:xfrm>
            <a:off x="10877550" y="178117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源头阻断</a:t>
            </a:r>
            <a:endParaRPr lang="zh-CN" sz="825" b="1" spc="75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0" name="文本框 409" descr="{&quot;isTemplate&quot;:true,&quot;type&quot;:&quot;text&quot;}"/>
          <p:cNvSpPr txBox="1"/>
          <p:nvPr/>
        </p:nvSpPr>
        <p:spPr>
          <a:xfrm>
            <a:off x="6429375" y="215265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内容拦截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1" name="文本框 410" descr="{&quot;isTemplate&quot;:true,&quot;type&quot;:&quot;text&quot;}"/>
          <p:cNvSpPr txBox="1"/>
          <p:nvPr/>
        </p:nvSpPr>
        <p:spPr>
          <a:xfrm>
            <a:off x="6429375" y="246697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prompt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层关键词黑名单，命中即拒绝并提示修改创作要求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2" name="圆角矩形 411"/>
          <p:cNvSpPr/>
          <p:nvPr/>
        </p:nvSpPr>
        <p:spPr>
          <a:xfrm>
            <a:off x="609600" y="3733800"/>
            <a:ext cx="5400675" cy="1514475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13" name="圆角矩形 412"/>
          <p:cNvSpPr/>
          <p:nvPr/>
        </p:nvSpPr>
        <p:spPr>
          <a:xfrm>
            <a:off x="857250" y="396240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F5F1FE"/>
          </a:solidFill>
          <a:ln w="12700">
            <a:solidFill>
              <a:srgbClr val="DDD0FA"/>
            </a:solidFill>
            <a:prstDash val="solid"/>
          </a:ln>
        </p:spPr>
        <p:txBody>
          <a:bodyPr/>
          <a:p/>
        </p:txBody>
      </p:sp>
      <p:pic>
        <p:nvPicPr>
          <p:cNvPr id="414" name="图片 41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2025" y="4067175"/>
            <a:ext cx="171450" cy="171450"/>
          </a:xfrm>
          <a:prstGeom prst="rect">
            <a:avLst/>
          </a:prstGeom>
        </p:spPr>
      </p:pic>
      <p:sp>
        <p:nvSpPr>
          <p:cNvPr id="415" name="文本框 414" descr="{&quot;isTemplate&quot;:true,&quot;type&quot;:&quot;text&quot;}"/>
          <p:cNvSpPr txBox="1"/>
          <p:nvPr/>
        </p:nvSpPr>
        <p:spPr>
          <a:xfrm>
            <a:off x="5305425" y="408622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隐私保护</a:t>
            </a:r>
            <a:endParaRPr lang="zh-CN" sz="825" b="1" spc="75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6" name="文本框 415" descr="{&quot;isTemplate&quot;:true,&quot;type&quot;:&quot;text&quot;}"/>
          <p:cNvSpPr txBox="1"/>
          <p:nvPr/>
        </p:nvSpPr>
        <p:spPr>
          <a:xfrm>
            <a:off x="857250" y="445770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数据隔离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7" name="文本框 416" descr="{&quot;isTemplate&quot;:true,&quot;type&quot;:&quot;text&quot;}"/>
          <p:cNvSpPr txBox="1"/>
          <p:nvPr/>
        </p:nvSpPr>
        <p:spPr>
          <a:xfrm>
            <a:off x="857250" y="477202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多租户行级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owner_id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过滤；密钥只在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worker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推理侧；分享页不含账号信息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8" name="圆角矩形 417"/>
          <p:cNvSpPr/>
          <p:nvPr/>
        </p:nvSpPr>
        <p:spPr>
          <a:xfrm>
            <a:off x="6181725" y="3733800"/>
            <a:ext cx="5400675" cy="1514475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19" name="圆角矩形 418"/>
          <p:cNvSpPr/>
          <p:nvPr/>
        </p:nvSpPr>
        <p:spPr>
          <a:xfrm>
            <a:off x="6429375" y="396240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pic>
        <p:nvPicPr>
          <p:cNvPr id="420" name="图片 419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4150" y="4067175"/>
            <a:ext cx="171450" cy="171450"/>
          </a:xfrm>
          <a:prstGeom prst="rect">
            <a:avLst/>
          </a:prstGeom>
        </p:spPr>
      </p:pic>
      <p:sp>
        <p:nvSpPr>
          <p:cNvPr id="421" name="文本框 420" descr="{&quot;isTemplate&quot;:true,&quot;type&quot;:&quot;text&quot;}"/>
          <p:cNvSpPr txBox="1"/>
          <p:nvPr/>
        </p:nvSpPr>
        <p:spPr>
          <a:xfrm>
            <a:off x="10877550" y="408622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内容可信</a:t>
            </a:r>
            <a:endParaRPr lang="zh-CN" sz="825" b="1" spc="75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2" name="文本框 421" descr="{&quot;isTemplate&quot;:true,&quot;type&quot;:&quot;text&quot;}"/>
          <p:cNvSpPr txBox="1"/>
          <p:nvPr/>
        </p:nvSpPr>
        <p:spPr>
          <a:xfrm>
            <a:off x="6429375" y="445770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版权与保真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3" name="文本框 422" descr="{&quot;isTemplate&quot;:true,&quot;type&quot;:&quot;text&quot;}"/>
          <p:cNvSpPr txBox="1"/>
          <p:nvPr/>
        </p:nvSpPr>
        <p:spPr>
          <a:xfrm>
            <a:off x="6429375" y="477202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音乐只用授权曲库；不生成他人商标；私营店铺一律虚构；地标失真属质量红线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4" name="圆角矩形 423"/>
          <p:cNvSpPr/>
          <p:nvPr/>
        </p:nvSpPr>
        <p:spPr>
          <a:xfrm>
            <a:off x="609600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5" name="文本框 424" descr="{&quot;isTemplate&quot;:true,&quot;type&quot;:&quot;text&quot;}"/>
          <p:cNvSpPr txBox="1"/>
          <p:nvPr/>
        </p:nvSpPr>
        <p:spPr>
          <a:xfrm>
            <a:off x="1247775" y="6048375"/>
            <a:ext cx="438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显式水印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6" name="圆角矩形 425"/>
          <p:cNvSpPr/>
          <p:nvPr/>
        </p:nvSpPr>
        <p:spPr>
          <a:xfrm>
            <a:off x="2457450" y="59626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7" name="文本框 426" descr="{&quot;isTemplate&quot;:true,&quot;type&quot;:&quot;text&quot;}"/>
          <p:cNvSpPr txBox="1"/>
          <p:nvPr/>
        </p:nvSpPr>
        <p:spPr>
          <a:xfrm>
            <a:off x="3048000" y="6048375"/>
            <a:ext cx="552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隐式元数据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8" name="圆角矩形 427"/>
          <p:cNvSpPr/>
          <p:nvPr/>
        </p:nvSpPr>
        <p:spPr>
          <a:xfrm>
            <a:off x="4314825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9" name="文本框 428" descr="{&quot;isTemplate&quot;:true,&quot;type&quot;:&quot;text&quot;}"/>
          <p:cNvSpPr txBox="1"/>
          <p:nvPr/>
        </p:nvSpPr>
        <p:spPr>
          <a:xfrm>
            <a:off x="4752975" y="6048375"/>
            <a:ext cx="8477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SynthID / C2PA</a:t>
            </a:r>
            <a:endParaRPr lang="en-US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0" name="圆角矩形 429"/>
          <p:cNvSpPr/>
          <p:nvPr/>
        </p:nvSpPr>
        <p:spPr>
          <a:xfrm>
            <a:off x="6162675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1" name="文本框 430" descr="{&quot;isTemplate&quot;:true,&quot;type&quot;:&quot;text&quot;}"/>
          <p:cNvSpPr txBox="1"/>
          <p:nvPr/>
        </p:nvSpPr>
        <p:spPr>
          <a:xfrm>
            <a:off x="6696075" y="60483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关键词黑名单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2" name="圆角矩形 431"/>
          <p:cNvSpPr/>
          <p:nvPr/>
        </p:nvSpPr>
        <p:spPr>
          <a:xfrm>
            <a:off x="8010525" y="59626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3" name="文本框 432" descr="{&quot;isTemplate&quot;:true,&quot;type&quot;:&quot;text&quot;}"/>
          <p:cNvSpPr txBox="1"/>
          <p:nvPr/>
        </p:nvSpPr>
        <p:spPr>
          <a:xfrm>
            <a:off x="8543925" y="60483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行级数据隔离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4" name="圆角矩形 433"/>
          <p:cNvSpPr/>
          <p:nvPr/>
        </p:nvSpPr>
        <p:spPr>
          <a:xfrm>
            <a:off x="9867900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5" name="文本框 434" descr="{&quot;isTemplate&quot;:true,&quot;type&quot;:&quot;text&quot;}"/>
          <p:cNvSpPr txBox="1"/>
          <p:nvPr/>
        </p:nvSpPr>
        <p:spPr>
          <a:xfrm>
            <a:off x="10506075" y="6048375"/>
            <a:ext cx="438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授权曲库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6" name="圆角矩形 43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37" name="文本框 43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8" name="文本框 43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16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0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4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4 · SHOW TIME&lt;/Text&gt;&#10;        &lt;/Box&gt;&#10;        &lt;Text style={{ fontSize: '58px', fontWeight: 'bold', color: '#FFFFFF', lineHeight: 1.15, letterSpacing: '-1px' }}&gt;&#10;            现场演示&#10;        &lt;/Text&gt;&#10;        &lt;Text style={{ fontSize: '17px', color: 'rgba(255,255,255,0.72)', lineHeight: 1.7 }}&gt;&#10;            六步走完一条片，全程可干预。&#10;        &lt;/Text&gt;&#10;    &lt;/Box&gt;&#10;&#10;    &lt;Box style={{ position: 'absolute', top: '470px', left: '88px', width: '640px', flexDirection: 'column', gap: '16px' }}&gt;&#10;        {[&#10;            '新建一期 → 审核 1 · 脚本 → 视频生成',&#10;            '审核 3 · 片段 → 合成设置 → 下载与分享',&#10;            '预计 10–15 分钟；备用：同角色已完成的多期成片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3 ? '26px' : '8px', height: '8px', borderRadius: '4px', background: i === 3 ? '#60A5FA' : 'rgba(255,255,255,0.25)' }} /&gt;&#10;                &lt;Text style={{ fontSize: '11px', color: i === 3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17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矩形 44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442" name="矩形 4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443" name="矩形 4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444" name="任意多边形 443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45" name="任意多边形 444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46" name="文本框 445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7" name="矩形 446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448" name="文本框 447" descr="{&quot;isTemplate&quot;:true,&quot;type&quot;:&quot;text&quot;}"/>
          <p:cNvSpPr txBox="1"/>
          <p:nvPr/>
        </p:nvSpPr>
        <p:spPr>
          <a:xfrm>
            <a:off x="1295400" y="1905000"/>
            <a:ext cx="2609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04 · SHOW TIME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0" name="文本框 449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六步走完一条片，全程可干预。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1" name="圆角矩形 450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1028700" y="4476750"/>
            <a:ext cx="2419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新建一期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4" name="文本框 453" descr="{&quot;isTemplate&quot;:true,&quot;type&quot;:&quot;text&quot;}"/>
          <p:cNvSpPr txBox="1"/>
          <p:nvPr/>
        </p:nvSpPr>
        <p:spPr>
          <a:xfrm>
            <a:off x="1028700" y="4800600"/>
            <a:ext cx="2562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下载与分享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5" name="圆角矩形 454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1028700" y="5124450"/>
            <a:ext cx="3219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预计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10–15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分钟；备用：同角色已完成的多期成片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7" name="圆角矩形 456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13049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4763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177165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94310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2238375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5" name="文本框 464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17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7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4 · 现场演示&lt;/Text&gt;&#10;        &lt;Text style={{ fontSize: '11px', color: '#8A97AB', letterSpacing: '3px' }}&gt;LIVE DEMO&lt;/Text&gt;&#10;    &lt;/Box&gt;&#10;    &lt;Text style={{ position: 'absolute', top: '68px', left: '64px', fontSize: '34px', fontWeight: 'bold', color: '#0B1220' }}&gt;&#10;        六步走完一条片，&lt;span style={{ color: '#2563EB' }}&gt;全程可干预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6px' }}&gt;&#10;        {[&#10;            { n: '1', t: '新建一期', d: '选官方角色 + 灵山大佛，9:16，直出方式，看实时预估积分' },&#10;            { n: '2', t: '审核 1 · 脚本', d: '改一镜字幕、删一镜；写优化指令重生成' },&#10;            { n: '3', t: '视频生成', d: '素材检查后双参考直出；进度页轮询任务状态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gap: '12px' }}&gt;&#10;                    &lt;Box style={{ width: '34px', height: '34px', borderRadius: '17px', background: 'linear-gradient(135deg,#2563EB,#7C3AED)', justifyContent: 'center', alignItems: 'center' }}&gt;&#10;                        &lt;Text style={{ fontSize: '15px', fontWeight: 'bold', color: '#FFFFFF' }}&gt;{c.n}&lt;/Text&gt;&#10;                    &lt;/Box&gt;&#10;                    &lt;Text style={{ fontSize: '16.5px', fontWeight: 'bold', color: '#0B1220' }}&gt;{c.t}&lt;/Text&gt;&#10;                &lt;/Box&gt;&#10;                &lt;Text style={{ fontSize: '12.5px', color: '#5B6B84', lineHeight: 1.65 }}&gt;{c.d}&lt;/Text&gt;&#10;            &lt;/Box&gt;&#10;        ))}&#10;    &lt;/Box&gt;&#10;&#10;    &lt;Box style={{ position: 'absolute', top: '310px', left: '64px', right: '64px', flexDirection: 'row', gap: '16px' }}&gt;&#10;        {[&#10;            { n: '4', t: '审核 3 · 片段', d: '拖滑块选 1 秒；勾五项质量红线；标一镜坏镜重生成' },&#10;            { n: '5', t: '合成设置 → 成片', d: '标题 + 配乐 + 字幕确认后开始合成；ffprobe 验证后交付' },&#10;            { n: '6', t: '下载与分享', d: '播放成片、下载 MP4；开启分享链接（含二维码与文案）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gap: '12px' }}&gt;&#10;                    &lt;Box style={{ width: '34px', height: '34px', borderRadius: '17px', background: 'linear-gradient(135deg,#10B981,#059669)', justifyContent: 'center', alignItems: 'center' }}&gt;&#10;                        &lt;Text style={{ fontSize: '15px', fontWeight: 'bold', color: '#FFFFFF' }}&gt;{c.n}&lt;/Text&gt;&#10;                    &lt;/Box&gt;&#10;                    &lt;Text style={{ fontSize: '16.5px', fontWeight: 'bold', color: '#0B1220' }}&gt;{c.t}&lt;/Text&gt;&#10;                &lt;/Box&gt;&#10;                &lt;Text style={{ fontSize: '12.5px', color: '#5B6B84', lineHeight: 1.65 }}&gt;{c.d}&lt;/Text&gt;&#10;            &lt;/Box&gt;&#10;        ))}&#10;    &lt;/Box&gt;&#10;&#10;    &lt;Box style={{ position: 'absolute', top: '462px', left: '64px', right: '64px', padding: '20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play' style={{ fill: '#93C5FD', width: '19px', height: '19px' }} /&gt;&#10;        &lt;/Box&gt;&#10;        &lt;Box style={{ flex: 1, flexDirection: 'column', gap: '6px' }}&gt;&#10;            &lt;Text style={{ fontSize: '17px', fontWeight: 'bold', color: '#FFFFFF' }}&gt;预计 10–15 分钟&lt;/Text&gt;&#10;            &lt;Text style={{ fontSize: '13px', color: 'rgba(255,255,255,0.8)', lineHeight: 1.55 }}&gt;&#10;                备用方案：同角色已完成的多期成片与公开分享链接，现场网络波动也能完整走完故事线&#10;            &lt;/Text&gt;&#10;        &lt;/Box&gt;&#10;    &lt;/Box&gt;&#10;&#10;    &lt;Box style={{ position: 'absolute', top: '594px', left: '64px', right: '64px', flexDirection: 'row', gap: '14px' }}&gt;&#10;        {['实时预估积分', '逐镜可改可删', '滑块截取 1 秒', '五项质量红线', 'ffprobe 验证', '二维码分享'].map((t, i) =&gt; (&#10;            &lt;Box key={i} style={{ flex: 1, padding: '9px 0', borderRadius: '9px', background: '#FFFFFF', border: '1px solid #E6EAF1', justifyContent: 'center', alignItems: 'center' }}&gt;&#10;                &lt;Text style={{ fontSize: '11.5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8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矩形 4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469" name="矩形 468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609600" y="400050"/>
            <a:ext cx="895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04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10753725" y="409575"/>
            <a:ext cx="828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LIVE DEMO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2" name="文本框 471" descr="{&quot;isTemplate&quot;:true,&quot;type&quot;:&quot;text&quot;}"/>
          <p:cNvSpPr txBox="1"/>
          <p:nvPr/>
        </p:nvSpPr>
        <p:spPr>
          <a:xfrm>
            <a:off x="609600" y="647700"/>
            <a:ext cx="42100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全程可干预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3" name="圆角矩形 472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74" name="圆角矩形 473"/>
          <p:cNvSpPr/>
          <p:nvPr/>
        </p:nvSpPr>
        <p:spPr>
          <a:xfrm>
            <a:off x="609600" y="1428750"/>
            <a:ext cx="3552825" cy="1323975"/>
          </a:xfrm>
          <a:prstGeom prst="roundRect">
            <a:avLst>
              <a:gd name="adj" fmla="val 10072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75" name="圆角矩形 474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76" name="文本框 475" descr="{&quot;isTemplate&quot;:true,&quot;type&quot;:&quot;text&quot;}"/>
          <p:cNvSpPr txBox="1"/>
          <p:nvPr/>
        </p:nvSpPr>
        <p:spPr>
          <a:xfrm>
            <a:off x="952500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1276350" y="1704975"/>
            <a:ext cx="6286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新建一期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8" name="文本框 477" descr="{&quot;isTemplate&quot;:true,&quot;type&quot;:&quot;text&quot;}"/>
          <p:cNvSpPr txBox="1"/>
          <p:nvPr/>
        </p:nvSpPr>
        <p:spPr>
          <a:xfrm>
            <a:off x="838200" y="2066925"/>
            <a:ext cx="3095625" cy="476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选官方角色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灵山大佛，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9:16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，直出方式，看实时预估积分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9" name="圆角矩形 478"/>
          <p:cNvSpPr/>
          <p:nvPr/>
        </p:nvSpPr>
        <p:spPr>
          <a:xfrm>
            <a:off x="4314825" y="1428750"/>
            <a:ext cx="3562350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80" name="圆角矩形 479"/>
          <p:cNvSpPr/>
          <p:nvPr/>
        </p:nvSpPr>
        <p:spPr>
          <a:xfrm>
            <a:off x="4543425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4657725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2" name="文本框 481" descr="{&quot;isTemplate&quot;:true,&quot;type&quot;:&quot;text&quot;}"/>
          <p:cNvSpPr txBox="1"/>
          <p:nvPr/>
        </p:nvSpPr>
        <p:spPr>
          <a:xfrm>
            <a:off x="4981575" y="1704975"/>
            <a:ext cx="942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3" name="文本框 482" descr="{&quot;isTemplate&quot;:true,&quot;type&quot;:&quot;text&quot;}"/>
          <p:cNvSpPr txBox="1"/>
          <p:nvPr/>
        </p:nvSpPr>
        <p:spPr>
          <a:xfrm>
            <a:off x="4543425" y="2066925"/>
            <a:ext cx="31051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改一镜字幕、删一镜；写优化指令重生成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4" name="圆角矩形 483"/>
          <p:cNvSpPr/>
          <p:nvPr/>
        </p:nvSpPr>
        <p:spPr>
          <a:xfrm>
            <a:off x="8029575" y="1428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85" name="圆角矩形 484"/>
          <p:cNvSpPr/>
          <p:nvPr/>
        </p:nvSpPr>
        <p:spPr>
          <a:xfrm>
            <a:off x="8258175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8372475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7" name="文本框 486" descr="{&quot;isTemplate&quot;:true,&quot;type&quot;:&quot;text&quot;}"/>
          <p:cNvSpPr txBox="1"/>
          <p:nvPr/>
        </p:nvSpPr>
        <p:spPr>
          <a:xfrm>
            <a:off x="8696325" y="1704975"/>
            <a:ext cx="6286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8258175" y="2066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素材检查后双参考直出；进度页轮询任务状态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609600" y="2952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90" name="圆角矩形 489"/>
          <p:cNvSpPr/>
          <p:nvPr/>
        </p:nvSpPr>
        <p:spPr>
          <a:xfrm>
            <a:off x="838200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91" name="文本框 490" descr="{&quot;isTemplate&quot;:true,&quot;type&quot;:&quot;text&quot;}"/>
          <p:cNvSpPr txBox="1"/>
          <p:nvPr/>
        </p:nvSpPr>
        <p:spPr>
          <a:xfrm>
            <a:off x="952500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1276350" y="3228975"/>
            <a:ext cx="942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3" name="文本框 492" descr="{&quot;isTemplate&quot;:true,&quot;type&quot;:&quot;text&quot;}"/>
          <p:cNvSpPr txBox="1"/>
          <p:nvPr/>
        </p:nvSpPr>
        <p:spPr>
          <a:xfrm>
            <a:off x="838200" y="3590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拖滑块选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秒；勾五项质量红线；标一镜坏镜重生成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4" name="圆角矩形 493"/>
          <p:cNvSpPr/>
          <p:nvPr/>
        </p:nvSpPr>
        <p:spPr>
          <a:xfrm>
            <a:off x="4314825" y="2952750"/>
            <a:ext cx="3562350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95" name="圆角矩形 494"/>
          <p:cNvSpPr/>
          <p:nvPr/>
        </p:nvSpPr>
        <p:spPr>
          <a:xfrm>
            <a:off x="4543425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4657725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7" name="文本框 496" descr="{&quot;isTemplate&quot;:true,&quot;type&quot;:&quot;text&quot;}"/>
          <p:cNvSpPr txBox="1"/>
          <p:nvPr/>
        </p:nvSpPr>
        <p:spPr>
          <a:xfrm>
            <a:off x="4981575" y="3228975"/>
            <a:ext cx="12001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成片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8" name="文本框 497" descr="{&quot;isTemplate&quot;:true,&quot;type&quot;:&quot;text&quot;}"/>
          <p:cNvSpPr txBox="1"/>
          <p:nvPr/>
        </p:nvSpPr>
        <p:spPr>
          <a:xfrm>
            <a:off x="4543425" y="3590925"/>
            <a:ext cx="31051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标题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配乐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字幕确认后开始合成；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ffprobe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验证后交付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9" name="圆角矩形 498"/>
          <p:cNvSpPr/>
          <p:nvPr/>
        </p:nvSpPr>
        <p:spPr>
          <a:xfrm>
            <a:off x="8029575" y="2952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00" name="圆角矩形 499"/>
          <p:cNvSpPr/>
          <p:nvPr/>
        </p:nvSpPr>
        <p:spPr>
          <a:xfrm>
            <a:off x="8258175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8372475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2" name="文本框 501" descr="{&quot;isTemplate&quot;:true,&quot;type&quot;:&quot;text&quot;}"/>
          <p:cNvSpPr txBox="1"/>
          <p:nvPr/>
        </p:nvSpPr>
        <p:spPr>
          <a:xfrm>
            <a:off x="8696325" y="3228975"/>
            <a:ext cx="7905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下载与分享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8258175" y="3590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播放成片、下载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MP4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；开启分享链接（含二维码与文案）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609600" y="4400550"/>
            <a:ext cx="10972800" cy="876300"/>
          </a:xfrm>
          <a:prstGeom prst="roundRect">
            <a:avLst>
              <a:gd name="adj" fmla="val 15217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05" name="圆角矩形 504"/>
          <p:cNvSpPr/>
          <p:nvPr/>
        </p:nvSpPr>
        <p:spPr>
          <a:xfrm>
            <a:off x="876300" y="4619625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06" name="图片 50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9650" y="4752975"/>
            <a:ext cx="180975" cy="180975"/>
          </a:xfrm>
          <a:prstGeom prst="rect">
            <a:avLst/>
          </a:prstGeom>
        </p:spPr>
      </p:pic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1543050" y="459105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预计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10–15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分钟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8" name="文本框 507" descr="{&quot;isTemplate&quot;:true,&quot;type&quot;:&quot;text&quot;}"/>
          <p:cNvSpPr txBox="1"/>
          <p:nvPr/>
        </p:nvSpPr>
        <p:spPr>
          <a:xfrm>
            <a:off x="1543050" y="4848225"/>
            <a:ext cx="97726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备用方案：同角色已完成的多期成片与公开分享链接，现场网络波动也能完整走完故事线</a:t>
            </a:r>
            <a:endParaRPr lang="zh-CN" sz="9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9" name="圆角矩形 508"/>
          <p:cNvSpPr/>
          <p:nvPr/>
        </p:nvSpPr>
        <p:spPr>
          <a:xfrm>
            <a:off x="609600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0" name="文本框 509" descr="{&quot;isTemplate&quot;:true,&quot;type&quot;:&quot;text&quot;}"/>
          <p:cNvSpPr txBox="1"/>
          <p:nvPr/>
        </p:nvSpPr>
        <p:spPr>
          <a:xfrm>
            <a:off x="1143000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实时预估积分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1" name="圆角矩形 510"/>
          <p:cNvSpPr/>
          <p:nvPr/>
        </p:nvSpPr>
        <p:spPr>
          <a:xfrm>
            <a:off x="2457450" y="56578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2" name="文本框 511" descr="{&quot;isTemplate&quot;:true,&quot;type&quot;:&quot;text&quot;}"/>
          <p:cNvSpPr txBox="1"/>
          <p:nvPr/>
        </p:nvSpPr>
        <p:spPr>
          <a:xfrm>
            <a:off x="2990850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逐镜可改可删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3" name="圆角矩形 512"/>
          <p:cNvSpPr/>
          <p:nvPr/>
        </p:nvSpPr>
        <p:spPr>
          <a:xfrm>
            <a:off x="4314825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4" name="文本框 513" descr="{&quot;isTemplate&quot;:true,&quot;type&quot;:&quot;text&quot;}"/>
          <p:cNvSpPr txBox="1"/>
          <p:nvPr/>
        </p:nvSpPr>
        <p:spPr>
          <a:xfrm>
            <a:off x="4829175" y="5743575"/>
            <a:ext cx="6858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滑块截取</a:t>
            </a: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5" name="圆角矩形 514"/>
          <p:cNvSpPr/>
          <p:nvPr/>
        </p:nvSpPr>
        <p:spPr>
          <a:xfrm>
            <a:off x="6162675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6696075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五项质量红线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7" name="圆角矩形 516"/>
          <p:cNvSpPr/>
          <p:nvPr/>
        </p:nvSpPr>
        <p:spPr>
          <a:xfrm>
            <a:off x="8010525" y="56578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8534400" y="5743575"/>
            <a:ext cx="676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ffprobe </a:t>
            </a: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验证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867900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10448925" y="5743575"/>
            <a:ext cx="552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二维码分享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3" name="文本框 52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18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5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4 · 现场演示&lt;/Text&gt;&#10;        &lt;Text style={{ fontSize: '11px', color: '#8A97AB', letterSpacing: '3px' }}&gt;TEAM &amp; THANKS&lt;/Text&gt;&#10;    &lt;/Box&gt;&#10;    &lt;Text style={{ position: 'absolute', top: '68px', left: '64px', fontSize: '34px', fontWeight: 'bold', color: '#0B1220' }}&gt;&#10;        Kelvoy &lt;span style={{ color: '#2563EB' }}&gt;项目组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640px', flexDirection: 'column', gap: '10px' }}&gt;&#10;        {[&#10;            { n: '张小白（张辉）', r: '队长 · 项目策划 · PRD · 环境部署 · 演示', c: '#2563EB' },&#10;            { n: '小腾子', r: '原型设计 · 测试 · DEMO 视频录制', c: '#7C3AED' },&#10;            { n: '般度五子', r: 'ComfyUI 部署与开发 · 图像 / 视频管线', c: '#F59E0B' },&#10;            { n: '馄饨', r: 'Web 前后台 · 审片台 · 积分系统', c: '#10B981' },&#10;        ].map((m, i) =&gt; (&#10;            &lt;Box key={i} style={{ flexDirection: 'row', alignItems: 'center', gap: '16px', padding: '16px 20px', background: '#FFFFFF', borderRadius: '12px', border: '1px solid #E6EAF1' }}&gt;&#10;                &lt;Box style={{ width: '42px', height: '42px', borderRadius: '21px', background: `${m.c}1A`, border: `1px solid ${m.c}55`, justifyContent: 'center', alignItems: 'center' }}&gt;&#10;                    &lt;Text style={{ fontSize: '15px', fontWeight: 'bold', color: m.c }}&gt;{m.n[0]}&lt;/Text&gt;&#10;                &lt;/Box&gt;&#10;                &lt;Box style={{ width: '170px' }}&gt;&#10;                    &lt;Text style={{ fontSize: '15.5px', fontWeight: 'bold', color: '#0B1220' }}&gt;{m.n}&lt;/Text&gt;&#10;                &lt;/Box&gt;&#10;                &lt;Text style={{ flex: 1, fontSize: '12.5px', color: '#5B6B84', lineHeight: 1.5 }}&gt;{m.r}&lt;/Text&gt;&#10;            &lt;/Box&gt;&#10;        ))}&#10;    &lt;/Box&gt;&#10;&#10;    &lt;Box style={{ position: 'absolute', top: '462px', left: '64px', width: '640px', padding: '20px 24px', background: '#FFFFFF', borderRadius: '14px', border: '1px solid #E6EAF1', flexDirection: 'column', gap: '11px' }}&gt;&#10;        &lt;Box style={{ flexDirection: 'row', alignItems: 'center', gap: '10px' }}&gt;&#10;            &lt;FAIcon name='code-branch' style={{ fill: '#2563EB', width: '14px', height: '14px' }} /&gt;&#10;            &lt;Text style={{ fontSize: '13px', color: '#42536B' }}&gt;开源协议：Apache License 2.0&lt;/Text&gt;&#10;        &lt;/Box&gt;&#10;        &lt;Box style={{ flexDirection: 'row', alignItems: 'center', gap: '10px' }}&gt;&#10;            &lt;FAIcon name='folder-open' style={{ fill: '#2563EB', width: '14px', height: '14px' }} /&gt;&#10;            &lt;Text style={{ fontSize: '13px', color: '#42536B' }}&gt;仓库：github.com/zhanghui-china/Kelvoy&lt;/Text&gt;&#10;        &lt;/Box&gt;&#10;        &lt;Box style={{ flexDirection: 'row', alignItems: 'flex-start', gap: '10px' }}&gt;&#10;            &lt;FAIcon name='handshake' style={{ fill: '#2563EB', width: '14px', height: '14px', marginTop: '2px' }} /&gt;&#10;            &lt;Text style={{ flex: 1, fontSize: '13px', color: '#42536B', lineHeight: 1.55 }}&gt;&#10;                感谢 NVIDIA DGX Spark 黑客松 · StepFun · Qwen-Image · MiniMax · ComfyUI · FFmpeg&#10;            &lt;/Text&gt;&#10;        &lt;/Box&gt;&#10;    &lt;/Box&gt;&#10;&#10;    &lt;Box style={{ position: 'absolute', top: '150px', right: '64px', width: '460px', height: '478px', padding: '36px 38px', borderRadius: '18px', background: 'linear-gradient(150deg,#0A1128 0%,#16233F 50%,#312E81 100%)', flexDirection: 'column', justifyContent: 'space-between', boxShadow: '0 12px 34px rgba(15,23,42,0.28)' }}&gt;&#10;        &lt;Box style={{ flexDirection: 'row', alignItems: 'center', gap: '12px' }}&gt;&#10;            &lt;Box style={{ width: '40px', height: '40px', borderRadius: '12px', background: 'linear-gradient(135deg,#60A5FA 0%,#2563EB 100%)', justifyContent: 'center', alignItems: 'center' }}&gt;&#10;                &lt;Text style={{ fontSize: '19px', fontWeight: 'bold', color: '#FFFFFF' }}&gt;旅&lt;/Text&gt;&#10;            &lt;/Box&gt;&#10;            &lt;Text style={{ fontSize: '16px', fontWeight: 600, color: '#FFFFFF', letterSpacing: '1px' }}&gt;可旅 Kelvoy&lt;/Text&gt;&#10;        &lt;/Box&gt;&#10;        &lt;Box style={{ flexDirection: 'column', gap: '18px' }}&gt;&#10;            &lt;Text style={{ fontSize: '27px', fontWeight: 'bold', color: '#FFFFFF', lineHeight: 1.45 }}&gt;&#10;                选一个角色，&lt;br /&gt;去一个真实的地方，&lt;br /&gt;&lt;span style={{ color: '#93C5FD' }}&gt;一期旅行 Vlog 自动生成。&lt;/span&gt;&#10;            &lt;/Text&gt;&#10;            &lt;Box style={{ width: '44px', height: '3px', borderRadius: '2px', background: 'linear-gradient(90deg,#60A5FA,#7C3AED)' }} /&gt;&#10;            &lt;Text style={{ fontSize: '16px', color: 'rgba(255,255,255,0.85)' }}&gt;可旅，让每一场旅行都有 vlog&lt;/Text&gt;&#10;        &lt;/Box&gt;&#10;        &lt;Box style={{ flexDirection: 'column', gap: '4px' }}&gt;&#10;            &lt;Text style={{ fontSize: '12px', color: 'rgba(255,255,255,0.6)' }}&gt;Kelvoy · AI 旅行 Vlog 生产工作台&lt;/Text&gt;&#10;            &lt;Text style={{ fontSize: '12px', color: 'rgba(255,255,255,0.6)' }}&gt;第三届 NVIDIA DGX Spark 黑客松&lt;/Text&gt;&#10;        &lt;/Box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9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矩形 5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527" name="矩形 526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09600" y="400050"/>
            <a:ext cx="895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04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0334625" y="409575"/>
            <a:ext cx="12477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TEAM &amp; THANKS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0" name="文本框 529" descr="{&quot;isTemplate&quot;:true,&quot;type&quot;:&quot;text&quot;}"/>
          <p:cNvSpPr txBox="1"/>
          <p:nvPr/>
        </p:nvSpPr>
        <p:spPr>
          <a:xfrm>
            <a:off x="609600" y="647700"/>
            <a:ext cx="21621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项目组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1" name="圆角矩形 530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32" name="圆角矩形 531"/>
          <p:cNvSpPr/>
          <p:nvPr/>
        </p:nvSpPr>
        <p:spPr>
          <a:xfrm>
            <a:off x="609600" y="14287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33" name="圆角矩形 532"/>
          <p:cNvSpPr/>
          <p:nvPr/>
        </p:nvSpPr>
        <p:spPr>
          <a:xfrm>
            <a:off x="800100" y="15811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2563EB">
              <a:alpha val="10196"/>
            </a:srgbClr>
          </a:solidFill>
          <a:ln w="12700">
            <a:solidFill>
              <a:srgbClr val="2563EB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4" name="文本框 533" descr="{&quot;isTemplate&quot;:true,&quot;type&quot;:&quot;text&quot;}"/>
          <p:cNvSpPr txBox="1"/>
          <p:nvPr/>
        </p:nvSpPr>
        <p:spPr>
          <a:xfrm>
            <a:off x="933450" y="16954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张</a:t>
            </a:r>
            <a:endParaRPr lang="zh-CN" sz="11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1352550" y="16954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张小白（张辉）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6" name="文本框 535" descr="{&quot;isTemplate&quot;:true,&quot;type&quot;:&quot;text&quot;}"/>
          <p:cNvSpPr txBox="1"/>
          <p:nvPr/>
        </p:nvSpPr>
        <p:spPr>
          <a:xfrm>
            <a:off x="3124200" y="16764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队长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项目策划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PRD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环境部署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演示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7" name="圆角矩形 536"/>
          <p:cNvSpPr/>
          <p:nvPr/>
        </p:nvSpPr>
        <p:spPr>
          <a:xfrm>
            <a:off x="609600" y="22288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38" name="圆角矩形 537"/>
          <p:cNvSpPr/>
          <p:nvPr/>
        </p:nvSpPr>
        <p:spPr>
          <a:xfrm>
            <a:off x="800100" y="23812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7C3AED">
              <a:alpha val="10196"/>
            </a:srgbClr>
          </a:solidFill>
          <a:ln w="12700">
            <a:solidFill>
              <a:srgbClr val="7C3AED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9" name="文本框 538" descr="{&quot;isTemplate&quot;:true,&quot;type&quot;:&quot;text&quot;}"/>
          <p:cNvSpPr txBox="1"/>
          <p:nvPr/>
        </p:nvSpPr>
        <p:spPr>
          <a:xfrm>
            <a:off x="933450" y="24955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小</a:t>
            </a:r>
            <a:endParaRPr lang="zh-CN" sz="112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0" name="文本框 539" descr="{&quot;isTemplate&quot;:true,&quot;type&quot;:&quot;text&quot;}"/>
          <p:cNvSpPr txBox="1"/>
          <p:nvPr/>
        </p:nvSpPr>
        <p:spPr>
          <a:xfrm>
            <a:off x="1352550" y="24955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小腾子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3124200" y="24765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原型设计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DEMO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视频录制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2" name="圆角矩形 541"/>
          <p:cNvSpPr/>
          <p:nvPr/>
        </p:nvSpPr>
        <p:spPr>
          <a:xfrm>
            <a:off x="609600" y="30289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43" name="圆角矩形 542"/>
          <p:cNvSpPr/>
          <p:nvPr/>
        </p:nvSpPr>
        <p:spPr>
          <a:xfrm>
            <a:off x="800100" y="31813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59E0B">
              <a:alpha val="10196"/>
            </a:srgbClr>
          </a:solidFill>
          <a:ln w="12700">
            <a:solidFill>
              <a:srgbClr val="F59E0B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4" name="文本框 543" descr="{&quot;isTemplate&quot;:true,&quot;type&quot;:&quot;text&quot;}"/>
          <p:cNvSpPr txBox="1"/>
          <p:nvPr/>
        </p:nvSpPr>
        <p:spPr>
          <a:xfrm>
            <a:off x="933450" y="32956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般</a:t>
            </a:r>
            <a:endParaRPr lang="zh-CN" sz="11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1352550" y="32956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般度五子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6" name="文本框 545" descr="{&quot;isTemplate&quot;:true,&quot;type&quot;:&quot;text&quot;}"/>
          <p:cNvSpPr txBox="1"/>
          <p:nvPr/>
        </p:nvSpPr>
        <p:spPr>
          <a:xfrm>
            <a:off x="3124200" y="32766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ComfyUI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部署与开发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图像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视频管线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7" name="圆角矩形 546"/>
          <p:cNvSpPr/>
          <p:nvPr/>
        </p:nvSpPr>
        <p:spPr>
          <a:xfrm>
            <a:off x="609600" y="38290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48" name="圆角矩形 547"/>
          <p:cNvSpPr/>
          <p:nvPr/>
        </p:nvSpPr>
        <p:spPr>
          <a:xfrm>
            <a:off x="800100" y="3981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10B981">
              <a:alpha val="10196"/>
            </a:srgbClr>
          </a:solidFill>
          <a:ln w="12700">
            <a:solidFill>
              <a:srgbClr val="10B981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9" name="文本框 548" descr="{&quot;isTemplate&quot;:true,&quot;type&quot;:&quot;text&quot;}"/>
          <p:cNvSpPr txBox="1"/>
          <p:nvPr/>
        </p:nvSpPr>
        <p:spPr>
          <a:xfrm>
            <a:off x="933450" y="40957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馄</a:t>
            </a:r>
            <a:endParaRPr lang="zh-CN" sz="1125" b="1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352550" y="40957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馄饨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1" name="文本框 550" descr="{&quot;isTemplate&quot;:true,&quot;type&quot;:&quot;text&quot;}"/>
          <p:cNvSpPr txBox="1"/>
          <p:nvPr/>
        </p:nvSpPr>
        <p:spPr>
          <a:xfrm>
            <a:off x="3124200" y="40767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Web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前后台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审片台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积分系统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2" name="圆角矩形 551"/>
          <p:cNvSpPr/>
          <p:nvPr/>
        </p:nvSpPr>
        <p:spPr>
          <a:xfrm>
            <a:off x="609600" y="4400550"/>
            <a:ext cx="6096000" cy="113347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553" name="图片 55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8200" y="4600575"/>
            <a:ext cx="133350" cy="133350"/>
          </a:xfrm>
          <a:prstGeom prst="rect">
            <a:avLst/>
          </a:prstGeom>
        </p:spPr>
      </p:pic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66800" y="4591050"/>
            <a:ext cx="1743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开源协议：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Apache License 2.0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55" name="图片 55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4857750"/>
            <a:ext cx="133350" cy="133350"/>
          </a:xfrm>
          <a:prstGeom prst="rect">
            <a:avLst/>
          </a:prstGeom>
        </p:spPr>
      </p:pic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066800" y="4848225"/>
            <a:ext cx="24669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仓库：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github.com/zhanghui-china/Kelvoy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57" name="图片 55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5124450"/>
            <a:ext cx="133350" cy="133350"/>
          </a:xfrm>
          <a:prstGeom prst="rect">
            <a:avLst/>
          </a:prstGeom>
        </p:spPr>
      </p:pic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1066800" y="5105400"/>
            <a:ext cx="54102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感谢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· StepFun · Qwen-Image · MiniMax · ComfyUI · FFmpeg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7200900" y="1428750"/>
            <a:ext cx="4381500" cy="4552950"/>
          </a:xfrm>
          <a:prstGeom prst="roundRect">
            <a:avLst>
              <a:gd name="adj" fmla="val 3913"/>
            </a:avLst>
          </a:prstGeom>
          <a:gradFill>
            <a:gsLst>
              <a:gs pos="0">
                <a:srgbClr val="0A1128"/>
              </a:gs>
              <a:gs pos="50000">
                <a:srgbClr val="16233F"/>
              </a:gs>
              <a:gs pos="100000">
                <a:srgbClr val="312E81"/>
              </a:gs>
            </a:gsLst>
            <a:lin ang="3600000" scaled="1"/>
          </a:gradFill>
          <a:effectLst>
            <a:outerShdw blurRad="323850" dist="114300" dir="5400000">
              <a:srgbClr val="0F172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60" name="圆角矩形 559"/>
          <p:cNvSpPr/>
          <p:nvPr/>
        </p:nvSpPr>
        <p:spPr>
          <a:xfrm>
            <a:off x="7562850" y="1771650"/>
            <a:ext cx="381000" cy="381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7667625" y="1857375"/>
            <a:ext cx="18097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8058150" y="1866900"/>
            <a:ext cx="952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1200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Kelvoy</a:t>
            </a:r>
            <a:endParaRPr lang="en-US" sz="1200" b="1" spc="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7562850" y="2781300"/>
            <a:ext cx="3657600" cy="1343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选一个角色，</a:t>
            </a:r>
            <a:endParaRPr lang="zh-CN" sz="20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去一个真实的地方，</a:t>
            </a:r>
            <a:endParaRPr lang="zh-CN" sz="20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一期旅行</a:t>
            </a:r>
            <a:r>
              <a:rPr lang="en-US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自动生成。</a:t>
            </a:r>
            <a:endParaRPr lang="zh-CN" sz="20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4" name="圆角矩形 563"/>
          <p:cNvSpPr/>
          <p:nvPr/>
        </p:nvSpPr>
        <p:spPr>
          <a:xfrm>
            <a:off x="7562850" y="4295775"/>
            <a:ext cx="4191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60A5FA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7562850" y="4495800"/>
            <a:ext cx="3657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可旅，让每一场旅行都有</a:t>
            </a:r>
            <a:r>
              <a:rPr lang="en-US" sz="1200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1200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6" name="文本框 565" descr="{&quot;isTemplate&quot;:true,&quot;type&quot;:&quot;text&quot;}"/>
          <p:cNvSpPr txBox="1"/>
          <p:nvPr/>
        </p:nvSpPr>
        <p:spPr>
          <a:xfrm>
            <a:off x="7562850" y="5314950"/>
            <a:ext cx="3657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Kelvoy · AI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7" name="文本框 566" descr="{&quot;isTemplate&quot;:true,&quot;type&quot;:&quot;text&quot;}"/>
          <p:cNvSpPr txBox="1"/>
          <p:nvPr/>
        </p:nvSpPr>
        <p:spPr>
          <a:xfrm>
            <a:off x="7562850" y="5495925"/>
            <a:ext cx="3657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第三届</a:t>
            </a: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endParaRPr lang="zh-CN" sz="90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8" name="圆角矩形 567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9" name="文本框 568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1" name="文本框 570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19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6185</Words>
  <Application>WPS 演示</Application>
  <PresentationFormat/>
  <Paragraphs>1004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xt</cp:lastModifiedBy>
  <cp:revision>1</cp:revision>
  <dcterms:created xsi:type="dcterms:W3CDTF">2026-09-29T10:35:24Z</dcterms:created>
  <dcterms:modified xsi:type="dcterms:W3CDTF">2026-09-29T10:35:47Z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1B74FF7B37374D6394115EA4A00DAC85_13</vt:lpwstr>
  </property>
</Properties>
</file>