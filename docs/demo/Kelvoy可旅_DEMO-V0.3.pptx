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.svg" ContentType="image/svg+xml"/>
  <Override PartName="/ppt/media/image121.svg" ContentType="image/svg+xml"/>
  <Override PartName="/ppt/media/image15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zh-CN" altLang="en-US"/>
              <a:t>各位评委老师、</a:t>
            </a:r>
            <a:r>
              <a:rPr lang="en-US" altLang="zh-CN"/>
              <a:t>NVIDIA</a:t>
            </a:r>
            <a:r>
              <a:rPr lang="zh-CN" altLang="en-US"/>
              <a:t>主办方的伙伴、各位参赛同行，大家好！我是可旅</a:t>
            </a:r>
            <a:r>
              <a:rPr lang="en-US" altLang="zh-CN"/>
              <a:t>Kelvoy</a:t>
            </a:r>
            <a:r>
              <a:rPr lang="zh-CN" altLang="en-US"/>
              <a:t>团队的成员，今天非常荣幸能在第三届</a:t>
            </a:r>
            <a:r>
              <a:rPr lang="en-US" altLang="zh-CN"/>
              <a:t>NVIDIA DGX Spark</a:t>
            </a:r>
            <a:r>
              <a:rPr lang="zh-CN" altLang="en-US"/>
              <a:t>黑客松，给大家展示我们的参赛项目</a:t>
            </a:r>
            <a:r>
              <a:rPr lang="en-US" altLang="zh-CN"/>
              <a:t>——Kelvoy</a:t>
            </a:r>
            <a:r>
              <a:rPr lang="zh-CN" altLang="en-US"/>
              <a:t>可旅</a:t>
            </a:r>
            <a:r>
              <a:rPr lang="en-US" altLang="zh-CN"/>
              <a:t>AI</a:t>
            </a:r>
            <a:r>
              <a:rPr lang="zh-CN" altLang="en-US"/>
              <a:t>旅行</a:t>
            </a:r>
            <a:r>
              <a:rPr lang="en-US" altLang="zh-CN"/>
              <a:t>Vlog</a:t>
            </a:r>
            <a:r>
              <a:rPr lang="zh-CN" altLang="en-US"/>
              <a:t>生产工作台。</a:t>
            </a:r>
            <a:r>
              <a:rPr lang="en-US" altLang="zh-CN"/>
              <a:t>
</a:t>
            </a:r>
            <a:r>
              <a:rPr lang="zh-CN" altLang="en-US"/>
              <a:t>我们这款产品专为旅行内容持续生产打造，只需选一个固定人设角色、选定一个真实目的地，就能自动生成适配</a:t>
            </a:r>
            <a:r>
              <a:rPr lang="en-US" altLang="zh-CN"/>
              <a:t>9:16</a:t>
            </a:r>
            <a:r>
              <a:rPr lang="zh-CN" altLang="en-US"/>
              <a:t>或</a:t>
            </a:r>
            <a:r>
              <a:rPr lang="en-US" altLang="zh-CN"/>
              <a:t>16:9</a:t>
            </a:r>
            <a:r>
              <a:rPr lang="zh-CN" altLang="en-US"/>
              <a:t>画幅的旅行</a:t>
            </a:r>
            <a:r>
              <a:rPr lang="en-US" altLang="zh-CN"/>
              <a:t>Vlog</a:t>
            </a:r>
            <a:r>
              <a:rPr lang="zh-CN" altLang="en-US"/>
              <a:t>，全程设置三个人工审核点把控质量，全流程都可以跑在本地</a:t>
            </a:r>
            <a:r>
              <a:rPr lang="en-US" altLang="zh-CN"/>
              <a:t>DGX Spark</a:t>
            </a:r>
            <a:r>
              <a:rPr lang="zh-CN" altLang="en-US"/>
              <a:t>上。接下来我就从需求问题开始，逐步为大家介绍我们的产品，最后带来完整的现场演示。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zh-CN" altLang="en-US"/>
              <a:t>本次可旅</a:t>
            </a:r>
            <a:r>
              <a:rPr lang="en-US" altLang="zh-CN"/>
              <a:t>AI</a:t>
            </a:r>
            <a:r>
              <a:rPr lang="zh-CN" altLang="en-US"/>
              <a:t>旅行</a:t>
            </a:r>
            <a:r>
              <a:rPr lang="en-US" altLang="zh-CN"/>
              <a:t>Vlog</a:t>
            </a:r>
            <a:r>
              <a:rPr lang="zh-CN" altLang="en-US"/>
              <a:t>生产工作台的</a:t>
            </a:r>
            <a:r>
              <a:rPr lang="en-US" altLang="zh-CN"/>
              <a:t>DEMO</a:t>
            </a:r>
            <a:r>
              <a:rPr lang="zh-CN" altLang="en-US"/>
              <a:t>分享共分为四个层层递进的部分，遵循从动因到方案再到落地展示的逻辑展开。第一部分梳理问题与机会，明确产品痛点与破局基础；第二部分介绍产品与体验，说明核心功能与使用流程；第三部分拆解技术与工程的实现逻辑；最后将进行直观的现场演示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zh-CN" altLang="en-US"/>
              <a:t>我们先来看项目的核心出发点，先理清为什么我们要做可旅这款</a:t>
            </a:r>
            <a:r>
              <a:rPr lang="en-US" altLang="zh-CN"/>
              <a:t>AI</a:t>
            </a:r>
            <a:r>
              <a:rPr lang="zh-CN" altLang="en-US"/>
              <a:t>旅行</a:t>
            </a:r>
            <a:r>
              <a:rPr lang="en-US" altLang="zh-CN"/>
              <a:t>Vlog</a:t>
            </a:r>
            <a:r>
              <a:rPr lang="zh-CN" altLang="en-US"/>
              <a:t>生产工具。</a:t>
            </a:r>
            <a:r>
              <a:rPr lang="en-US" altLang="zh-CN"/>
              <a:t>
</a:t>
            </a:r>
            <a:r>
              <a:rPr lang="zh-CN" altLang="en-US"/>
              <a:t>现在旅行内容赛道想要持续稳定产出内容，已经遇到了三个很难绕开的卡点。第一点，真人拍摄的成本居高不下，博主档期难协调不说，同一人设跨期拍摄还很容易出现形象不一致的问题，更麻烦的是频繁换脸会让账号长期积累的粉丝资产无法沉淀。</a:t>
            </a:r>
            <a:r>
              <a:rPr lang="en-US" altLang="zh-CN"/>
              <a:t>
</a:t>
            </a:r>
            <a:r>
              <a:rPr lang="zh-CN" altLang="en-US"/>
              <a:t>第二点，现有的通用</a:t>
            </a:r>
            <a:r>
              <a:rPr lang="en-US" altLang="zh-CN"/>
              <a:t>AI</a:t>
            </a:r>
            <a:r>
              <a:rPr lang="zh-CN" altLang="en-US"/>
              <a:t>生成工具大多是不透明的黑盒，一键生成的结果不可控也没法针对性修改，满足不了旅行账号稳定更新的需求。</a:t>
            </a:r>
            <a:r>
              <a:rPr lang="en-US" altLang="zh-CN"/>
              <a:t>
</a:t>
            </a:r>
            <a:r>
              <a:rPr lang="zh-CN" altLang="en-US"/>
              <a:t>而我们找到的破局机会，刚好依托</a:t>
            </a:r>
            <a:r>
              <a:rPr lang="en-US" altLang="zh-CN"/>
              <a:t>DGX Spark</a:t>
            </a:r>
            <a:r>
              <a:rPr lang="zh-CN" altLang="en-US"/>
              <a:t>的硬件能力落地：它搭载的</a:t>
            </a:r>
            <a:r>
              <a:rPr lang="en-US" altLang="zh-CN"/>
              <a:t>128GB</a:t>
            </a:r>
            <a:r>
              <a:rPr lang="zh-CN" altLang="en-US"/>
              <a:t>统一内存，完全可以支撑脚本生成、图像生成、视频生成到最终合成的全流程，在本地单台设备上跑通完整流水线，这个基础条件让我们可以针对性解决行业痛点，打造专属的生产工具。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zh-CN" altLang="en-US"/>
              <a:t>我们先拆解行业里真实存在的痛点，旅行内容的持续批量生产，目前卡着三个无法绕开的核心问题。</a:t>
            </a:r>
            <a:r>
              <a:rPr lang="en-US" altLang="zh-CN"/>
              <a:t>
</a:t>
            </a:r>
            <a:r>
              <a:rPr lang="zh-CN" altLang="en-US"/>
              <a:t>第一个问题是真人生产的成本门槛。想要稳定更新旅行内容，不仅拍摄、档期的费用居高不下，更麻烦的是很难长期维持人设形象统一，很多账号做几期内容，主角的脸和气质就变了，根本没法沉淀属于账号的长期资产。</a:t>
            </a:r>
            <a:r>
              <a:rPr lang="en-US" altLang="zh-CN"/>
              <a:t>
</a:t>
            </a:r>
            <a:r>
              <a:rPr lang="zh-CN" altLang="en-US"/>
              <a:t>第二个问题来自现有通用</a:t>
            </a:r>
            <a:r>
              <a:rPr lang="en-US" altLang="zh-CN"/>
              <a:t>AI</a:t>
            </a:r>
            <a:r>
              <a:rPr lang="zh-CN" altLang="en-US"/>
              <a:t>工具的局限性。大部分工具都是一键生成的黑盒模式，产出内容不符合预期也没法修改调整，通用剪辑工具更是只负责拼接片段，完全不管内容素材的生成过程，很难满足稳定生产的需求。</a:t>
            </a:r>
            <a:r>
              <a:rPr lang="en-US" altLang="zh-CN"/>
              <a:t>
</a:t>
            </a:r>
            <a:r>
              <a:rPr lang="zh-CN" altLang="en-US"/>
              <a:t>第三个问题精准击中了文旅代运营场景的空白。现在代运营商家需要给同一个账号做多个目的地的内容，要求稳定更新，但现有工具完全没有针对这个高频需求做专门设计。</a:t>
            </a:r>
            <a:r>
              <a:rPr lang="en-US" altLang="zh-CN"/>
              <a:t>
</a:t>
            </a:r>
            <a:r>
              <a:rPr lang="zh-CN" altLang="en-US"/>
              <a:t>这些痛点刚好留给我们破局的机会，我们已经用参考片验证了技术方向：「静帧锁一致性</a:t>
            </a:r>
            <a:r>
              <a:rPr lang="en-US" altLang="zh-CN"/>
              <a:t>+1</a:t>
            </a:r>
            <a:r>
              <a:rPr lang="zh-CN" altLang="en-US"/>
              <a:t>秒一镜」的方案可以稳定产出合格内容，加上</a:t>
            </a:r>
            <a:r>
              <a:rPr lang="en-US" altLang="zh-CN"/>
              <a:t>NVIDIA DGX Spark 128GB</a:t>
            </a:r>
            <a:r>
              <a:rPr lang="zh-CN" altLang="en-US"/>
              <a:t>的大统一内存，足以把脚本生成、图像创作、视频生成到最终合成的全流程，放在本地单机跑通完整流水线，刚好解决成本高、不可控、缺场景适配这三个核心问题。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zh-CN" altLang="en-US"/>
              <a:t>刚刚我们理清了当前旅行内容生产领域的核心痛点和破局基础，接下来我们进入产品层面的介绍，看看可旅到底是什么样的产品。</a:t>
            </a:r>
            <a:r>
              <a:rPr lang="en-US" altLang="zh-CN"/>
              <a:t>
</a:t>
            </a:r>
            <a:r>
              <a:rPr lang="zh-CN" altLang="en-US"/>
              <a:t>可旅的核心定位非常清晰，它是围绕「</a:t>
            </a:r>
            <a:r>
              <a:rPr lang="en-US" altLang="zh-CN"/>
              <a:t>AI </a:t>
            </a:r>
            <a:r>
              <a:rPr lang="zh-CN" altLang="en-US"/>
              <a:t>旅行</a:t>
            </a:r>
            <a:r>
              <a:rPr lang="en-US" altLang="zh-CN"/>
              <a:t> Vlog</a:t>
            </a:r>
            <a:r>
              <a:rPr lang="zh-CN" altLang="en-US"/>
              <a:t>自动生成」搭建的生产工作台，核心逻辑可以用三句话讲清楚。你只需要提供一个提前建好的虚拟角色，选定一个目标景区，就能在短时间内产出一期符合要求的</a:t>
            </a:r>
            <a:r>
              <a:rPr lang="en-US" altLang="zh-CN"/>
              <a:t>30</a:t>
            </a:r>
            <a:r>
              <a:rPr lang="zh-CN" altLang="en-US"/>
              <a:t>秒旅行</a:t>
            </a:r>
            <a:r>
              <a:rPr lang="en-US" altLang="zh-CN"/>
              <a:t>Vlog</a:t>
            </a:r>
            <a:r>
              <a:rPr lang="zh-CN" altLang="en-US"/>
              <a:t>。</a:t>
            </a:r>
            <a:r>
              <a:rPr lang="en-US" altLang="zh-CN"/>
              <a:t>
</a:t>
            </a:r>
            <a:r>
              <a:rPr lang="zh-CN" altLang="en-US"/>
              <a:t>整个生产过程分成六个递进的生成阶段，同时设置三个人工审核节点把控最终成片质量，既借</a:t>
            </a:r>
            <a:r>
              <a:rPr lang="en-US" altLang="zh-CN"/>
              <a:t>AI</a:t>
            </a:r>
            <a:r>
              <a:rPr lang="zh-CN" altLang="en-US"/>
              <a:t>放大生产效率，又保留人工对内容的调整空间，不会出现黑盒生成不可控的问题。</a:t>
            </a:r>
            <a:r>
              <a:rPr lang="en-US" altLang="zh-CN"/>
              <a:t>
</a:t>
            </a:r>
            <a:r>
              <a:rPr lang="zh-CN" altLang="en-US"/>
              <a:t>产品本身也适配不同的生产需求，如果你是批量更新账号内容，直接走默认的直出流程就能快速拿到成品；如果要做重点宣传的项目，也可以切换到精修路径，逐帧调整画面细节，兼顾效率和质量。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zh-CN" altLang="en-US"/>
              <a:t>我们先明确可旅产品的核心定义：只需要提供一个虚拟角色，选定一个目标景区，就能快速生成一条约</a:t>
            </a:r>
            <a:r>
              <a:rPr lang="en-US" altLang="zh-CN"/>
              <a:t>30</a:t>
            </a:r>
            <a:r>
              <a:rPr lang="zh-CN" altLang="en-US"/>
              <a:t>秒的旅行</a:t>
            </a:r>
            <a:r>
              <a:rPr lang="en-US" altLang="zh-CN"/>
              <a:t>Vlog</a:t>
            </a:r>
            <a:r>
              <a:rPr lang="zh-CN" altLang="en-US"/>
              <a:t>成品。</a:t>
            </a:r>
            <a:r>
              <a:rPr lang="en-US" altLang="zh-CN"/>
              <a:t>
</a:t>
            </a:r>
            <a:r>
              <a:rPr lang="zh-CN" altLang="en-US"/>
              <a:t>输入环节支持沉淀账号级的角色资产，我们用三视图参考锁定角色的核心外形特征，保证同一账号的人设在不同内容里保持统一，同时支持每期灵活更换穿搭，满足内容的新鲜感需求。目的地采用官方统一维护的共享资产模式，我们为每个景区打造专属符号包，内置</a:t>
            </a:r>
            <a:r>
              <a:rPr lang="en-US" altLang="zh-CN"/>
              <a:t>3</a:t>
            </a:r>
            <a:r>
              <a:rPr lang="zh-CN" altLang="en-US"/>
              <a:t>到</a:t>
            </a:r>
            <a:r>
              <a:rPr lang="en-US" altLang="zh-CN"/>
              <a:t>10</a:t>
            </a:r>
            <a:r>
              <a:rPr lang="zh-CN" altLang="en-US"/>
              <a:t>张实景参考图，标注好最佳机位、拍摄时段和必须保留的地标特征，从源头避免</a:t>
            </a:r>
            <a:r>
              <a:rPr lang="en-US" altLang="zh-CN"/>
              <a:t>AI</a:t>
            </a:r>
            <a:r>
              <a:rPr lang="zh-CN" altLang="en-US"/>
              <a:t>生成内容失真走样，首批已经覆盖无锡南长街、拈花湾、灵山大佛，以及泰山、黄山五个热门景区。</a:t>
            </a:r>
            <a:r>
              <a:rPr lang="en-US" altLang="zh-CN"/>
              <a:t>
</a:t>
            </a:r>
            <a:r>
              <a:rPr lang="zh-CN" altLang="en-US"/>
              <a:t>整个生产流程嵌入三个人工干预节点，你可以修改、删除或者重新生成脚本，可以逐镜挑选符合预期的关键帧，也能在生成的视频片段里自行选择</a:t>
            </a:r>
            <a:r>
              <a:rPr lang="en-US" altLang="zh-CN"/>
              <a:t>1</a:t>
            </a:r>
            <a:r>
              <a:rPr lang="zh-CN" altLang="en-US"/>
              <a:t>秒片段，完全满足可控生产的需求。</a:t>
            </a:r>
            <a:r>
              <a:rPr lang="en-US" altLang="zh-CN"/>
              <a:t>
</a:t>
            </a:r>
            <a:r>
              <a:rPr lang="zh-CN" altLang="en-US"/>
              <a:t>最终输出符合短视频平台要求的标准</a:t>
            </a:r>
            <a:r>
              <a:rPr lang="en-US" altLang="zh-CN"/>
              <a:t>MP4</a:t>
            </a:r>
            <a:r>
              <a:rPr lang="zh-CN" altLang="en-US"/>
              <a:t>文件，一条成品包含</a:t>
            </a:r>
            <a:r>
              <a:rPr lang="en-US" altLang="zh-CN"/>
              <a:t>24</a:t>
            </a:r>
            <a:r>
              <a:rPr lang="zh-CN" altLang="en-US"/>
              <a:t>到</a:t>
            </a:r>
            <a:r>
              <a:rPr lang="en-US" altLang="zh-CN"/>
              <a:t>30</a:t>
            </a:r>
            <a:r>
              <a:rPr lang="zh-CN" altLang="en-US"/>
              <a:t>个镜头，每个镜头严格控制为</a:t>
            </a:r>
            <a:r>
              <a:rPr lang="en-US" altLang="zh-CN"/>
              <a:t>1</a:t>
            </a:r>
            <a:r>
              <a:rPr lang="zh-CN" altLang="en-US"/>
              <a:t>秒，总时长刚好适配</a:t>
            </a:r>
            <a:r>
              <a:rPr lang="en-US" altLang="zh-CN"/>
              <a:t>30</a:t>
            </a:r>
            <a:r>
              <a:rPr lang="zh-CN" altLang="en-US"/>
              <a:t>秒左右的信息流内容；默认输出抖音小红书偏好的</a:t>
            </a:r>
            <a:r>
              <a:rPr lang="en-US" altLang="zh-CN"/>
              <a:t>9:16</a:t>
            </a:r>
            <a:r>
              <a:rPr lang="zh-CN" altLang="en-US"/>
              <a:t>竖屏，也支持切换为</a:t>
            </a:r>
            <a:r>
              <a:rPr lang="en-US" altLang="zh-CN"/>
              <a:t>16:9</a:t>
            </a:r>
            <a:r>
              <a:rPr lang="zh-CN" altLang="en-US"/>
              <a:t>横屏，成品自带烧录字幕、统一调色</a:t>
            </a:r>
            <a:r>
              <a:rPr lang="en-US" altLang="zh-CN"/>
              <a:t>LUT</a:t>
            </a:r>
            <a:r>
              <a:rPr lang="zh-CN" altLang="en-US"/>
              <a:t>和合规</a:t>
            </a:r>
            <a:r>
              <a:rPr lang="en-US" altLang="zh-CN"/>
              <a:t>AI</a:t>
            </a:r>
            <a:r>
              <a:rPr lang="zh-CN" altLang="en-US"/>
              <a:t>标识，导出后可以直接分享使用。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zh-CN" altLang="en-US"/>
              <a:t>我们都知道，现在市场上绝大多数</a:t>
            </a:r>
            <a:r>
              <a:rPr lang="en-US" altLang="zh-CN"/>
              <a:t>AI</a:t>
            </a:r>
            <a:r>
              <a:rPr lang="zh-CN" altLang="en-US"/>
              <a:t>视频工具都主打通用生成能力，而我们的</a:t>
            </a:r>
            <a:r>
              <a:rPr lang="en-US" altLang="zh-CN"/>
              <a:t>Kelvoy</a:t>
            </a:r>
            <a:r>
              <a:rPr lang="zh-CN" altLang="en-US"/>
              <a:t>可旅走的是完全不同的赛道</a:t>
            </a:r>
            <a:r>
              <a:rPr lang="en-US" altLang="zh-CN"/>
              <a:t>——</a:t>
            </a:r>
            <a:r>
              <a:rPr lang="zh-CN" altLang="en-US"/>
              <a:t>我们不做万能的通用视频生成器，只聚焦「虚拟角色搭配旅行目的地」这一个垂直场景。这种聚焦也让我们在四个核心维度上，拉开了和通用工具的差距。</a:t>
            </a:r>
            <a:r>
              <a:rPr lang="en-US" altLang="zh-CN"/>
              <a:t>
</a:t>
            </a:r>
            <a:r>
              <a:rPr lang="zh-CN" altLang="en-US"/>
              <a:t>第一是角色维度。通用</a:t>
            </a:r>
            <a:r>
              <a:rPr lang="en-US" altLang="zh-CN"/>
              <a:t>AI</a:t>
            </a:r>
            <a:r>
              <a:rPr lang="zh-CN" altLang="en-US"/>
              <a:t>视频工具每次生成都要重新描述角色形象，出来的结果全靠随机，根本没法维持固定人设。可旅不一样，我们把角色做成了账号级资产，能保证角色外形跨期一致，同时满足每期换穿搭的需求，帮账号沉淀稳定的人设资产。</a:t>
            </a:r>
            <a:r>
              <a:rPr lang="en-US" altLang="zh-CN"/>
              <a:t>
</a:t>
            </a:r>
            <a:r>
              <a:rPr lang="zh-CN" altLang="en-US"/>
              <a:t>第二是目的地维度。通用</a:t>
            </a:r>
            <a:r>
              <a:rPr lang="en-US" altLang="zh-CN"/>
              <a:t>AI</a:t>
            </a:r>
            <a:r>
              <a:rPr lang="zh-CN" altLang="en-US"/>
              <a:t>根本不懂具体地标特征，生成内容很容易失真错位，我们提前给每个景区准备了官方维护的符号包和实景参考图，从根源上保证内容保真，符合文旅宣传的真实要求。</a:t>
            </a:r>
            <a:r>
              <a:rPr lang="en-US" altLang="zh-CN"/>
              <a:t>
</a:t>
            </a:r>
            <a:r>
              <a:rPr lang="zh-CN" altLang="en-US"/>
              <a:t>第三是叙事维度。通用工具全靠模型自由发挥，内容质量全看运气，我们针对六种常见目的地类型匹配了对应的镜头语法，产出内容的叙事逻辑更稳定，更符合旅行内容的观看习惯。</a:t>
            </a:r>
            <a:r>
              <a:rPr lang="en-US" altLang="zh-CN"/>
              <a:t>
</a:t>
            </a:r>
            <a:r>
              <a:rPr lang="zh-CN" altLang="en-US"/>
              <a:t>第四是过程和成本维度。通用工具大多是一键黑盒模式，生成后没法修改干预，而且按次付费成本不可控。我们设计了六阶段生成流程加三个人工审核节点，全程可改可重跑，成本上以本地</a:t>
            </a:r>
            <a:r>
              <a:rPr lang="en-US" altLang="zh-CN"/>
              <a:t>DGX</a:t>
            </a:r>
            <a:r>
              <a:rPr lang="zh-CN" altLang="en-US"/>
              <a:t>运算为主，只在需要的时候调用</a:t>
            </a:r>
            <a:r>
              <a:rPr lang="en-US" altLang="zh-CN"/>
              <a:t>API</a:t>
            </a:r>
            <a:r>
              <a:rPr lang="zh-CN" altLang="en-US"/>
              <a:t>溢出，整期</a:t>
            </a:r>
            <a:r>
              <a:rPr lang="en-US" altLang="zh-CN"/>
              <a:t>Vlog</a:t>
            </a:r>
            <a:r>
              <a:rPr lang="zh-CN" altLang="en-US"/>
              <a:t>生成成本最高不超过</a:t>
            </a:r>
            <a:r>
              <a:rPr lang="en-US" altLang="zh-CN"/>
              <a:t>20</a:t>
            </a:r>
            <a:r>
              <a:rPr lang="zh-CN" altLang="en-US"/>
              <a:t>元，性价比远超同类方案。</a:t>
            </a:r>
            <a:r>
              <a:rPr lang="en-US" altLang="zh-CN"/>
              <a:t>
</a:t>
            </a:r>
            <a:r>
              <a:rPr lang="zh-CN" altLang="en-US"/>
              <a:t>最后要强调的是，我们的核心竞争力从来不只在模型本身，真正的护城河是我们积累的角色资产、目的地资源库，以及稳定的跨期一致性能力，这是通用工具没法比的。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zh-CN" altLang="en-US"/>
              <a:t>我们这套生产流程，拆解为清晰的六步生成环节，搭配三个人工审核节点牢牢把控内容质量，从根源上解决了通用</a:t>
            </a:r>
            <a:r>
              <a:rPr lang="en-US" altLang="zh-CN"/>
              <a:t>AI</a:t>
            </a:r>
            <a:r>
              <a:rPr lang="zh-CN" altLang="en-US"/>
              <a:t>工具不可控、不可改的痛点。</a:t>
            </a:r>
            <a:r>
              <a:rPr lang="en-US" altLang="zh-CN"/>
              <a:t>
</a:t>
            </a:r>
            <a:r>
              <a:rPr lang="zh-CN" altLang="en-US"/>
              <a:t>第一步建期环节，你只需要确定要使用的虚拟角色、目标旅行目的地、内容模板和输出画幅，就能快速创建一期</a:t>
            </a:r>
            <a:r>
              <a:rPr lang="en-US" altLang="zh-CN"/>
              <a:t>Vlog</a:t>
            </a:r>
            <a:r>
              <a:rPr lang="zh-CN" altLang="en-US"/>
              <a:t>生产任务。完成基础配置后，系统会自动生成包含</a:t>
            </a:r>
            <a:r>
              <a:rPr lang="en-US" altLang="zh-CN"/>
              <a:t>24</a:t>
            </a:r>
            <a:r>
              <a:rPr lang="zh-CN" altLang="en-US"/>
              <a:t>到</a:t>
            </a:r>
            <a:r>
              <a:rPr lang="en-US" altLang="zh-CN"/>
              <a:t>30</a:t>
            </a:r>
            <a:r>
              <a:rPr lang="zh-CN" altLang="en-US"/>
              <a:t>镜内容、带逐镜字幕的</a:t>
            </a:r>
            <a:r>
              <a:rPr lang="en-US" altLang="zh-CN"/>
              <a:t>JSON</a:t>
            </a:r>
            <a:r>
              <a:rPr lang="zh-CN" altLang="en-US"/>
              <a:t>格式脚本，接着系统会拉取对应角色资产生成版本快照和参考图集。如果选择传统精修路径，系统会为每一镜生成</a:t>
            </a:r>
            <a:r>
              <a:rPr lang="en-US" altLang="zh-CN"/>
              <a:t>1</a:t>
            </a:r>
            <a:r>
              <a:rPr lang="zh-CN" altLang="en-US"/>
              <a:t>到</a:t>
            </a:r>
            <a:r>
              <a:rPr lang="en-US" altLang="zh-CN"/>
              <a:t>3</a:t>
            </a:r>
            <a:r>
              <a:rPr lang="zh-CN" altLang="en-US"/>
              <a:t>张关键帧候选图，之后再基于选定的关键帧生成</a:t>
            </a:r>
            <a:r>
              <a:rPr lang="en-US" altLang="zh-CN"/>
              <a:t>3</a:t>
            </a:r>
            <a:r>
              <a:rPr lang="zh-CN" altLang="en-US"/>
              <a:t>到</a:t>
            </a:r>
            <a:r>
              <a:rPr lang="en-US" altLang="zh-CN"/>
              <a:t>5</a:t>
            </a:r>
            <a:r>
              <a:rPr lang="zh-CN" altLang="en-US"/>
              <a:t>秒的视频片段，你只需要从中截取符合要求的</a:t>
            </a:r>
            <a:r>
              <a:rPr lang="en-US" altLang="zh-CN"/>
              <a:t>1</a:t>
            </a:r>
            <a:r>
              <a:rPr lang="zh-CN" altLang="en-US"/>
              <a:t>秒内容，最终系统会自动完成卡点、调色、烧录字幕、添加</a:t>
            </a:r>
            <a:r>
              <a:rPr lang="en-US" altLang="zh-CN"/>
              <a:t>AI</a:t>
            </a:r>
            <a:r>
              <a:rPr lang="zh-CN" altLang="en-US"/>
              <a:t>标识，输出完整的成片</a:t>
            </a:r>
            <a:r>
              <a:rPr lang="en-US" altLang="zh-CN"/>
              <a:t>MP4</a:t>
            </a:r>
            <a:r>
              <a:rPr lang="zh-CN" altLang="en-US"/>
              <a:t>。</a:t>
            </a:r>
            <a:r>
              <a:rPr lang="en-US" altLang="zh-CN"/>
              <a:t>
</a:t>
            </a:r>
            <a:r>
              <a:rPr lang="zh-CN" altLang="en-US"/>
              <a:t>三个审核节点分别设置在脚本生成、关键帧产出和片段生成环节，每个环节都支持修改内容、重新生成，创作者完全掌握内容主导权。这套流程的核心设计思路，是把</a:t>
            </a:r>
            <a:r>
              <a:rPr lang="en-US" altLang="zh-CN"/>
              <a:t>AI</a:t>
            </a:r>
            <a:r>
              <a:rPr lang="zh-CN" altLang="en-US"/>
              <a:t>生成的不确定性都放在成本更低的静帧阶段处理，视频环节只需要让模型完成画面动态化，最终的剪辑节奏交给合成环节把控，既控制了生成成本，又保证了成片质量的稳定性。所有片段审核通过后，才会进入最终的合成步骤，从流程上避免了无效算力浪费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zh-CN" altLang="en-US"/>
              <a:t>可旅</a:t>
            </a:r>
            <a:r>
              <a:rPr lang="en-US" altLang="zh-CN"/>
              <a:t> Kelvoy </a:t>
            </a:r>
            <a:r>
              <a:rPr lang="zh-CN" altLang="en-US"/>
              <a:t>针对不同产出需求，设计了两条生产路径，匹配不同的效率和质量要求。系统默认推荐直出视频路径，全程以角色和地标的参考图直接生成视频，跳过了图片候选和关键帧人工挑选环节，不产生额外的图片积分消耗，完整生产周期最短，单条</a:t>
            </a:r>
            <a:r>
              <a:rPr lang="en-US" altLang="zh-CN"/>
              <a:t>Vlog</a:t>
            </a:r>
            <a:r>
              <a:rPr lang="zh-CN" altLang="en-US"/>
              <a:t>的生成成本也控制在最低区间，完美适配文旅代运营客户批量更新账号内容的核心需求。</a:t>
            </a:r>
            <a:r>
              <a:rPr lang="en-US" altLang="zh-CN"/>
              <a:t>
</a:t>
            </a:r>
            <a:r>
              <a:rPr lang="zh-CN" altLang="en-US"/>
              <a:t>如果创作者需要打造爆款重点内容，可以选择精修关键帧的传统路径。这条路径会先生成多张候选关键帧，创作者可以逐镜挑选满意画面，不满意还能修改提示词重新生成，最终用选定的关键帧作为基础生成视频，实现逐镜可控的精细调整。</a:t>
            </a:r>
            <a:r>
              <a:rPr lang="en-US" altLang="zh-CN"/>
              <a:t>
</a:t>
            </a:r>
            <a:r>
              <a:rPr lang="zh-CN" altLang="en-US"/>
              <a:t>为保障老用户的使用体验，原有项目保留原流程运行，不会自动转换格式，已有的逐镜项目也支持手动迁移到新版剪辑流程，兼顾功能迭代和历史兼容。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zh-CN" altLang="en-US"/>
              <a:t>看完整体产品架构和流程后，我们来看可旅</a:t>
            </a:r>
            <a:r>
              <a:rPr lang="en-US" altLang="zh-CN"/>
              <a:t>Kelvoy</a:t>
            </a:r>
            <a:r>
              <a:rPr lang="zh-CN" altLang="en-US"/>
              <a:t>最核心的剪辑规则设计，这套规则完全贴合当下短视频用户的观看习惯。</a:t>
            </a:r>
            <a:r>
              <a:rPr lang="en-US" altLang="zh-CN"/>
              <a:t>
</a:t>
            </a:r>
            <a:r>
              <a:rPr lang="zh-CN" altLang="en-US"/>
              <a:t>可旅采用每镜严格</a:t>
            </a:r>
            <a:r>
              <a:rPr lang="en-US" altLang="zh-CN"/>
              <a:t>1</a:t>
            </a:r>
            <a:r>
              <a:rPr lang="zh-CN" altLang="en-US"/>
              <a:t>秒、</a:t>
            </a:r>
            <a:r>
              <a:rPr lang="en-US" altLang="zh-CN"/>
              <a:t>30</a:t>
            </a:r>
            <a:r>
              <a:rPr lang="zh-CN" altLang="en-US"/>
              <a:t>帧</a:t>
            </a:r>
            <a:r>
              <a:rPr lang="en-US" altLang="zh-CN"/>
              <a:t>@30fps</a:t>
            </a:r>
            <a:r>
              <a:rPr lang="zh-CN" altLang="en-US"/>
              <a:t>的标准化设置，切点精准对齐</a:t>
            </a:r>
            <a:r>
              <a:rPr lang="en-US" altLang="zh-CN"/>
              <a:t>1/30</a:t>
            </a:r>
            <a:r>
              <a:rPr lang="zh-CN" altLang="en-US"/>
              <a:t>秒的整数帧窗口，系统自动校验选段不会超出片尾范围。相邻镜头前后各设置</a:t>
            </a:r>
            <a:r>
              <a:rPr lang="en-US" altLang="zh-CN"/>
              <a:t>2</a:t>
            </a:r>
            <a:r>
              <a:rPr lang="zh-CN" altLang="en-US"/>
              <a:t>帧的片内淡入淡出转场，避免画面跳转过于突兀，保证整体观看流畅度。</a:t>
            </a:r>
            <a:r>
              <a:rPr lang="en-US" altLang="zh-CN"/>
              <a:t>
</a:t>
            </a:r>
            <a:r>
              <a:rPr lang="zh-CN" altLang="en-US"/>
              <a:t>字幕默认开启，直接烧录到每一秒的镜头窗口中，片头的自然偏移由多镜头拼接自动生成，不需要额外手动调整。片头片尾默认关闭，用户可在合成设置中自行添加，配乐仅覆盖全片，不会改动已经设置好的切点位置。</a:t>
            </a:r>
            <a:r>
              <a:rPr lang="en-US" altLang="zh-CN"/>
              <a:t>AI</a:t>
            </a:r>
            <a:r>
              <a:rPr lang="zh-CN" altLang="en-US"/>
              <a:t>标识同时通过右下角半透明水印和文件元数据双重标注，完全符合</a:t>
            </a:r>
            <a:r>
              <a:rPr lang="en-US" altLang="zh-CN"/>
              <a:t>2025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月即将施行的</a:t>
            </a:r>
            <a:r>
              <a:rPr lang="en-US" altLang="zh-CN"/>
              <a:t>AI</a:t>
            </a:r>
            <a:r>
              <a:rPr lang="zh-CN" altLang="en-US"/>
              <a:t>生成内容标识规定。</a:t>
            </a:r>
            <a:r>
              <a:rPr lang="en-US" altLang="zh-CN"/>
              <a:t>
</a:t>
            </a:r>
            <a:r>
              <a:rPr lang="zh-CN" altLang="en-US"/>
              <a:t>这套标准化剪辑规则打造出明快紧凑的节奏，完美适配抖音、小红书等平台</a:t>
            </a:r>
            <a:r>
              <a:rPr lang="en-US" altLang="zh-CN"/>
              <a:t>9:16</a:t>
            </a:r>
            <a:r>
              <a:rPr lang="zh-CN" altLang="en-US"/>
              <a:t>竖屏信息流的观看习惯，用户拿到成片就能直接分享。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zh-CN" altLang="en-US"/>
              <a:t>介绍完产品的核心形态与体验设计，接下来我们拆解产品背后的技术与工程方案，看清可旅</a:t>
            </a:r>
            <a:r>
              <a:rPr lang="en-US" altLang="zh-CN"/>
              <a:t>Kelvoy</a:t>
            </a:r>
            <a:r>
              <a:rPr lang="zh-CN" altLang="en-US"/>
              <a:t>如何稳定实现</a:t>
            </a:r>
            <a:r>
              <a:rPr lang="en-US" altLang="zh-CN"/>
              <a:t>AI</a:t>
            </a:r>
            <a:r>
              <a:rPr lang="zh-CN" altLang="en-US"/>
              <a:t>旅行</a:t>
            </a:r>
            <a:r>
              <a:rPr lang="en-US" altLang="zh-CN"/>
              <a:t>Vlog</a:t>
            </a:r>
            <a:r>
              <a:rPr lang="zh-CN" altLang="en-US"/>
              <a:t>的批量生产。</a:t>
            </a:r>
            <a:r>
              <a:rPr lang="en-US" altLang="zh-CN"/>
              <a:t>
</a:t>
            </a:r>
            <a:r>
              <a:rPr lang="zh-CN" altLang="en-US"/>
              <a:t>可旅选择搭建本地优先的单机闭环架构，把</a:t>
            </a:r>
            <a:r>
              <a:rPr lang="en-US" altLang="zh-CN"/>
              <a:t>SQLite</a:t>
            </a:r>
            <a:r>
              <a:rPr lang="zh-CN" altLang="en-US"/>
              <a:t>作为全系统唯一真数据源，这套架构支撑起敢在现场直接重试的工程底座，大幅降低了系统运维与数据一致性的成本。</a:t>
            </a:r>
            <a:r>
              <a:rPr lang="en-US" altLang="zh-CN"/>
              <a:t>
</a:t>
            </a:r>
            <a:r>
              <a:rPr lang="zh-CN" altLang="en-US"/>
              <a:t>整套架构拆解为三个核心设计方向，每个方向对应具体落地方案。第一，搭建全链路单机闭环，前端用</a:t>
            </a:r>
            <a:r>
              <a:rPr lang="en-US" altLang="zh-CN"/>
              <a:t>React+Vite</a:t>
            </a:r>
            <a:r>
              <a:rPr lang="zh-CN" altLang="en-US"/>
              <a:t>搭建交互界面，后端整合</a:t>
            </a:r>
            <a:r>
              <a:rPr lang="en-US" altLang="zh-CN"/>
              <a:t>Hono</a:t>
            </a:r>
            <a:r>
              <a:rPr lang="zh-CN" altLang="en-US"/>
              <a:t>、</a:t>
            </a:r>
            <a:r>
              <a:rPr lang="en-US" altLang="zh-CN"/>
              <a:t>SQLite</a:t>
            </a:r>
            <a:r>
              <a:rPr lang="zh-CN" altLang="en-US"/>
              <a:t>、任务</a:t>
            </a:r>
            <a:r>
              <a:rPr lang="en-US" altLang="zh-CN"/>
              <a:t>Worker</a:t>
            </a:r>
            <a:r>
              <a:rPr lang="zh-CN" altLang="en-US"/>
              <a:t>与</a:t>
            </a:r>
            <a:r>
              <a:rPr lang="en-US" altLang="zh-CN"/>
              <a:t>ComfyUI</a:t>
            </a:r>
            <a:r>
              <a:rPr lang="zh-CN" altLang="en-US"/>
              <a:t>推理框架，所有核心逻辑都能在单节点运行。第二，分层对接推理能力，给每个生成环节单独设置接口，核心推理任务优先走本地部署模型，遇到算力不足或本地生成失败的情况，自动切换到第三方</a:t>
            </a:r>
            <a:r>
              <a:rPr lang="en-US" altLang="zh-CN"/>
              <a:t>API</a:t>
            </a:r>
            <a:r>
              <a:rPr lang="zh-CN" altLang="en-US"/>
              <a:t>溢出，保障生产流程不中断。第三，设计动作级计价体系，对每个生成动作做原子化的积分预留、结算与释放，既精准统计用量，也能在生成失败时自动释放额度，避免资源浪费。</a:t>
            </a:r>
            <a:r>
              <a:rPr lang="en-US" altLang="zh-CN"/>
              <a:t>
</a:t>
            </a:r>
            <a:r>
              <a:rPr lang="zh-CN" altLang="en-US"/>
              <a:t>后续我们会展开讲解每个设计方向的具体落地细节，帮大家理解这套架构的优势。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zh-CN" altLang="en-US"/>
              <a:t>可旅产品选择本地优先的单机闭环架构，把</a:t>
            </a:r>
            <a:r>
              <a:rPr lang="en-US" altLang="zh-CN"/>
              <a:t>SQLite</a:t>
            </a:r>
            <a:r>
              <a:rPr lang="zh-CN" altLang="en-US"/>
              <a:t>作为唯一真源，这套架构完全服务于</a:t>
            </a:r>
            <a:r>
              <a:rPr lang="en-US" altLang="zh-CN"/>
              <a:t>AI</a:t>
            </a:r>
            <a:r>
              <a:rPr lang="zh-CN" altLang="en-US"/>
              <a:t>旅行</a:t>
            </a:r>
            <a:r>
              <a:rPr lang="en-US" altLang="zh-CN"/>
              <a:t>Vlog</a:t>
            </a:r>
            <a:r>
              <a:rPr lang="zh-CN" altLang="en-US"/>
              <a:t>生产的核心场景。</a:t>
            </a:r>
            <a:r>
              <a:rPr lang="en-US" altLang="zh-CN"/>
              <a:t>
</a:t>
            </a:r>
            <a:r>
              <a:rPr lang="zh-CN" altLang="en-US"/>
              <a:t>最上层是面向用户的</a:t>
            </a:r>
            <a:r>
              <a:rPr lang="en-US" altLang="zh-CN"/>
              <a:t>WEB</a:t>
            </a:r>
            <a:r>
              <a:rPr lang="zh-CN" altLang="en-US"/>
              <a:t>端，基于</a:t>
            </a:r>
            <a:r>
              <a:rPr lang="en-US" altLang="zh-CN"/>
              <a:t>React + Vite</a:t>
            </a:r>
            <a:r>
              <a:rPr lang="zh-CN" altLang="en-US"/>
              <a:t>搭建，覆盖官网登录、项目创建、内容审核、用量查询、作品分享全流程用户操作。</a:t>
            </a:r>
            <a:r>
              <a:rPr lang="en-US" altLang="zh-CN"/>
              <a:t>WEB</a:t>
            </a:r>
            <a:r>
              <a:rPr lang="zh-CN" altLang="en-US"/>
              <a:t>层通过运行在</a:t>
            </a:r>
            <a:r>
              <a:rPr lang="en-US" altLang="zh-CN"/>
              <a:t>3000</a:t>
            </a:r>
            <a:r>
              <a:rPr lang="zh-CN" altLang="en-US"/>
              <a:t>端口的</a:t>
            </a:r>
            <a:r>
              <a:rPr lang="en-US" altLang="zh-CN"/>
              <a:t>Hono</a:t>
            </a:r>
            <a:r>
              <a:rPr lang="zh-CN" altLang="en-US"/>
              <a:t>框架提供</a:t>
            </a:r>
            <a:r>
              <a:rPr lang="en-US" altLang="zh-CN"/>
              <a:t>API</a:t>
            </a:r>
            <a:r>
              <a:rPr lang="zh-CN" altLang="en-US"/>
              <a:t>接口，承接前端所有操作请求。</a:t>
            </a:r>
            <a:r>
              <a:rPr lang="en-US" altLang="zh-CN"/>
              <a:t>
</a:t>
            </a:r>
            <a:r>
              <a:rPr lang="zh-CN" altLang="en-US"/>
              <a:t>核心数据层统一存储在</a:t>
            </a:r>
            <a:r>
              <a:rPr lang="en-US" altLang="zh-CN"/>
              <a:t>SQLite</a:t>
            </a:r>
            <a:r>
              <a:rPr lang="zh-CN" altLang="en-US"/>
              <a:t>中，项目、角色、目的地、模板、任务、积分等所有核心数据都在这里沉淀，彻底规避多数据源带来的一致性风险。消费任务由独立的</a:t>
            </a:r>
            <a:r>
              <a:rPr lang="en-US" altLang="zh-CN"/>
              <a:t>worker</a:t>
            </a:r>
            <a:r>
              <a:rPr lang="zh-CN" altLang="en-US"/>
              <a:t>模块承担，负责任务租约管理、生成适配、产物归档、</a:t>
            </a:r>
            <a:r>
              <a:rPr lang="en-US" altLang="zh-CN"/>
              <a:t>ffmpeg</a:t>
            </a:r>
            <a:r>
              <a:rPr lang="zh-CN" altLang="en-US"/>
              <a:t>视频合成和积分结算全流程。推理层对接</a:t>
            </a:r>
            <a:r>
              <a:rPr lang="en-US" altLang="zh-CN"/>
              <a:t>Qwen-Image 2.1</a:t>
            </a:r>
            <a:r>
              <a:rPr lang="zh-CN" altLang="en-US"/>
              <a:t>和</a:t>
            </a:r>
            <a:r>
              <a:rPr lang="en-US" altLang="zh-CN"/>
              <a:t>MiniMax H3</a:t>
            </a:r>
            <a:r>
              <a:rPr lang="zh-CN" altLang="en-US"/>
              <a:t>两个核心模型，通过</a:t>
            </a:r>
            <a:r>
              <a:rPr lang="en-US" altLang="zh-CN"/>
              <a:t>comfyui-bridge</a:t>
            </a:r>
            <a:r>
              <a:rPr lang="zh-CN" altLang="en-US"/>
              <a:t>工作流完成图生图、图生视频的生成任务。</a:t>
            </a:r>
            <a:r>
              <a:rPr lang="en-US" altLang="zh-CN"/>
              <a:t>
</a:t>
            </a:r>
            <a:r>
              <a:rPr lang="zh-CN" altLang="en-US"/>
              <a:t>这套架构明确六条不可触碰的红线，砍掉不必要的中间件，避免复杂内部调用，锁定</a:t>
            </a:r>
            <a:r>
              <a:rPr lang="en-US" altLang="zh-CN"/>
              <a:t>ffmpeg</a:t>
            </a:r>
            <a:r>
              <a:rPr lang="zh-CN" altLang="en-US"/>
              <a:t>的运行位置，支持模型灵活替换，规范产物存储路径，预留后续拆分扩展空间。最终实现单机器单数据源部署，把运维复杂度和数据一致性风险降到最低。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zh-CN" altLang="en-US"/>
              <a:t>我们这套生成框架采用模块化设计思路，每个生产环节独立配置适配接口，核心计算优先运行在本地，超出本地负载或本地调用失败时，自动切换到第三方</a:t>
            </a:r>
            <a:r>
              <a:rPr lang="en-US" altLang="zh-CN"/>
              <a:t>API</a:t>
            </a:r>
            <a:r>
              <a:rPr lang="zh-CN" altLang="en-US"/>
              <a:t>服务完成，兼顾运行成本与生成稳定性。</a:t>
            </a:r>
            <a:r>
              <a:rPr lang="en-US" altLang="zh-CN"/>
              <a:t>
</a:t>
            </a:r>
            <a:r>
              <a:rPr lang="zh-CN" altLang="en-US"/>
              <a:t>脚本生成环节接入字节跳动的阶跃星辰</a:t>
            </a:r>
            <a:r>
              <a:rPr lang="en-US" altLang="zh-CN"/>
              <a:t>API</a:t>
            </a:r>
            <a:r>
              <a:rPr lang="zh-CN" altLang="en-US"/>
              <a:t>，输入项目简介和目的地资料包，就能直接输出</a:t>
            </a:r>
            <a:r>
              <a:rPr lang="en-US" altLang="zh-CN"/>
              <a:t>24</a:t>
            </a:r>
            <a:r>
              <a:rPr lang="zh-CN" altLang="en-US"/>
              <a:t>到</a:t>
            </a:r>
            <a:r>
              <a:rPr lang="en-US" altLang="zh-CN"/>
              <a:t>30</a:t>
            </a:r>
            <a:r>
              <a:rPr lang="zh-CN" altLang="en-US"/>
              <a:t>镜的结构化</a:t>
            </a:r>
            <a:r>
              <a:rPr lang="en-US" altLang="zh-CN"/>
              <a:t>JSON</a:t>
            </a:r>
            <a:r>
              <a:rPr lang="zh-CN" altLang="en-US"/>
              <a:t>脚本，还支持用户根据创作需求调整优化重生成。图像生成环节，我们选用本地部署的通义千问</a:t>
            </a:r>
            <a:r>
              <a:rPr lang="en-US" altLang="zh-CN"/>
              <a:t>Image 2.1</a:t>
            </a:r>
            <a:r>
              <a:rPr lang="zh-CN" altLang="en-US"/>
              <a:t>大模型，支持单参考生成角色图、双参考同时生成角色和地标图，每镜自动输出</a:t>
            </a:r>
            <a:r>
              <a:rPr lang="en-US" altLang="zh-CN"/>
              <a:t>1</a:t>
            </a:r>
            <a:r>
              <a:rPr lang="zh-CN" altLang="en-US"/>
              <a:t>到</a:t>
            </a:r>
            <a:r>
              <a:rPr lang="en-US" altLang="zh-CN"/>
              <a:t>3</a:t>
            </a:r>
            <a:r>
              <a:rPr lang="zh-CN" altLang="en-US"/>
              <a:t>张候选图供人工筛选。视频生成环节，在本地部署</a:t>
            </a:r>
            <a:r>
              <a:rPr lang="en-US" altLang="zh-CN"/>
              <a:t>MiniMax H3</a:t>
            </a:r>
            <a:r>
              <a:rPr lang="zh-CN" altLang="en-US"/>
              <a:t>模型，同时支持默认路径的双参考直出视频，以及精修路径的关键帧图生视频，为每段视频预留充足的生成预算，保证输出效果。</a:t>
            </a:r>
            <a:r>
              <a:rPr lang="en-US" altLang="zh-CN"/>
              <a:t>
</a:t>
            </a:r>
            <a:r>
              <a:rPr lang="zh-CN" altLang="en-US"/>
              <a:t>为了避免本地服务故障影响项目进度，我们配置了可灵和即梦</a:t>
            </a:r>
            <a:r>
              <a:rPr lang="en-US" altLang="zh-CN"/>
              <a:t>API</a:t>
            </a:r>
            <a:r>
              <a:rPr lang="zh-CN" altLang="en-US"/>
              <a:t>作为溢出通道，本地重试不超过</a:t>
            </a:r>
            <a:r>
              <a:rPr lang="en-US" altLang="zh-CN"/>
              <a:t>2</a:t>
            </a:r>
            <a:r>
              <a:rPr lang="zh-CN" altLang="en-US"/>
              <a:t>次失败后自动切换，本地排队超出阈值也会直接转溢出通道，不浪费用户等待时间。配乐环节从商用授权曲库按风格检索匹配，当前版本暂不支持</a:t>
            </a:r>
            <a:r>
              <a:rPr lang="en-US" altLang="zh-CN"/>
              <a:t>AI</a:t>
            </a:r>
            <a:r>
              <a:rPr lang="zh-CN" altLang="en-US"/>
              <a:t>生成音乐。最终合成环节由本地</a:t>
            </a:r>
            <a:r>
              <a:rPr lang="en-US" altLang="zh-CN"/>
              <a:t>Worker</a:t>
            </a:r>
            <a:r>
              <a:rPr lang="zh-CN" altLang="en-US"/>
              <a:t>调用</a:t>
            </a:r>
            <a:r>
              <a:rPr lang="en-US" altLang="zh-CN"/>
              <a:t>FFmpeg</a:t>
            </a:r>
            <a:r>
              <a:rPr lang="zh-CN" altLang="en-US"/>
              <a:t>完成，统一处理帧对齐、调色、字幕、转场、</a:t>
            </a:r>
            <a:r>
              <a:rPr lang="en-US" altLang="zh-CN"/>
              <a:t>AI</a:t>
            </a:r>
            <a:r>
              <a:rPr lang="zh-CN" altLang="en-US"/>
              <a:t>标识和封装输出。</a:t>
            </a:r>
            <a:r>
              <a:rPr lang="en-US" altLang="zh-CN"/>
              <a:t>
</a:t>
            </a:r>
            <a:r>
              <a:rPr lang="zh-CN" altLang="en-US"/>
              <a:t>所有生成调用都会完整记录供应商、模型版本、随机种子、参考图哈希和对应费用，最终按项目汇总生成完整成本报告，方便团队核算资源消耗。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zh-CN" altLang="en-US"/>
              <a:t>可旅作为现场可用的</a:t>
            </a:r>
            <a:r>
              <a:rPr lang="en-US" altLang="zh-CN"/>
              <a:t>AI</a:t>
            </a:r>
            <a:r>
              <a:rPr lang="zh-CN" altLang="en-US"/>
              <a:t>旅行</a:t>
            </a:r>
            <a:r>
              <a:rPr lang="en-US" altLang="zh-CN"/>
              <a:t>Vlog</a:t>
            </a:r>
            <a:r>
              <a:rPr lang="zh-CN" altLang="en-US"/>
              <a:t>生产工具，核心需求就是支持用户随时在旅行现场操作、重试，我们围绕这个需求设计了六项工程机制，全方位降低重试的成本与风险。</a:t>
            </a:r>
            <a:r>
              <a:rPr lang="en-US" altLang="zh-CN"/>
              <a:t>
</a:t>
            </a:r>
            <a:r>
              <a:rPr lang="zh-CN" altLang="en-US"/>
              <a:t>第一项任务租约机制解决意外宕机丢任务问题，租约到期未完成的任务会自动被队列回收重新领取，哪怕</a:t>
            </a:r>
            <a:r>
              <a:rPr lang="en-US" altLang="zh-CN"/>
              <a:t>Worker</a:t>
            </a:r>
            <a:r>
              <a:rPr lang="zh-CN" altLang="en-US"/>
              <a:t>意外重启，也不会丢失任何任务。第二项事务化结果提交，把任务结果、项目状态、积分结算三个操作绑定成一个事务统一落库，保证数据状态始终一致，不会出现</a:t>
            </a:r>
            <a:r>
              <a:rPr lang="en-US" altLang="zh-CN"/>
              <a:t>partial failure</a:t>
            </a:r>
            <a:r>
              <a:rPr lang="zh-CN" altLang="en-US"/>
              <a:t>的脏数据。</a:t>
            </a:r>
            <a:r>
              <a:rPr lang="en-US" altLang="zh-CN"/>
              <a:t>
</a:t>
            </a:r>
            <a:r>
              <a:rPr lang="zh-CN" altLang="en-US"/>
              <a:t>第三项失败重试复用候选，保留已经成功生成的候选文件，沿用原</a:t>
            </a:r>
            <a:r>
              <a:rPr lang="en-US" altLang="zh-CN"/>
              <a:t>ID</a:t>
            </a:r>
            <a:r>
              <a:rPr lang="zh-CN" altLang="en-US"/>
              <a:t>不用重复计算，省下不必要的</a:t>
            </a:r>
            <a:r>
              <a:rPr lang="en-US" altLang="zh-CN"/>
              <a:t>GPU</a:t>
            </a:r>
            <a:r>
              <a:rPr lang="zh-CN" altLang="en-US"/>
              <a:t>算力消耗。第四项优雅停机处理，收到终止信号后立刻停止接收新任务，等所有运行中的任务完成后再退出进程，不会打断正在进行的生成任务。</a:t>
            </a:r>
            <a:r>
              <a:rPr lang="en-US" altLang="zh-CN"/>
              <a:t>
</a:t>
            </a:r>
            <a:r>
              <a:rPr lang="zh-CN" altLang="en-US"/>
              <a:t>第五项媒体完整性校验，限制流式下载单文件大小不超过</a:t>
            </a:r>
            <a:r>
              <a:rPr lang="en-US" altLang="zh-CN"/>
              <a:t>512MB</a:t>
            </a:r>
            <a:r>
              <a:rPr lang="zh-CN" altLang="en-US"/>
              <a:t>，生成后提前用</a:t>
            </a:r>
            <a:r>
              <a:rPr lang="en-US" altLang="zh-CN"/>
              <a:t>Pillow</a:t>
            </a:r>
            <a:r>
              <a:rPr lang="zh-CN" altLang="en-US"/>
              <a:t>验证图片、用</a:t>
            </a:r>
            <a:r>
              <a:rPr lang="en-US" altLang="zh-CN"/>
              <a:t>ffmpeg</a:t>
            </a:r>
            <a:r>
              <a:rPr lang="zh-CN" altLang="en-US"/>
              <a:t>验证视频流，发现损坏直接取消任务，避免把坏文件流入下一环节。第六项过期产物自动清扫，</a:t>
            </a:r>
            <a:r>
              <a:rPr lang="en-US" altLang="zh-CN"/>
              <a:t>Worker</a:t>
            </a:r>
            <a:r>
              <a:rPr lang="zh-CN" altLang="en-US"/>
              <a:t>每小时定时清理过期推理临时文件和发布暂存，自动控制磁盘占用，避免存储溢出。</a:t>
            </a:r>
            <a:r>
              <a:rPr lang="en-US" altLang="zh-CN"/>
              <a:t>
</a:t>
            </a:r>
            <a:r>
              <a:rPr lang="zh-CN" altLang="en-US"/>
              <a:t>整套设计围绕「现场重试更便宜安全」的核心原则落地，实现六个核心承诺：不丢任务、不浪费重复算力、不输出脏数据、不中断生成流程、不传递坏文件、不额外占用磁盘空间，完全适配现场随时调整创作的需求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zh-CN" altLang="en-US"/>
              <a:t>我们采用动作级计价模式，拆分到每个生产环节做原子化管理，这套机制能精准控制成本，也能让资源调度更灵活。</a:t>
            </a:r>
            <a:r>
              <a:rPr lang="en-US" altLang="zh-CN"/>
              <a:t>
</a:t>
            </a:r>
            <a:r>
              <a:rPr lang="zh-CN" altLang="en-US"/>
              <a:t>建期和阶段提交时，系统会先预扣对应积分，任务成功就正式结算，任务失败自动释放积分退回账户，完全避免无效扣费。所有计价流水保持不可变且天然幂等，不会出现重复扣减的问题，用量页也会按期按模型分类展示，让每个环节的成本一目了然。</a:t>
            </a:r>
            <a:r>
              <a:rPr lang="en-US" altLang="zh-CN"/>
              <a:t>
</a:t>
            </a:r>
            <a:r>
              <a:rPr lang="zh-CN" altLang="en-US"/>
              <a:t>我们按</a:t>
            </a:r>
            <a:r>
              <a:rPr lang="en-US" altLang="zh-CN"/>
              <a:t>28</a:t>
            </a:r>
            <a:r>
              <a:rPr lang="zh-CN" altLang="en-US"/>
              <a:t>镜的常规单期做了成本测算：直出视频路径总共需要</a:t>
            </a:r>
            <a:r>
              <a:rPr lang="en-US" altLang="zh-CN"/>
              <a:t>282</a:t>
            </a:r>
            <a:r>
              <a:rPr lang="zh-CN" altLang="en-US"/>
              <a:t>积分，因为省去了生成单独关键帧图片的积分消耗；</a:t>
            </a:r>
            <a:r>
              <a:rPr lang="en-US" altLang="zh-CN"/>
              <a:t>1</a:t>
            </a:r>
            <a:r>
              <a:rPr lang="zh-CN" altLang="en-US"/>
              <a:t>个关键帧路径需要</a:t>
            </a:r>
            <a:r>
              <a:rPr lang="en-US" altLang="zh-CN"/>
              <a:t>310</a:t>
            </a:r>
            <a:r>
              <a:rPr lang="zh-CN" altLang="en-US"/>
              <a:t>积分，</a:t>
            </a:r>
            <a:r>
              <a:rPr lang="en-US" altLang="zh-CN"/>
              <a:t>2</a:t>
            </a:r>
            <a:r>
              <a:rPr lang="zh-CN" altLang="en-US"/>
              <a:t>个关键帧路径需要</a:t>
            </a:r>
            <a:r>
              <a:rPr lang="en-US" altLang="zh-CN"/>
              <a:t>338</a:t>
            </a:r>
            <a:r>
              <a:rPr lang="zh-CN" altLang="en-US"/>
              <a:t>积分，</a:t>
            </a:r>
            <a:r>
              <a:rPr lang="en-US" altLang="zh-CN"/>
              <a:t>3</a:t>
            </a:r>
            <a:r>
              <a:rPr lang="zh-CN" altLang="en-US"/>
              <a:t>个关键帧路径需要</a:t>
            </a:r>
            <a:r>
              <a:rPr lang="en-US" altLang="zh-CN"/>
              <a:t>366</a:t>
            </a:r>
            <a:r>
              <a:rPr lang="zh-CN" altLang="en-US"/>
              <a:t>积分。对比</a:t>
            </a:r>
            <a:r>
              <a:rPr lang="en-US" altLang="zh-CN"/>
              <a:t>3</a:t>
            </a:r>
            <a:r>
              <a:rPr lang="zh-CN" altLang="en-US"/>
              <a:t>个关键帧的传统路径，直出路径能节省约</a:t>
            </a:r>
            <a:r>
              <a:rPr lang="en-US" altLang="zh-CN"/>
              <a:t>23%</a:t>
            </a:r>
            <a:r>
              <a:rPr lang="zh-CN" altLang="en-US"/>
              <a:t>的成本，优势非常明显。</a:t>
            </a:r>
            <a:r>
              <a:rPr lang="en-US" altLang="zh-CN"/>
              <a:t>
</a:t>
            </a:r>
            <a:r>
              <a:rPr lang="zh-CN" altLang="en-US"/>
              <a:t>除了积分计价，</a:t>
            </a:r>
            <a:r>
              <a:rPr lang="en-US" altLang="zh-CN"/>
              <a:t>GPU</a:t>
            </a:r>
            <a:r>
              <a:rPr lang="zh-CN" altLang="en-US"/>
              <a:t>实际用量也会按照「镜数×候选数×单位成本×</a:t>
            </a:r>
            <a:r>
              <a:rPr lang="en-US" altLang="zh-CN"/>
              <a:t>1.5</a:t>
            </a:r>
            <a:r>
              <a:rPr lang="zh-CN" altLang="en-US"/>
              <a:t>」的公式独立估算展示，成本透明可查。团队设置了成本红线，就算整期所有环节都走国内商用</a:t>
            </a:r>
            <a:r>
              <a:rPr lang="en-US" altLang="zh-CN"/>
              <a:t>API</a:t>
            </a:r>
            <a:r>
              <a:rPr lang="zh-CN" altLang="en-US"/>
              <a:t>，单期总费用也不会超过</a:t>
            </a:r>
            <a:r>
              <a:rPr lang="en-US" altLang="zh-CN"/>
              <a:t>20</a:t>
            </a:r>
            <a:r>
              <a:rPr lang="zh-CN" altLang="en-US"/>
              <a:t>元，这个数字是团队内部的预算约束，并非产品对外定价。</a:t>
            </a:r>
            <a:r>
              <a:rPr lang="en-US" altLang="zh-CN"/>
              <a:t>
</a:t>
            </a:r>
            <a:r>
              <a:rPr lang="zh-CN" altLang="en-US"/>
              <a:t>目前我们的积分由团队</a:t>
            </a:r>
            <a:r>
              <a:rPr lang="en-US" altLang="zh-CN"/>
              <a:t>CLI</a:t>
            </a:r>
            <a:r>
              <a:rPr lang="zh-CN" altLang="en-US"/>
              <a:t>统一发放，暂时不开放购买与支付功能，后续会根据产品迭代调整这套机制。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en-US" altLang="en-US"/>
              <a:t>AI</a:t>
            </a:r>
            <a:r>
              <a:rPr lang="zh-CN" altLang="en-US"/>
              <a:t>生成内容时代，合规是所有产品设计不能触碰的底线，可旅</a:t>
            </a:r>
            <a:r>
              <a:rPr lang="en-US" altLang="zh-CN"/>
              <a:t>Kelvoy</a:t>
            </a:r>
            <a:r>
              <a:rPr lang="zh-CN" altLang="en-US"/>
              <a:t>从架构到产出全链路落地合规要求，给成片加上可靠的安全护栏。</a:t>
            </a:r>
            <a:r>
              <a:rPr lang="en-US" altLang="zh-CN"/>
              <a:t>
</a:t>
            </a:r>
            <a:r>
              <a:rPr lang="zh-CN" altLang="en-US"/>
              <a:t>我们严格遵守最新监管规定，对所有</a:t>
            </a:r>
            <a:r>
              <a:rPr lang="en-US" altLang="zh-CN"/>
              <a:t>AI</a:t>
            </a:r>
            <a:r>
              <a:rPr lang="zh-CN" altLang="en-US"/>
              <a:t>生成内容同步添加双重</a:t>
            </a:r>
            <a:r>
              <a:rPr lang="en-US" altLang="zh-CN"/>
              <a:t>AI</a:t>
            </a:r>
            <a:r>
              <a:rPr lang="zh-CN" altLang="en-US"/>
              <a:t>标识：既在成片右下角添加半透明的显性水印，明确标注</a:t>
            </a:r>
            <a:r>
              <a:rPr lang="en-US" altLang="zh-CN"/>
              <a:t>AI</a:t>
            </a:r>
            <a:r>
              <a:rPr lang="zh-CN" altLang="en-US"/>
              <a:t>生成属性，说明角色虚构、目的地真实的内容属性，也完整保留模型自带的</a:t>
            </a:r>
            <a:r>
              <a:rPr lang="en-US" altLang="zh-CN"/>
              <a:t>SynthID</a:t>
            </a:r>
            <a:r>
              <a:rPr lang="zh-CN" altLang="en-US"/>
              <a:t>、</a:t>
            </a:r>
            <a:r>
              <a:rPr lang="en-US" altLang="zh-CN"/>
              <a:t>C2PA</a:t>
            </a:r>
            <a:r>
              <a:rPr lang="zh-CN" altLang="en-US"/>
              <a:t>隐式元数据，完全符合</a:t>
            </a:r>
            <a:r>
              <a:rPr lang="en-US" altLang="zh-CN"/>
              <a:t>2025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月即将正式施行的《人工智能生成合成内容标识办法》。</a:t>
            </a:r>
            <a:r>
              <a:rPr lang="en-US" altLang="zh-CN"/>
              <a:t>
</a:t>
            </a:r>
            <a:r>
              <a:rPr lang="zh-CN" altLang="en-US"/>
              <a:t>内容安全层面，我们在</a:t>
            </a:r>
            <a:r>
              <a:rPr lang="en-US" altLang="zh-CN"/>
              <a:t>prompt</a:t>
            </a:r>
            <a:r>
              <a:rPr lang="zh-CN" altLang="en-US"/>
              <a:t>输入层设置关键词黑名单，从源头拦截违规创作需求，从生成环节阻断违规内容产出。隐私保护上，我们采用多租户行级数据隔离机制，只有对应用户能访问自己的生成内容，用户密钥仅保留在</a:t>
            </a:r>
            <a:r>
              <a:rPr lang="en-US" altLang="zh-CN"/>
              <a:t>Worker</a:t>
            </a:r>
            <a:r>
              <a:rPr lang="zh-CN" altLang="en-US"/>
              <a:t>和推理侧，公开分享链接也不会携带任何用户账号信息，全方位保护用户数据安全。</a:t>
            </a:r>
            <a:r>
              <a:rPr lang="en-US" altLang="zh-CN"/>
              <a:t>
</a:t>
            </a:r>
            <a:r>
              <a:rPr lang="zh-CN" altLang="en-US"/>
              <a:t>版权与内容保真层面，我们只使用正规授权曲库的音乐，绝对不生成他人注册商标，所有私营店铺内容统一做虚构处理，地标形象失真直接纳入质量红线要求，保障最终产出内容合规可信。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zh-CN" altLang="en-US"/>
              <a:t>讲完核心技术设计，我们进入最直观的展示环节。接下来我会带大家完整走一遍可旅</a:t>
            </a:r>
            <a:r>
              <a:rPr lang="en-US" altLang="zh-CN"/>
              <a:t>Kelvoy</a:t>
            </a:r>
            <a:r>
              <a:rPr lang="zh-CN" altLang="en-US"/>
              <a:t>生成一支</a:t>
            </a:r>
            <a:r>
              <a:rPr lang="en-US" altLang="zh-CN"/>
              <a:t>AI</a:t>
            </a:r>
            <a:r>
              <a:rPr lang="zh-CN" altLang="en-US"/>
              <a:t>旅行</a:t>
            </a:r>
            <a:r>
              <a:rPr lang="en-US" altLang="zh-CN"/>
              <a:t>Vlog</a:t>
            </a:r>
            <a:r>
              <a:rPr lang="zh-CN" altLang="en-US"/>
              <a:t>的全流程，从创建项目到拿到成片只需要六个步骤，整个过程所有环节都支持人工干预调整，不会让</a:t>
            </a:r>
            <a:r>
              <a:rPr lang="en-US" altLang="zh-CN"/>
              <a:t>AI</a:t>
            </a:r>
            <a:r>
              <a:rPr lang="zh-CN" altLang="en-US"/>
              <a:t>完全主导创作。</a:t>
            </a:r>
            <a:r>
              <a:rPr lang="en-US" altLang="zh-CN"/>
              <a:t>
</a:t>
            </a:r>
            <a:r>
              <a:rPr lang="zh-CN" altLang="en-US"/>
              <a:t>流程链路非常清晰：先创建新的创作档期，接着审核调整</a:t>
            </a:r>
            <a:r>
              <a:rPr lang="en-US" altLang="zh-CN"/>
              <a:t>AI</a:t>
            </a:r>
            <a:r>
              <a:rPr lang="zh-CN" altLang="en-US"/>
              <a:t>生成的分镜脚本，再启动视频生成任务，生成完成后逐镜审核剪辑片段，确认所有内容符合要求后调整合成参数，最后导出成片完成分享。为了保证演示流畅，我们提前预留了缓冲方案，如果现场生成速度不及预期，我们也准备了同角色设定下已经完成的多支成片，保证大家能完整看到产品的最终效果，整个演示不会超过</a:t>
            </a:r>
            <a:r>
              <a:rPr lang="en-US" altLang="zh-CN"/>
              <a:t>15</a:t>
            </a:r>
            <a:r>
              <a:rPr lang="zh-CN" altLang="en-US"/>
              <a:t>分钟。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zh-CN" altLang="en-US"/>
              <a:t>接下来我们走一遍完整的生成流程，整个过程全链路支持用户手动干预，所有操作都围绕用户的创作意愿调整。</a:t>
            </a:r>
            <a:r>
              <a:rPr lang="en-US" altLang="zh-CN"/>
              <a:t>
</a:t>
            </a:r>
            <a:r>
              <a:rPr lang="zh-CN" altLang="en-US"/>
              <a:t>第一步新建创作期，我们直接选用预设的官方角色，目的地选灵山大佛，画幅设置为适配短视频的</a:t>
            </a:r>
            <a:r>
              <a:rPr lang="en-US" altLang="zh-CN"/>
              <a:t>9:16</a:t>
            </a:r>
            <a:r>
              <a:rPr lang="zh-CN" altLang="en-US"/>
              <a:t>，选择双参考直出路径，系统会立刻算出本次生成需要消耗的积分，大家可以直观看到成本。</a:t>
            </a:r>
            <a:r>
              <a:rPr lang="en-US" altLang="zh-CN"/>
              <a:t>
</a:t>
            </a:r>
            <a:r>
              <a:rPr lang="zh-CN" altLang="en-US"/>
              <a:t>第二步审核生成的脚本，我们可以直接修改任意镜头的字幕，删除不需要的镜头，还能输入自定义优化指令让</a:t>
            </a:r>
            <a:r>
              <a:rPr lang="en-US" altLang="zh-CN"/>
              <a:t>AI</a:t>
            </a:r>
            <a:r>
              <a:rPr lang="zh-CN" altLang="en-US"/>
              <a:t>重新生成脚本，完全不用被动接受</a:t>
            </a:r>
            <a:r>
              <a:rPr lang="en-US" altLang="zh-CN"/>
              <a:t>AI</a:t>
            </a:r>
            <a:r>
              <a:rPr lang="zh-CN" altLang="en-US"/>
              <a:t>的初始输出。</a:t>
            </a:r>
            <a:r>
              <a:rPr lang="en-US" altLang="zh-CN"/>
              <a:t>
</a:t>
            </a:r>
            <a:r>
              <a:rPr lang="zh-CN" altLang="en-US"/>
              <a:t>第三步启动视频生成，确认素材无误后开启双参考直出模式，进度页会实时轮询展示每个任务的生成状态，不用一直守在页面刷新。</a:t>
            </a:r>
            <a:r>
              <a:rPr lang="en-US" altLang="zh-CN"/>
              <a:t>
</a:t>
            </a:r>
            <a:r>
              <a:rPr lang="zh-CN" altLang="en-US"/>
              <a:t>第四步审核生成好的片段，我们用拖动滑块的方式精准选取想要的</a:t>
            </a:r>
            <a:r>
              <a:rPr lang="en-US" altLang="zh-CN"/>
              <a:t>1</a:t>
            </a:r>
            <a:r>
              <a:rPr lang="zh-CN" altLang="en-US"/>
              <a:t>秒片段，逐一核对五项质量红线，标记不合格的坏镜触发重新生成即可。</a:t>
            </a:r>
            <a:r>
              <a:rPr lang="en-US" altLang="zh-CN"/>
              <a:t>
</a:t>
            </a:r>
            <a:r>
              <a:rPr lang="zh-CN" altLang="en-US"/>
              <a:t>第五步进入合成环节，确认好成片标题、搭配的配乐和字幕参数后启动合成，系统会自动调用</a:t>
            </a:r>
            <a:r>
              <a:rPr lang="en-US" altLang="zh-CN"/>
              <a:t>ffprobe</a:t>
            </a:r>
            <a:r>
              <a:rPr lang="zh-CN" altLang="en-US"/>
              <a:t>完成成品验证，确认文件无损坏后才会交付。</a:t>
            </a:r>
            <a:r>
              <a:rPr lang="en-US" altLang="zh-CN"/>
              <a:t>
</a:t>
            </a:r>
            <a:r>
              <a:rPr lang="zh-CN" altLang="en-US"/>
              <a:t>最后一步就是下载和分享，我们可以直接在线播放成片，下载</a:t>
            </a:r>
            <a:r>
              <a:rPr lang="en-US" altLang="zh-CN"/>
              <a:t>MP4</a:t>
            </a:r>
            <a:r>
              <a:rPr lang="zh-CN" altLang="en-US"/>
              <a:t>文件，也可以生成带二维码的公开分享链接，把作品直接分享出去。</a:t>
            </a:r>
            <a:r>
              <a:rPr lang="en-US" altLang="zh-CN"/>
              <a:t>
</a:t>
            </a:r>
            <a:r>
              <a:rPr lang="zh-CN" altLang="en-US"/>
              <a:t>整个流程预计耗时</a:t>
            </a:r>
            <a:r>
              <a:rPr lang="en-US" altLang="zh-CN"/>
              <a:t>10</a:t>
            </a:r>
            <a:r>
              <a:rPr lang="zh-CN" altLang="en-US"/>
              <a:t>到</a:t>
            </a:r>
            <a:r>
              <a:rPr lang="en-US" altLang="zh-CN"/>
              <a:t>15</a:t>
            </a:r>
            <a:r>
              <a:rPr lang="zh-CN" altLang="en-US"/>
              <a:t>分钟，我们也提前准备好了同角色的已完成成片和公开分享链接，就算现场出现网络波动，也能完整走完整个故事线，给大家展示完整的产品能力。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zh-CN" altLang="en-US"/>
              <a:t>今天我们从产品定义到技术落地，完整拆解了可旅</a:t>
            </a:r>
            <a:r>
              <a:rPr lang="en-US" altLang="zh-CN"/>
              <a:t>Kelvoy</a:t>
            </a:r>
            <a:r>
              <a:rPr lang="zh-CN" altLang="en-US"/>
              <a:t>这款</a:t>
            </a:r>
            <a:r>
              <a:rPr lang="en-US" altLang="zh-CN"/>
              <a:t>AI</a:t>
            </a:r>
            <a:r>
              <a:rPr lang="zh-CN" altLang="en-US"/>
              <a:t>旅行</a:t>
            </a:r>
            <a:r>
              <a:rPr lang="en-US" altLang="zh-CN"/>
              <a:t>Vlog</a:t>
            </a:r>
            <a:r>
              <a:rPr lang="zh-CN" altLang="en-US"/>
              <a:t>生产工作台：我们坚持</a:t>
            </a:r>
            <a:r>
              <a:rPr lang="en-US" altLang="zh-CN"/>
              <a:t>1</a:t>
            </a:r>
            <a:r>
              <a:rPr lang="zh-CN" altLang="en-US"/>
              <a:t>秒</a:t>
            </a:r>
            <a:r>
              <a:rPr lang="en-US" altLang="zh-CN"/>
              <a:t>1</a:t>
            </a:r>
            <a:r>
              <a:rPr lang="zh-CN" altLang="en-US"/>
              <a:t>镜</a:t>
            </a:r>
            <a:r>
              <a:rPr lang="en-US" altLang="zh-CN"/>
              <a:t>30</a:t>
            </a:r>
            <a:r>
              <a:rPr lang="zh-CN" altLang="en-US"/>
              <a:t>帧的标准化剪辑，适配当下信息流用户的观看习惯；我们打造本地优先的单机闭环架构，把重试成本降到最低，把一致性风险压到最小，更严格守住了合规的底线；我们用动作级计价控制成本，最终实现了今天这样一套，让普通人也能几分钟生成完整旅行</a:t>
            </a:r>
            <a:r>
              <a:rPr lang="en-US" altLang="zh-CN"/>
              <a:t>Vlog</a:t>
            </a:r>
            <a:r>
              <a:rPr lang="zh-CN" altLang="en-US"/>
              <a:t>的工具。</a:t>
            </a:r>
            <a:r>
              <a:rPr lang="en-US" altLang="zh-CN"/>
              <a:t>
</a:t>
            </a:r>
            <a:r>
              <a:rPr lang="zh-CN" altLang="en-US"/>
              <a:t>我们做可旅的初心很简单：太多人喜欢旅行，却总因为不会剪辑、没时间创作，把珍贵的旅行回忆藏在了手机相册里。而可旅想做的，就是帮你打破技术门槛</a:t>
            </a:r>
            <a:r>
              <a:rPr lang="en-US" altLang="zh-CN"/>
              <a:t>——</a:t>
            </a:r>
            <a:r>
              <a:rPr lang="zh-CN" altLang="en-US"/>
              <a:t>选一个喜欢的角色，去你想去的真实目的地，就能一键生成属于你的专属旅行</a:t>
            </a:r>
            <a:r>
              <a:rPr lang="en-US" altLang="zh-CN"/>
              <a:t>Vlog</a:t>
            </a:r>
            <a:r>
              <a:rPr lang="zh-CN" altLang="en-US"/>
              <a:t>，让每一场出发，都能留下可分享的纪念。</a:t>
            </a:r>
            <a:r>
              <a:rPr lang="en-US" altLang="zh-CN"/>
              <a:t>
</a:t>
            </a:r>
            <a:r>
              <a:rPr lang="zh-CN" altLang="en-US"/>
              <a:t>这个项目完全开源，采用</a:t>
            </a:r>
            <a:r>
              <a:rPr lang="en-US" altLang="zh-CN"/>
              <a:t>Apache License 2.0</a:t>
            </a:r>
            <a:r>
              <a:rPr lang="zh-CN" altLang="en-US"/>
              <a:t>协议，地址就在这页幻灯片上，欢迎各位体验、</a:t>
            </a:r>
            <a:r>
              <a:rPr lang="en-US" altLang="zh-CN"/>
              <a:t>Star</a:t>
            </a:r>
            <a:r>
              <a:rPr lang="zh-CN" altLang="en-US"/>
              <a:t>、贡献代码。在这里再次感谢项目组每一位成员的付出，也感谢</a:t>
            </a:r>
            <a:r>
              <a:rPr lang="en-US" altLang="zh-CN"/>
              <a:t>NVIDIA DGX Spark</a:t>
            </a:r>
            <a:r>
              <a:rPr lang="zh-CN" altLang="en-US"/>
              <a:t>黑客松，还有所有为我们提供技术支持的开源社区与合作伙伴。</a:t>
            </a:r>
            <a:r>
              <a:rPr lang="en-US" altLang="zh-CN"/>
              <a:t>
</a:t>
            </a:r>
            <a:r>
              <a:rPr lang="zh-CN" altLang="en-US"/>
              <a:t>未来可旅会继续迭代，让更多普通人能轻松记录旅行、留住回忆。也邀请各位去体验可旅，用它生成你的下一段旅行</a:t>
            </a:r>
            <a:r>
              <a:rPr lang="en-US" altLang="zh-CN"/>
              <a:t>Vlog</a:t>
            </a:r>
            <a:r>
              <a:rPr lang="zh-CN" altLang="en-US"/>
              <a:t>。可旅，让每一场旅行都有</a:t>
            </a:r>
            <a:r>
              <a:rPr lang="en-US" altLang="zh-CN"/>
              <a:t>Vlog</a:t>
            </a:r>
            <a:r>
              <a:rPr lang="zh-CN" altLang="en-US"/>
              <a:t>。谢谢大家！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jpeg"/><Relationship Id="rId8" Type="http://schemas.openxmlformats.org/officeDocument/2006/relationships/image" Target="../media/image17.jpeg"/><Relationship Id="rId7" Type="http://schemas.openxmlformats.org/officeDocument/2006/relationships/image" Target="../media/image16.jpe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jpe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9.jpeg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15.svg"/><Relationship Id="rId7" Type="http://schemas.openxmlformats.org/officeDocument/2006/relationships/image" Target="../media/image1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3.svg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31.svg"/><Relationship Id="rId15" Type="http://schemas.openxmlformats.org/officeDocument/2006/relationships/image" Target="../media/image30.png"/><Relationship Id="rId14" Type="http://schemas.openxmlformats.org/officeDocument/2006/relationships/image" Target="../media/image29.svg"/><Relationship Id="rId13" Type="http://schemas.openxmlformats.org/officeDocument/2006/relationships/image" Target="../media/image28.png"/><Relationship Id="rId12" Type="http://schemas.openxmlformats.org/officeDocument/2006/relationships/image" Target="../media/image27.svg"/><Relationship Id="rId11" Type="http://schemas.openxmlformats.org/officeDocument/2006/relationships/image" Target="../media/image26.png"/><Relationship Id="rId10" Type="http://schemas.openxmlformats.org/officeDocument/2006/relationships/image" Target="../media/image25.sv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5.svg"/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3.svg"/><Relationship Id="rId7" Type="http://schemas.openxmlformats.org/officeDocument/2006/relationships/image" Target="../media/image42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png"/><Relationship Id="rId8" Type="http://schemas.openxmlformats.org/officeDocument/2006/relationships/image" Target="../media/image51.svg"/><Relationship Id="rId7" Type="http://schemas.openxmlformats.org/officeDocument/2006/relationships/image" Target="../media/image50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53.svg"/><Relationship Id="rId1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png"/><Relationship Id="rId8" Type="http://schemas.openxmlformats.org/officeDocument/2006/relationships/image" Target="../media/image61.svg"/><Relationship Id="rId7" Type="http://schemas.openxmlformats.org/officeDocument/2006/relationships/image" Target="../media/image60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Relationship Id="rId3" Type="http://schemas.openxmlformats.org/officeDocument/2006/relationships/image" Target="../media/image56.png"/><Relationship Id="rId2" Type="http://schemas.openxmlformats.org/officeDocument/2006/relationships/image" Target="../media/image55.svg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65.svg"/><Relationship Id="rId13" Type="http://schemas.openxmlformats.org/officeDocument/2006/relationships/image" Target="../media/image64.png"/><Relationship Id="rId12" Type="http://schemas.openxmlformats.org/officeDocument/2006/relationships/image" Target="../media/image31.svg"/><Relationship Id="rId11" Type="http://schemas.openxmlformats.org/officeDocument/2006/relationships/image" Target="../media/image30.png"/><Relationship Id="rId10" Type="http://schemas.openxmlformats.org/officeDocument/2006/relationships/image" Target="../media/image63.svg"/><Relationship Id="rId1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image" Target="../media/image73.svg"/><Relationship Id="rId7" Type="http://schemas.openxmlformats.org/officeDocument/2006/relationships/image" Target="../media/image72.png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69.svg"/><Relationship Id="rId3" Type="http://schemas.openxmlformats.org/officeDocument/2006/relationships/image" Target="../media/image68.png"/><Relationship Id="rId2" Type="http://schemas.openxmlformats.org/officeDocument/2006/relationships/image" Target="../media/image67.svg"/><Relationship Id="rId16" Type="http://schemas.openxmlformats.org/officeDocument/2006/relationships/notesSlide" Target="../notesSlides/notesSlide13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79.svg"/><Relationship Id="rId13" Type="http://schemas.openxmlformats.org/officeDocument/2006/relationships/image" Target="../media/image78.png"/><Relationship Id="rId12" Type="http://schemas.openxmlformats.org/officeDocument/2006/relationships/image" Target="../media/image77.svg"/><Relationship Id="rId11" Type="http://schemas.openxmlformats.org/officeDocument/2006/relationships/image" Target="../media/image76.png"/><Relationship Id="rId10" Type="http://schemas.openxmlformats.org/officeDocument/2006/relationships/image" Target="../media/image75.svg"/><Relationship Id="rId1" Type="http://schemas.openxmlformats.org/officeDocument/2006/relationships/image" Target="../media/image66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png"/><Relationship Id="rId8" Type="http://schemas.openxmlformats.org/officeDocument/2006/relationships/image" Target="../media/image87.svg"/><Relationship Id="rId7" Type="http://schemas.openxmlformats.org/officeDocument/2006/relationships/image" Target="../media/image86.png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83.svg"/><Relationship Id="rId3" Type="http://schemas.openxmlformats.org/officeDocument/2006/relationships/image" Target="../media/image82.png"/><Relationship Id="rId2" Type="http://schemas.openxmlformats.org/officeDocument/2006/relationships/image" Target="../media/image81.svg"/><Relationship Id="rId18" Type="http://schemas.openxmlformats.org/officeDocument/2006/relationships/notesSlide" Target="../notesSlides/notesSlide14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95.svg"/><Relationship Id="rId15" Type="http://schemas.openxmlformats.org/officeDocument/2006/relationships/image" Target="../media/image94.png"/><Relationship Id="rId14" Type="http://schemas.openxmlformats.org/officeDocument/2006/relationships/image" Target="../media/image93.svg"/><Relationship Id="rId13" Type="http://schemas.openxmlformats.org/officeDocument/2006/relationships/image" Target="../media/image92.png"/><Relationship Id="rId12" Type="http://schemas.openxmlformats.org/officeDocument/2006/relationships/image" Target="../media/image91.svg"/><Relationship Id="rId11" Type="http://schemas.openxmlformats.org/officeDocument/2006/relationships/image" Target="../media/image90.png"/><Relationship Id="rId10" Type="http://schemas.openxmlformats.org/officeDocument/2006/relationships/image" Target="../media/image89.svg"/><Relationship Id="rId1" Type="http://schemas.openxmlformats.org/officeDocument/2006/relationships/image" Target="../media/image80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png"/><Relationship Id="rId8" Type="http://schemas.openxmlformats.org/officeDocument/2006/relationships/image" Target="../media/image101.svg"/><Relationship Id="rId7" Type="http://schemas.openxmlformats.org/officeDocument/2006/relationships/image" Target="../media/image100.png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99.svg"/><Relationship Id="rId3" Type="http://schemas.openxmlformats.org/officeDocument/2006/relationships/image" Target="../media/image98.png"/><Relationship Id="rId2" Type="http://schemas.openxmlformats.org/officeDocument/2006/relationships/image" Target="../media/image97.svg"/><Relationship Id="rId14" Type="http://schemas.openxmlformats.org/officeDocument/2006/relationships/notesSlide" Target="../notesSlides/notesSlide15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05.svg"/><Relationship Id="rId11" Type="http://schemas.openxmlformats.org/officeDocument/2006/relationships/image" Target="../media/image104.png"/><Relationship Id="rId10" Type="http://schemas.openxmlformats.org/officeDocument/2006/relationships/image" Target="../media/image103.svg"/><Relationship Id="rId1" Type="http://schemas.openxmlformats.org/officeDocument/2006/relationships/image" Target="../media/image96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13.svg"/><Relationship Id="rId7" Type="http://schemas.openxmlformats.org/officeDocument/2006/relationships/image" Target="../media/image112.png"/><Relationship Id="rId6" Type="http://schemas.openxmlformats.org/officeDocument/2006/relationships/image" Target="../media/image111.svg"/><Relationship Id="rId5" Type="http://schemas.openxmlformats.org/officeDocument/2006/relationships/image" Target="../media/image110.png"/><Relationship Id="rId4" Type="http://schemas.openxmlformats.org/officeDocument/2006/relationships/image" Target="../media/image109.svg"/><Relationship Id="rId3" Type="http://schemas.openxmlformats.org/officeDocument/2006/relationships/image" Target="../media/image108.png"/><Relationship Id="rId2" Type="http://schemas.openxmlformats.org/officeDocument/2006/relationships/image" Target="../media/image107.svg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10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5.svg"/><Relationship Id="rId1" Type="http://schemas.openxmlformats.org/officeDocument/2006/relationships/image" Target="../media/image11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1.svg"/><Relationship Id="rId5" Type="http://schemas.openxmlformats.org/officeDocument/2006/relationships/image" Target="../media/image120.png"/><Relationship Id="rId4" Type="http://schemas.openxmlformats.org/officeDocument/2006/relationships/image" Target="../media/image119.svg"/><Relationship Id="rId3" Type="http://schemas.openxmlformats.org/officeDocument/2006/relationships/image" Target="../media/image118.png"/><Relationship Id="rId2" Type="http://schemas.openxmlformats.org/officeDocument/2006/relationships/image" Target="../media/image117.svg"/><Relationship Id="rId1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'0'&gt;&#10;    &lt;Box style={{ position: 'absolute', top: 0, left: 0, width: '1280px', height: '720px', backgroundImage: 'url(C:/Users/Admin/WorkBuddy/2026-09-29-15-08-33/work/Kelvoy_DEMO_v2/assets/image1.jpeg)', backgroundSize: 'cover', backgroundPosition: 'center' }} /&gt;&#10;    &lt;Box style={{ position: 'absolute', top: 0, left: 0, width: '1280px', height: '720px', background: 'linear-gradient(95deg, rgba(6,10,26,0.94) 0%, rgba(8,15,38,0.82) 42%, rgba(10,18,48,0.42) 100%)' }} /&gt;&#10;    &lt;Box style={{ position: 'absolute', top: 0, left: 0, width: '1280px', height: '720px', opacity: 0.05, backgroundImage: 'linear-gradient(rgba(255,255,255,.6) 1px, transparent 1px), linear-gradient(90deg, rgba(255,255,255,.6) 1px, transparent 1px)', backgroundSize: '48px 48px' }} /&gt;&#10;    &lt;Box style={{ position: 'absolute', top: '-140px', left: '-120px', width: '440px', height: '440px', borderRadius: '50%', background: 'radial-gradient(circle, rgba(96,165,250,0.28) 0%, transparent 70%)' }} /&gt;&#10;&#10;    &lt;Box style={{ position: 'absolute', top: '44px', left: '64px', flexDirection: 'row', alignItems: 'center', gap: '14px' }}&gt;&#10;        &lt;Box style={{ width: '46px', height: '46px', borderRadius: '13px', background: 'linear-gradient(135deg, #60A5FA 0%, #2563EB 100%)', justifyContent: 'center', alignItems: 'center', boxShadow: '0 6px 20px rgba(37,99,235,0.45)' }}&gt;&#10;            &lt;Text style={{ fontSize: '23px', fontWeight: 'bold', color: '#FFFFFF' }}&gt;旅&lt;/Text&gt;&#10;        &lt;/Box&gt;&#10;        &lt;Text style={{ fontSize: '19px', fontWeight: 600, color: '#FFFFFF', letterSpacing: '1px' }}&gt;可旅 Kelvoy&lt;/Text&gt;&#10;    &lt;/Box&gt;&#10;&#10;    &lt;Box style={{ position: 'absolute', top: '150px', left: '64px', width: '700px', flexDirection: 'column', gap: '22px' }}&gt;&#10;        &lt;Box style={{ flexDirection: 'row', alignItems: 'center', gap: '12px' }}&gt;&#10;            &lt;Box style={{ padding: '6px 14px', borderRadius: '999px', background: 'rgba(96,165,250,0.16)', border: '1px solid rgba(96,165,250,0.45)' }}&gt;&#10;                &lt;Text style={{ fontSize: '12.5px', fontWeight: 600, color: '#BFDBFE', letterSpacing: '1.5px' }}&gt;第三届 NVIDIA DGX Spark 黑客松 · 产品 DEMO&lt;/Text&gt;&#10;            &lt;/Box&gt;&#10;        &lt;/Box&gt;&#10;        &lt;Text style={{ fontSize: '74px', fontWeight: 'bold', color: '#FFFFFF', lineHeight: 1.08, letterSpacing: '-2px' }}&gt;&#10;            Kelvoy &lt;span style={{ color: '#93C5FD' }}&gt;可旅&lt;/span&gt;&#10;        &lt;/Text&gt;&#10;        &lt;Text style={{ fontSize: '30px', fontWeight: 500, color: 'rgba(255,255,255,0.92)', letterSpacing: '1px' }}&gt;AI 旅行 Vlog 生产工作台&lt;/Text&gt;&#10;        &lt;Text style={{ fontSize: '17px', color: 'rgba(255,255,255,0.78)', lineHeight: 1.6, width: '640px' }}&gt;&#10;            选一个角色，去一个真实的地方，一期旅行 Vlog 自动生成。&#10;        &lt;/Text&gt;&#10;    &lt;/Box&gt;&#10;&#10;    &lt;Box style={{ position: 'absolute', bottom: '130px', left: '64px', flexDirection: 'row', gap: '10px' }}&gt;&#10;        {['24–30 镜 · 每镜 1 秒', '9:16 / 16:9', '三个人工审核点', '本地 DGX Spark'].map((t, i) =&gt; (&#10;            &lt;Box key={i} style={{ padding: '8px 16px', borderRadius: '8px', background: 'rgba(255,255,255,0.08)', border: '1px solid rgba(255,255,255,0.22)' }}&gt;&#10;                &lt;Text style={{ fontSize: '13px', fontWeight: 500, color: 'rgba(255,255,255,0.92)' }}&gt;{t}&lt;/Text&gt;&#10;            &lt;/Box&gt;&#10;        ))}&#10;    &lt;/Box&gt;&#10;&#10;    &lt;Box style={{ position: 'absolute', bottom: '74px', left: '64px', flexDirection: 'row', alignItems: 'center', gap: '14px' }}&gt;&#10;        &lt;Box style={{ width: '36px', height: '2px', background: '#60A5FA' }} /&gt;&#10;        &lt;Text style={{ fontSize: '13px', color: 'rgba(255,255,255,0.6)', letterSpacing: '2px' }}&gt;DEMO WALKTHROUGH · 2026&lt;/Text&gt;&#10;    &lt;/Box&gt;&#10;&#10;    &lt;Box style={{ position: 'absolute', bottom: 0, left: 0, right: 0, height: '56px', padding: '0 64px', flexDirection: 'row', justifyContent: 'space-between', alignItems: 'center' }}&gt;&#10;        &lt;Text style={{ fontSize: '12.5px', color: 'rgba(255,255,255,0.55)' }}&gt;可旅 Kelvoy · AI 旅行 Vlog 生产工作台&lt;/Text&gt;&#10;        &lt;Text style={{ fontSize: '12.5px', color: 'rgba(255,255,255,0.55)' }}&gt;01 / 1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2970" r="129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0A1A">
                  <a:alpha val="94000"/>
                </a:srgbClr>
              </a:gs>
              <a:gs pos="42000">
                <a:srgbClr val="080F26">
                  <a:alpha val="82000"/>
                </a:srgbClr>
              </a:gs>
              <a:gs pos="100000">
                <a:srgbClr val="0A1230">
                  <a:alpha val="42000"/>
                </a:srgbClr>
              </a:gs>
            </a:gsLst>
            <a:lin ang="300000" scaled="1"/>
          </a:gradFill>
        </p:spPr>
        <p:txBody>
          <a:bodyPr/>
          <a:p/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rgbClr val="FFFFFF">
                  <a:alpha val="3000"/>
                </a:srgbClr>
              </a:gs>
              <a:gs pos="1000">
                <a:srgbClr val="FFFFFF">
                  <a:alpha val="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rgbClr val="FFFFFF">
                  <a:alpha val="3000"/>
                </a:srgbClr>
              </a:gs>
              <a:gs pos="1000">
                <a:srgbClr val="FFFFFF">
                  <a:alpha val="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6" name="任意多边形 5"/>
          <p:cNvSpPr/>
          <p:nvPr/>
        </p:nvSpPr>
        <p:spPr>
          <a:xfrm>
            <a:off x="-1143000" y="-1333500"/>
            <a:ext cx="4191000" cy="4191000"/>
          </a:xfrm>
          <a:custGeom>
            <a:avLst/>
            <a:gdLst/>
            <a:ahLst/>
            <a:cxnLst/>
            <a:pathLst>
              <a:path w="440" h="440">
                <a:moveTo>
                  <a:pt x="220" y="0"/>
                </a:moveTo>
                <a:lnTo>
                  <a:pt x="220" y="0"/>
                </a:lnTo>
                <a:cubicBezTo>
                  <a:pt x="341" y="0"/>
                  <a:pt x="440" y="99"/>
                  <a:pt x="440" y="220"/>
                </a:cubicBezTo>
                <a:lnTo>
                  <a:pt x="440" y="220"/>
                </a:lnTo>
                <a:cubicBezTo>
                  <a:pt x="440" y="341"/>
                  <a:pt x="341" y="440"/>
                  <a:pt x="220" y="440"/>
                </a:cubicBezTo>
                <a:lnTo>
                  <a:pt x="220" y="440"/>
                </a:lnTo>
                <a:cubicBezTo>
                  <a:pt x="99" y="440"/>
                  <a:pt x="0" y="341"/>
                  <a:pt x="0" y="220"/>
                </a:cubicBezTo>
                <a:lnTo>
                  <a:pt x="0" y="220"/>
                </a:lnTo>
                <a:cubicBezTo>
                  <a:pt x="0" y="99"/>
                  <a:pt x="99" y="0"/>
                  <a:pt x="220" y="0"/>
                </a:cubicBezTo>
                <a:close/>
              </a:path>
            </a:pathLst>
          </a:custGeom>
          <a:gradFill>
            <a:gsLst>
              <a:gs pos="0">
                <a:srgbClr val="60A5FA">
                  <a:alpha val="2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7" name="圆角矩形 6"/>
          <p:cNvSpPr/>
          <p:nvPr/>
        </p:nvSpPr>
        <p:spPr>
          <a:xfrm>
            <a:off x="609600" y="419100"/>
            <a:ext cx="438150" cy="438150"/>
          </a:xfrm>
          <a:prstGeom prst="roundRect">
            <a:avLst>
              <a:gd name="adj" fmla="val 28261"/>
            </a:avLst>
          </a:prstGeom>
          <a:gradFill>
            <a:gsLst>
              <a:gs pos="0">
                <a:srgbClr val="60A5FA"/>
              </a:gs>
              <a:gs pos="100000">
                <a:srgbClr val="2563EB"/>
              </a:gs>
            </a:gsLst>
            <a:lin ang="2700000" scaled="1"/>
          </a:gradFill>
          <a:effectLst>
            <a:outerShdw blurRad="190500" dist="57150" dir="5400000">
              <a:srgbClr val="2563EB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723900" y="504825"/>
            <a:ext cx="21907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旅</a:t>
            </a:r>
            <a:endParaRPr lang="zh-CN"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1181100" y="533400"/>
            <a:ext cx="11144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1425" b="1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Kelvoy</a:t>
            </a:r>
            <a:endParaRPr lang="en-US" sz="1425" b="1" spc="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09600" y="1428750"/>
            <a:ext cx="3448050" cy="257175"/>
          </a:xfrm>
          <a:prstGeom prst="roundRect">
            <a:avLst>
              <a:gd name="adj" fmla="val 3700000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742950" y="1485900"/>
            <a:ext cx="31813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b="1" spc="113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</a:rPr>
              <a:t>第三届</a:t>
            </a:r>
            <a:r>
              <a:rPr lang="en-US" sz="940" b="1" spc="113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</a:rPr>
              <a:t> NVIDIA DGX Spark </a:t>
            </a:r>
            <a:r>
              <a:rPr lang="zh-CN" sz="940" b="1" spc="113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</a:rPr>
              <a:t>黑客松</a:t>
            </a:r>
            <a:r>
              <a:rPr lang="en-US" sz="940" b="1" spc="113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 b="1" spc="113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</a:rPr>
              <a:t>产品</a:t>
            </a:r>
            <a:r>
              <a:rPr lang="en-US" sz="940" b="1" spc="113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</a:rPr>
              <a:t> DEMO</a:t>
            </a:r>
            <a:endParaRPr lang="en-US" sz="940" b="1" spc="113">
              <a:solidFill>
                <a:srgbClr val="BFDB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609600" y="1895475"/>
            <a:ext cx="6667500" cy="914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8000"/>
              </a:lnSpc>
            </a:pPr>
            <a:r>
              <a:rPr lang="en-US" sz="5550" b="1" spc="-1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Kelvoy </a:t>
            </a:r>
            <a:r>
              <a:rPr lang="zh-CN" sz="5550" b="1" spc="-150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endParaRPr lang="zh-CN" sz="5550" b="1" spc="-150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609600" y="3019425"/>
            <a:ext cx="66675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spc="75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2250" spc="75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2250" spc="75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2250" spc="75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2250" spc="75">
              <a:solidFill>
                <a:srgbClr val="FFFFFF">
                  <a:alpha val="9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609600" y="3571875"/>
            <a:ext cx="60960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选一个角色，去一个真实的地方，一期旅行</a:t>
            </a:r>
            <a:r>
              <a:rPr lang="en-US" sz="1275">
                <a:solidFill>
                  <a:srgbClr val="FFFFFF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1275">
                <a:solidFill>
                  <a:srgbClr val="FFFFFF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自动生成。</a:t>
            </a:r>
            <a:endParaRPr lang="zh-CN" sz="1275">
              <a:solidFill>
                <a:srgbClr val="FFFFFF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09600" y="5314950"/>
            <a:ext cx="14478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762000" y="5391150"/>
            <a:ext cx="1143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5–10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镜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每镜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3-4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秒</a:t>
            </a:r>
            <a:endParaRPr lang="zh-CN" sz="975">
              <a:solidFill>
                <a:srgbClr val="FFFFFF">
                  <a:alpha val="9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152650" y="5314950"/>
            <a:ext cx="93345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2305050" y="5391150"/>
            <a:ext cx="628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9:16 / 16:9</a:t>
            </a:r>
            <a:endParaRPr lang="en-US" sz="975">
              <a:solidFill>
                <a:srgbClr val="FFFFFF">
                  <a:alpha val="9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3181350" y="5314950"/>
            <a:ext cx="1171575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3333750" y="53911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三个人工审核点</a:t>
            </a:r>
            <a:endParaRPr lang="zh-CN" sz="975">
              <a:solidFill>
                <a:srgbClr val="FFFFFF">
                  <a:alpha val="9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448175" y="5314950"/>
            <a:ext cx="1228725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4600575" y="5391150"/>
            <a:ext cx="9239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本地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DGX Spark</a:t>
            </a:r>
            <a:endParaRPr lang="en-US" sz="975">
              <a:solidFill>
                <a:srgbClr val="FFFFFF">
                  <a:alpha val="9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09600" y="6067425"/>
            <a:ext cx="342900" cy="19050"/>
          </a:xfrm>
          <a:prstGeom prst="rect">
            <a:avLst/>
          </a:prstGeom>
          <a:solidFill>
            <a:srgbClr val="60A5FA"/>
          </a:solidFill>
        </p:spPr>
        <p:txBody>
          <a:bodyPr/>
          <a:p/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1085850" y="6000750"/>
            <a:ext cx="22383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DEMO WALKTHROUGH · 2026</a:t>
            </a:r>
            <a:endParaRPr lang="en-US" sz="975" spc="150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609600" y="6524625"/>
            <a:ext cx="20764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940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Kelvoy · AI </a:t>
            </a:r>
            <a:r>
              <a:rPr lang="zh-CN" sz="940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40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40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40">
              <a:solidFill>
                <a:srgbClr val="FFFFFF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11172825" y="6524625"/>
            <a:ext cx="4095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 / 19</a:t>
            </a:r>
            <a:endParaRPr lang="en-US" sz="940">
              <a:solidFill>
                <a:srgbClr val="FFFFFF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2" name="" descr="&lt;Slide padding='0'&gt;&#10;    &lt;Box style={{ position: 'absolute', top: 0, left: 0, width: '1280px', height: '720px', background: '#F6F8FB' }} /&gt;&#10;    &lt;Box style={{ position: 'absolute', top: 0, left: 0, width: '1280px', height: '4px', background: 'linear-gradient(90deg,#2563EB 0%,#7C3AED 100%)' }} /&gt;&#10;&#10;    &lt;Box style={{ position: 'absolute', top: '42px', left: '64px', right: '64px', flexDirection: 'row', justifyContent: 'space-between', alignItems: 'center' }}&gt;&#10;        &lt;Text style={{ fontSize: '12px', fontWeight: '700', color: '#2563EB', letterSpacing: '2px' }}&gt;目录 · AGENDA&lt;/Text&gt;&#10;        &lt;Text style={{ fontSize: '11px', color: '#8A97AB', letterSpacing: '3px' }}&gt;KELVOY DEMO&lt;/Text&gt;&#10;    &lt;/Box&gt;&#10;    &lt;Text style={{ position: 'absolute', top: '68px', left: '64px', fontSize: '34px', fontWeight: 'bold', color: '#0B1220' }}&gt;&#10;        今天讲&lt;span style={{ color: '#2563EB' }}&gt;四件事&lt;/span&gt;&#10;    &lt;/Text&gt;&#10;    &lt;Box style={{ position: 'absolute', top: '116px', left: '64px', width: '44px', height: '4px', borderRadius: '2px', background: 'linear-gradient(90deg,#2563EB,#7C3AED)' }} /&gt;&#10;&#10;    &lt;Box style={{ position: 'absolute', top: '156px', left: '64px', right: '64px', flexDirection: 'column', gap: '14px' }}&gt;&#10;        {[&#10;            { n: '01', t: '问题与机会', en: 'WHY', d: '旅行内容持续生产卡在三件事；参考片验证「静帧锁一致性 + 1 秒一镜」可稳定出片。', p: 'P04' },&#10;            { n: '02', t: '产品与体验', en: 'WHAT', d: '一个角色 × 一个景区，六阶段流水线、三个人工审核点，默认直出、可精修。', p: 'P06–P10' },&#10;            { n: '03', t: '技术与工程', en: 'HOW', d: '本地优先单机闭环、模型矩阵、敢在现场重试的工程底座与动作级计价。', p: 'P12–P16' },&#10;            { n: '04', t: '现场演示', en: 'SHOW', d: '六步走完一条片，全程可干预；团队与开源信息。', p: 'P18–P19' },&#10;        ].map((it, i) =&gt; (&#10;            &lt;Box key={i} style={{ flexDirection: 'row', alignItems: 'center', gap: '24px', padding: '25px 28px', background: '#FFFFFF', borderRadius: '14px', border: '1px solid #E6EAF1', boxShadow: '0 2px 12px rgba(15,23,42,0.04)' }}&gt;&#10;                &lt;Text style={{ fontSize: '38px', fontWeight: 'bold', color: '#DBE4F5', width: '70px' }}&gt;{it.n}&lt;/Text&gt;&#10;                &lt;Box style={{ width: '2px', height: '52px', background: 'linear-gradient(180deg,#2563EB,#7C3AED)', borderRadius: '1px' }} /&gt;&#10;                &lt;Box style={{ flexDirection: 'column', gap: '5px', width: '210px' }}&gt;&#10;                    &lt;Text style={{ fontSize: '20px', fontWeight: 'bold', color: '#0B1220' }}&gt;{it.t}&lt;/Text&gt;&#10;                    &lt;Text style={{ fontSize: '11px', color: '#8A97AB', letterSpacing: '2.5px' }}&gt;{it.en}&lt;/Text&gt;&#10;                &lt;/Box&gt;&#10;                &lt;Text style={{ flex: 1, fontSize: '13.5px', color: '#5B6B84', lineHeight: 1.6 }}&gt;{it.d}&lt;/Text&gt;&#10;                &lt;Text style={{ fontSize: '12px', fontWeight: 600, color: '#2563EB', background: '#EFF4FE', padding: '5px 12px', borderRadius: '999px' }}&gt;{it.p}&lt;/Text&gt;&#10;            &lt;/Box&gt;&#10;        ))}&#10;    &lt;/Box&gt;&#10;&#10;    &lt;Box style={{ position: 'absolute', bottom: '20px', left: '64px', right: '64px', flexDirection: 'row', justifyContent: 'space-between', alignItems: 'center' }}&gt;&#10;        &lt;Box style={{ flexDirection: 'row', alignItems: 'center', gap: '8px' }}&gt;&#10;            &lt;Box style={{ width: '18px', height: '18px', borderRadius: '5px', background: 'linear-gradient(135deg,#60A5FA,#2563EB)', justifyContent: 'center', alignItems: 'center' }}&gt;&#10;                &lt;Text style={{ fontSize: '10px', fontWeight: 'bold', color: '#FFFFFF' }}&gt;旅&lt;/Text&gt;&#10;            &lt;/Box&gt;&#10;            &lt;Text style={{ fontSize: '12px', color: '#8A97AB' }}&gt;可旅 Kelvoy · AI 旅行 Vlog 生产工作台&lt;/Text&gt;&#10;        &lt;/Box&gt;&#10;        &lt;Text style={{ fontSize: '12px', color: '#8A97AB' }}&gt;02 / 1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矩形 5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</p:spPr>
        <p:txBody>
          <a:bodyPr/>
          <a:p/>
        </p:txBody>
      </p:sp>
      <p:sp>
        <p:nvSpPr>
          <p:cNvPr id="574" name="矩形 57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575" name="文本框 574" descr="{&quot;isTemplate&quot;:true,&quot;type&quot;:&quot;text&quot;}"/>
          <p:cNvSpPr txBox="1"/>
          <p:nvPr/>
        </p:nvSpPr>
        <p:spPr>
          <a:xfrm>
            <a:off x="609600" y="400050"/>
            <a:ext cx="10763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r>
              <a:rPr lang="en-US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 · AGENDA</a:t>
            </a:r>
            <a:endParaRPr lang="en-US" sz="900" b="1" spc="1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10506075" y="409575"/>
            <a:ext cx="10763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22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KELVOY DEMO</a:t>
            </a:r>
            <a:endParaRPr lang="en-US" sz="825" spc="22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7" name="文本框 576" descr="{&quot;isTemplate&quot;:true,&quot;type&quot;:&quot;text&quot;}"/>
          <p:cNvSpPr txBox="1"/>
          <p:nvPr/>
        </p:nvSpPr>
        <p:spPr>
          <a:xfrm>
            <a:off x="609600" y="647700"/>
            <a:ext cx="19431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今天讲</a:t>
            </a:r>
            <a:r>
              <a:rPr lang="zh-CN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四件事</a:t>
            </a:r>
            <a:endParaRPr lang="zh-CN" sz="25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8" name="圆角矩形 577"/>
          <p:cNvSpPr/>
          <p:nvPr/>
        </p:nvSpPr>
        <p:spPr>
          <a:xfrm>
            <a:off x="609600" y="1104900"/>
            <a:ext cx="4191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579" name="圆角矩形 578"/>
          <p:cNvSpPr/>
          <p:nvPr/>
        </p:nvSpPr>
        <p:spPr>
          <a:xfrm>
            <a:off x="609600" y="1485900"/>
            <a:ext cx="10972800" cy="971550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580" name="文本框 579" descr="{&quot;isTemplate&quot;:true,&quot;type&quot;:&quot;text&quot;}"/>
          <p:cNvSpPr txBox="1"/>
          <p:nvPr/>
        </p:nvSpPr>
        <p:spPr>
          <a:xfrm>
            <a:off x="876300" y="1752600"/>
            <a:ext cx="66675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850" b="1">
              <a:solidFill>
                <a:srgbClr val="DB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1" name="圆角矩形 580"/>
          <p:cNvSpPr/>
          <p:nvPr/>
        </p:nvSpPr>
        <p:spPr>
          <a:xfrm>
            <a:off x="1771650" y="1724025"/>
            <a:ext cx="19050" cy="4953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2019300" y="1771650"/>
            <a:ext cx="2000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问题与机会</a:t>
            </a:r>
            <a:endParaRPr lang="zh-CN" sz="15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3" name="文本框 582" descr="{&quot;isTemplate&quot;:true,&quot;type&quot;:&quot;text&quot;}"/>
          <p:cNvSpPr txBox="1"/>
          <p:nvPr/>
        </p:nvSpPr>
        <p:spPr>
          <a:xfrm>
            <a:off x="2019300" y="2047875"/>
            <a:ext cx="20002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WHY</a:t>
            </a:r>
            <a:endParaRPr lang="en-US" sz="825" spc="188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4" name="文本框 583" descr="{&quot;isTemplate&quot;:true,&quot;type&quot;:&quot;text&quot;}"/>
          <p:cNvSpPr txBox="1"/>
          <p:nvPr/>
        </p:nvSpPr>
        <p:spPr>
          <a:xfrm>
            <a:off x="4248150" y="1847850"/>
            <a:ext cx="63912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5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旅行内容持续生产卡在三件事；参考片验证「静帧锁一致性</a:t>
            </a:r>
            <a:r>
              <a:rPr lang="en-US" sz="1015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+ 3-4 </a:t>
            </a:r>
            <a:r>
              <a:rPr lang="zh-CN" sz="1015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秒一镜」可稳定出片。</a:t>
            </a:r>
            <a:endParaRPr lang="zh-CN" sz="1015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5" name="圆角矩形 584"/>
          <p:cNvSpPr/>
          <p:nvPr/>
        </p:nvSpPr>
        <p:spPr>
          <a:xfrm>
            <a:off x="10868025" y="1857375"/>
            <a:ext cx="447675" cy="238125"/>
          </a:xfrm>
          <a:prstGeom prst="roundRect">
            <a:avLst>
              <a:gd name="adj" fmla="val 3996000"/>
            </a:avLst>
          </a:prstGeom>
          <a:solidFill>
            <a:srgbClr val="EFF4FE"/>
          </a:solidFill>
        </p:spPr>
        <p:txBody>
          <a:bodyPr/>
          <a:p/>
        </p:txBody>
      </p:sp>
      <p:sp>
        <p:nvSpPr>
          <p:cNvPr id="586" name="文本框 585" descr="{&quot;isTemplate&quot;:true,&quot;type&quot;:&quot;text&quot;}"/>
          <p:cNvSpPr txBox="1"/>
          <p:nvPr/>
        </p:nvSpPr>
        <p:spPr>
          <a:xfrm>
            <a:off x="10868025" y="1857375"/>
            <a:ext cx="447675" cy="238125"/>
          </a:xfrm>
          <a:prstGeom prst="rect">
            <a:avLst/>
          </a:prstGeom>
        </p:spPr>
        <p:txBody>
          <a:bodyPr wrap="none" lIns="85725" tIns="35719" rIns="85725" bIns="35719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563EB"/>
                </a:solidFill>
                <a:highlight>
                  <a:srgbClr val="EFF4FE"/>
                </a:highlight>
                <a:latin typeface="微软雅黑" panose="020B0503020204020204" charset="-122"/>
                <a:ea typeface="微软雅黑" panose="020B0503020204020204" charset="-122"/>
              </a:rPr>
              <a:t>P04</a:t>
            </a:r>
            <a:endParaRPr lang="en-US" sz="900" b="1">
              <a:solidFill>
                <a:srgbClr val="2563EB"/>
              </a:solidFill>
              <a:highlight>
                <a:srgbClr val="EFF4FE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7" name="圆角矩形 586"/>
          <p:cNvSpPr/>
          <p:nvPr/>
        </p:nvSpPr>
        <p:spPr>
          <a:xfrm>
            <a:off x="609600" y="2590800"/>
            <a:ext cx="10972800" cy="971550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588" name="文本框 587" descr="{&quot;isTemplate&quot;:true,&quot;type&quot;:&quot;text&quot;}"/>
          <p:cNvSpPr txBox="1"/>
          <p:nvPr/>
        </p:nvSpPr>
        <p:spPr>
          <a:xfrm>
            <a:off x="876300" y="2857500"/>
            <a:ext cx="66675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850" b="1">
              <a:solidFill>
                <a:srgbClr val="DB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9" name="圆角矩形 588"/>
          <p:cNvSpPr/>
          <p:nvPr/>
        </p:nvSpPr>
        <p:spPr>
          <a:xfrm>
            <a:off x="1771650" y="2828925"/>
            <a:ext cx="19050" cy="4953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590" name="文本框 589" descr="{&quot;isTemplate&quot;:true,&quot;type&quot;:&quot;text&quot;}"/>
          <p:cNvSpPr txBox="1"/>
          <p:nvPr/>
        </p:nvSpPr>
        <p:spPr>
          <a:xfrm>
            <a:off x="2019300" y="2876550"/>
            <a:ext cx="2000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产品与体验</a:t>
            </a:r>
            <a:endParaRPr lang="zh-CN" sz="15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1" name="文本框 590" descr="{&quot;isTemplate&quot;:true,&quot;type&quot;:&quot;text&quot;}"/>
          <p:cNvSpPr txBox="1"/>
          <p:nvPr/>
        </p:nvSpPr>
        <p:spPr>
          <a:xfrm>
            <a:off x="2019300" y="3152775"/>
            <a:ext cx="20002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WHAT</a:t>
            </a:r>
            <a:endParaRPr lang="en-US" sz="825" spc="188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2" name="文本框 591" descr="{&quot;isTemplate&quot;:true,&quot;type&quot;:&quot;text&quot;}"/>
          <p:cNvSpPr txBox="1"/>
          <p:nvPr/>
        </p:nvSpPr>
        <p:spPr>
          <a:xfrm>
            <a:off x="4248150" y="2952750"/>
            <a:ext cx="61150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5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一个角色</a:t>
            </a:r>
            <a:r>
              <a:rPr lang="en-US" sz="1015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015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一个景区，六阶段流水线、三个人工审核点，默认直出、可精修。</a:t>
            </a:r>
            <a:endParaRPr lang="zh-CN" sz="1015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3" name="圆角矩形 592"/>
          <p:cNvSpPr/>
          <p:nvPr/>
        </p:nvSpPr>
        <p:spPr>
          <a:xfrm>
            <a:off x="10591800" y="2962275"/>
            <a:ext cx="723900" cy="238125"/>
          </a:xfrm>
          <a:prstGeom prst="roundRect">
            <a:avLst>
              <a:gd name="adj" fmla="val 3996000"/>
            </a:avLst>
          </a:prstGeom>
          <a:solidFill>
            <a:srgbClr val="EFF4FE"/>
          </a:solidFill>
        </p:spPr>
        <p:txBody>
          <a:bodyPr/>
          <a:p/>
        </p:txBody>
      </p:sp>
      <p:sp>
        <p:nvSpPr>
          <p:cNvPr id="594" name="文本框 593" descr="{&quot;isTemplate&quot;:true,&quot;type&quot;:&quot;text&quot;}"/>
          <p:cNvSpPr txBox="1"/>
          <p:nvPr/>
        </p:nvSpPr>
        <p:spPr>
          <a:xfrm>
            <a:off x="10591800" y="2962275"/>
            <a:ext cx="723900" cy="238125"/>
          </a:xfrm>
          <a:prstGeom prst="rect">
            <a:avLst/>
          </a:prstGeom>
        </p:spPr>
        <p:txBody>
          <a:bodyPr wrap="none" lIns="85725" tIns="35719" rIns="85725" bIns="35719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563EB"/>
                </a:solidFill>
                <a:highlight>
                  <a:srgbClr val="EFF4FE"/>
                </a:highlight>
                <a:latin typeface="微软雅黑" panose="020B0503020204020204" charset="-122"/>
                <a:ea typeface="微软雅黑" panose="020B0503020204020204" charset="-122"/>
              </a:rPr>
              <a:t>P06–P10</a:t>
            </a:r>
            <a:endParaRPr lang="en-US" sz="900" b="1">
              <a:solidFill>
                <a:srgbClr val="2563EB"/>
              </a:solidFill>
              <a:highlight>
                <a:srgbClr val="EFF4FE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5" name="圆角矩形 594"/>
          <p:cNvSpPr/>
          <p:nvPr/>
        </p:nvSpPr>
        <p:spPr>
          <a:xfrm>
            <a:off x="609600" y="3695700"/>
            <a:ext cx="10972800" cy="971550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596" name="文本框 595" descr="{&quot;isTemplate&quot;:true,&quot;type&quot;:&quot;text&quot;}"/>
          <p:cNvSpPr txBox="1"/>
          <p:nvPr/>
        </p:nvSpPr>
        <p:spPr>
          <a:xfrm>
            <a:off x="876300" y="3962400"/>
            <a:ext cx="66675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850" b="1">
              <a:solidFill>
                <a:srgbClr val="DB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7" name="圆角矩形 596"/>
          <p:cNvSpPr/>
          <p:nvPr/>
        </p:nvSpPr>
        <p:spPr>
          <a:xfrm>
            <a:off x="1771650" y="3933825"/>
            <a:ext cx="19050" cy="4953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598" name="文本框 597" descr="{&quot;isTemplate&quot;:true,&quot;type&quot;:&quot;text&quot;}"/>
          <p:cNvSpPr txBox="1"/>
          <p:nvPr/>
        </p:nvSpPr>
        <p:spPr>
          <a:xfrm>
            <a:off x="2019300" y="3981450"/>
            <a:ext cx="2000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技术与工程</a:t>
            </a:r>
            <a:endParaRPr lang="zh-CN" sz="15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9" name="文本框 598" descr="{&quot;isTemplate&quot;:true,&quot;type&quot;:&quot;text&quot;}"/>
          <p:cNvSpPr txBox="1"/>
          <p:nvPr/>
        </p:nvSpPr>
        <p:spPr>
          <a:xfrm>
            <a:off x="2019300" y="4257675"/>
            <a:ext cx="20002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HOW</a:t>
            </a:r>
            <a:endParaRPr lang="en-US" sz="825" spc="188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0" name="文本框 599" descr="{&quot;isTemplate&quot;:true,&quot;type&quot;:&quot;text&quot;}"/>
          <p:cNvSpPr txBox="1"/>
          <p:nvPr/>
        </p:nvSpPr>
        <p:spPr>
          <a:xfrm>
            <a:off x="4248150" y="4057650"/>
            <a:ext cx="61150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5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本地优先单机闭环、模型矩阵、敢在现场重试的工程底座与动作级计价。</a:t>
            </a:r>
            <a:endParaRPr lang="zh-CN" sz="1015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1" name="圆角矩形 600"/>
          <p:cNvSpPr/>
          <p:nvPr/>
        </p:nvSpPr>
        <p:spPr>
          <a:xfrm>
            <a:off x="10591800" y="4067175"/>
            <a:ext cx="723900" cy="238125"/>
          </a:xfrm>
          <a:prstGeom prst="roundRect">
            <a:avLst>
              <a:gd name="adj" fmla="val 3996000"/>
            </a:avLst>
          </a:prstGeom>
          <a:solidFill>
            <a:srgbClr val="EFF4FE"/>
          </a:solidFill>
        </p:spPr>
        <p:txBody>
          <a:bodyPr/>
          <a:p/>
        </p:txBody>
      </p:sp>
      <p:sp>
        <p:nvSpPr>
          <p:cNvPr id="602" name="文本框 601" descr="{&quot;isTemplate&quot;:true,&quot;type&quot;:&quot;text&quot;}"/>
          <p:cNvSpPr txBox="1"/>
          <p:nvPr/>
        </p:nvSpPr>
        <p:spPr>
          <a:xfrm>
            <a:off x="10591800" y="4067175"/>
            <a:ext cx="723900" cy="238125"/>
          </a:xfrm>
          <a:prstGeom prst="rect">
            <a:avLst/>
          </a:prstGeom>
        </p:spPr>
        <p:txBody>
          <a:bodyPr wrap="none" lIns="85725" tIns="35719" rIns="85725" bIns="35719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563EB"/>
                </a:solidFill>
                <a:highlight>
                  <a:srgbClr val="EFF4FE"/>
                </a:highlight>
                <a:latin typeface="微软雅黑" panose="020B0503020204020204" charset="-122"/>
                <a:ea typeface="微软雅黑" panose="020B0503020204020204" charset="-122"/>
              </a:rPr>
              <a:t>P12–P16</a:t>
            </a:r>
            <a:endParaRPr lang="en-US" sz="900" b="1">
              <a:solidFill>
                <a:srgbClr val="2563EB"/>
              </a:solidFill>
              <a:highlight>
                <a:srgbClr val="EFF4FE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3" name="圆角矩形 602"/>
          <p:cNvSpPr/>
          <p:nvPr/>
        </p:nvSpPr>
        <p:spPr>
          <a:xfrm>
            <a:off x="609600" y="4800600"/>
            <a:ext cx="10972800" cy="971550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604" name="文本框 603" descr="{&quot;isTemplate&quot;:true,&quot;type&quot;:&quot;text&quot;}"/>
          <p:cNvSpPr txBox="1"/>
          <p:nvPr/>
        </p:nvSpPr>
        <p:spPr>
          <a:xfrm>
            <a:off x="876300" y="5067300"/>
            <a:ext cx="66675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2850" b="1">
              <a:solidFill>
                <a:srgbClr val="DB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5" name="圆角矩形 604"/>
          <p:cNvSpPr/>
          <p:nvPr/>
        </p:nvSpPr>
        <p:spPr>
          <a:xfrm>
            <a:off x="1771650" y="5038725"/>
            <a:ext cx="19050" cy="4953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606" name="文本框 605" descr="{&quot;isTemplate&quot;:true,&quot;type&quot;:&quot;text&quot;}"/>
          <p:cNvSpPr txBox="1"/>
          <p:nvPr/>
        </p:nvSpPr>
        <p:spPr>
          <a:xfrm>
            <a:off x="2019300" y="5086350"/>
            <a:ext cx="2000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现场演示</a:t>
            </a:r>
            <a:endParaRPr lang="zh-CN" sz="15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7" name="文本框 606" descr="{&quot;isTemplate&quot;:true,&quot;type&quot;:&quot;text&quot;}"/>
          <p:cNvSpPr txBox="1"/>
          <p:nvPr/>
        </p:nvSpPr>
        <p:spPr>
          <a:xfrm>
            <a:off x="2019300" y="5362575"/>
            <a:ext cx="20002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SHOW</a:t>
            </a:r>
            <a:endParaRPr lang="en-US" sz="825" spc="188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8" name="文本框 607" descr="{&quot;isTemplate&quot;:true,&quot;type&quot;:&quot;text&quot;}"/>
          <p:cNvSpPr txBox="1"/>
          <p:nvPr/>
        </p:nvSpPr>
        <p:spPr>
          <a:xfrm>
            <a:off x="4248150" y="5162550"/>
            <a:ext cx="61150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5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六步走完一条片，全程可干预；团队与开源信息。</a:t>
            </a:r>
            <a:endParaRPr lang="zh-CN" sz="1015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9" name="圆角矩形 608"/>
          <p:cNvSpPr/>
          <p:nvPr/>
        </p:nvSpPr>
        <p:spPr>
          <a:xfrm>
            <a:off x="10591800" y="5172075"/>
            <a:ext cx="723900" cy="238125"/>
          </a:xfrm>
          <a:prstGeom prst="roundRect">
            <a:avLst>
              <a:gd name="adj" fmla="val 3996000"/>
            </a:avLst>
          </a:prstGeom>
          <a:solidFill>
            <a:srgbClr val="EFF4FE"/>
          </a:solidFill>
        </p:spPr>
        <p:txBody>
          <a:bodyPr/>
          <a:p/>
        </p:txBody>
      </p:sp>
      <p:sp>
        <p:nvSpPr>
          <p:cNvPr id="610" name="文本框 609" descr="{&quot;isTemplate&quot;:true,&quot;type&quot;:&quot;text&quot;}"/>
          <p:cNvSpPr txBox="1"/>
          <p:nvPr/>
        </p:nvSpPr>
        <p:spPr>
          <a:xfrm>
            <a:off x="10591800" y="5172075"/>
            <a:ext cx="723900" cy="238125"/>
          </a:xfrm>
          <a:prstGeom prst="rect">
            <a:avLst/>
          </a:prstGeom>
        </p:spPr>
        <p:txBody>
          <a:bodyPr wrap="none" lIns="85725" tIns="35719" rIns="85725" bIns="35719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563EB"/>
                </a:solidFill>
                <a:highlight>
                  <a:srgbClr val="EFF4FE"/>
                </a:highlight>
                <a:latin typeface="微软雅黑" panose="020B0503020204020204" charset="-122"/>
                <a:ea typeface="微软雅黑" panose="020B0503020204020204" charset="-122"/>
              </a:rPr>
              <a:t>P18–P19</a:t>
            </a:r>
            <a:endParaRPr lang="en-US" sz="900" b="1">
              <a:solidFill>
                <a:srgbClr val="2563EB"/>
              </a:solidFill>
              <a:highlight>
                <a:srgbClr val="EFF4FE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1" name="圆角矩形 610"/>
          <p:cNvSpPr/>
          <p:nvPr/>
        </p:nvSpPr>
        <p:spPr>
          <a:xfrm>
            <a:off x="609600" y="6496050"/>
            <a:ext cx="171450" cy="171450"/>
          </a:xfrm>
          <a:prstGeom prst="roundRect">
            <a:avLst>
              <a:gd name="adj" fmla="val 27778"/>
            </a:avLst>
          </a:prstGeom>
          <a:gradFill>
            <a:gsLst>
              <a:gs pos="0">
                <a:srgbClr val="60A5FA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612" name="文本框 611" descr="{&quot;isTemplate&quot;:true,&quot;type&quot;:&quot;text&quot;}"/>
          <p:cNvSpPr txBox="1"/>
          <p:nvPr/>
        </p:nvSpPr>
        <p:spPr>
          <a:xfrm>
            <a:off x="647700" y="6524625"/>
            <a:ext cx="952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旅</a:t>
            </a:r>
            <a:endParaRPr lang="zh-CN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3" name="文本框 612" descr="{&quot;isTemplate&quot;:true,&quot;type&quot;:&quot;text&quot;}"/>
          <p:cNvSpPr txBox="1"/>
          <p:nvPr/>
        </p:nvSpPr>
        <p:spPr>
          <a:xfrm>
            <a:off x="857250" y="6515100"/>
            <a:ext cx="1990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Kelvoy · AI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4" name="文本框 613" descr="{&quot;isTemplate&quot;:true,&quot;type&quot;:&quot;text&quot;}"/>
          <p:cNvSpPr txBox="1"/>
          <p:nvPr/>
        </p:nvSpPr>
        <p:spPr>
          <a:xfrm>
            <a:off x="11191875" y="6515100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02 / 19</a:t>
            </a:r>
            <a:endParaRPr lang="en-US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5" name="" descr="&lt;Slide padding='0'&gt;&#10;    &lt;Box style={{ position: 'absolute', top: 0, left: 0, width: '1280px', height: '720px', background: 'linear-gradient(120deg,#0A1128 0%,#16233F 55%,#312E81 100%)' }} /&gt;&#10;    &lt;Box style={{ position: 'absolute', top: 0, left: 0, width: '1280px', height: '720px', opacity: 0.05, backgroundImage: 'linear-gradient(rgba(255,255,255,.6) 1px, transparent 1px), linear-gradient(90deg, rgba(255,255,255,.6) 1px, transparent 1px)', backgroundSize: '48px 48px' }} /&gt;&#10;    &lt;Box style={{ position: 'absolute', top: '-160px', right: '-100px', width: '520px', height: '520px', borderRadius: '50%', background: 'radial-gradient(circle, rgba(124,58,237,0.30) 0%, transparent 70%)' }} /&gt;&#10;    &lt;Box style={{ position: 'absolute', bottom: '-180px', left: '-120px', width: '480px', height: '480px', borderRadius: '50%', background: 'radial-gradient(circle, rgba(37,99,235,0.28) 0%, transparent 70%)' }} /&gt;&#10;    &lt;Text style={{ position: 'absolute', top: '130px', right: '40px', fontSize: '300px', fontWeight: 'bold', color: 'rgba(255,255,255,0.055)', lineHeight: 1 }}&gt;01&lt;/Text&gt;&#10;&#10;    &lt;Box style={{ position: 'absolute', top: '200px', left: '88px', width: '640px', flexDirection: 'column', gap: '26px' }}&gt;&#10;        &lt;Box style={{ flexDirection: 'row', alignItems: 'center', gap: '14px' }}&gt;&#10;            &lt;Box style={{ width: '34px', height: '3px', background: '#60A5FA' }} /&gt;&#10;            &lt;Text style={{ fontSize: '14px', fontWeight: 700, color: '#93C5FD', letterSpacing: '4px' }}&gt;SECTION 01 · WHY&lt;/Text&gt;&#10;        &lt;/Box&gt;&#10;        &lt;Text style={{ fontSize: '58px', fontWeight: 'bold', color: '#FFFFFF', lineHeight: 1.15, letterSpacing: '-1px' }}&gt;&#10;            问题与机会&#10;        &lt;/Text&gt;&#10;        &lt;Text style={{ fontSize: '17px', color: 'rgba(255,255,255,0.72)', lineHeight: 1.7 }}&gt;&#10;            旅行内容持续生产，卡在三件事；而破局方向，已经被参考片验证过了。&#10;        &lt;/Text&gt;&#10;    &lt;/Box&gt;&#10;&#10;    &lt;Box style={{ position: 'absolute', top: '470px', left: '88px', width: '620px', flexDirection: 'column', gap: '16px' }}&gt;&#10;        {[&#10;            '真人出镜成本高，账号资产沉淀不下来',&#10;            '通用 AI 工具是黑盒，不可控、不可改',&#10;            'DGX Spark 128GB 统一内存，让全流程单机跑成流水线',&#10;        ].map((t, i) =&gt; (&#10;            &lt;Box key={i} style={{ flexDirection: 'row', alignItems: 'center', gap: '14px' }}&gt;&#10;                &lt;Box style={{ width: '6px', height: '6px', borderRadius: '3px', background: '#60A5FA' }} /&gt;&#10;                &lt;Text style={{ fontSize: '15px', color: 'rgba(255,255,255,0.85)' }}&gt;{t}&lt;/Text&gt;&#10;            &lt;/Box&gt;&#10;        ))}&#10;    &lt;/Box&gt;&#10;&#10;    &lt;Box style={{ position: 'absolute', bottom: '86px', left: '88px', flexDirection: 'row', alignItems: 'center', gap: '10px' }}&gt;&#10;        {['01', '02', '03', '04'].map((s, i) =&gt; (&#10;            &lt;Box key={i} style={{ flexDirection: 'row', alignItems: 'center', gap: '10px' }}&gt;&#10;                &lt;Box style={{ width: i === 0 ? '26px' : '8px', height: '8px', borderRadius: '4px', background: i === 0 ? '#60A5FA' : 'rgba(255,255,255,0.25)' }} /&gt;&#10;                &lt;Text style={{ fontSize: '11px', color: i === 0 ? '#93C5FD' : 'rgba(255,255,255,0.4)', letterSpacing: '1px', marginRight: '6px' }}&gt;{s}&lt;/Text&gt;&#10;            &lt;/Box&gt;&#10;        ))}&#10;    &lt;/Box&gt;&#10;&#10;    &lt;Box style={{ position: 'absolute', bottom: 0, left: 0, right: 0, height: '56px', padding: '0 64px', flexDirection: 'row', justifyContent: 'space-between', alignItems: 'center' }}&gt;&#10;        &lt;Text style={{ fontSize: '12.5px', color: 'rgba(255,255,255,0.5)' }}&gt;可旅 Kelvoy · AI 旅行 Vlog 生产工作台&lt;/Text&gt;&#10;        &lt;Text style={{ fontSize: '12.5px', color: 'rgba(255,255,255,0.5)' }}&gt;03 / 1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矩形 6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128"/>
              </a:gs>
              <a:gs pos="55000">
                <a:srgbClr val="16233F"/>
              </a:gs>
              <a:gs pos="100000">
                <a:srgbClr val="312E81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617" name="矩形 6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rgbClr val="FFFFFF">
                  <a:alpha val="3000"/>
                </a:srgbClr>
              </a:gs>
              <a:gs pos="1000">
                <a:srgbClr val="FFFFFF">
                  <a:alpha val="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618" name="矩形 6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rgbClr val="FFFFFF">
                  <a:alpha val="3000"/>
                </a:srgbClr>
              </a:gs>
              <a:gs pos="1000">
                <a:srgbClr val="FFFFFF">
                  <a:alpha val="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619" name="任意多边形 618"/>
          <p:cNvSpPr/>
          <p:nvPr/>
        </p:nvSpPr>
        <p:spPr>
          <a:xfrm>
            <a:off x="8191500" y="-1524000"/>
            <a:ext cx="4953000" cy="4953000"/>
          </a:xfrm>
          <a:custGeom>
            <a:avLst/>
            <a:gdLst/>
            <a:ahLst/>
            <a:cxnLst/>
            <a:pathLst>
              <a:path w="520" h="520">
                <a:moveTo>
                  <a:pt x="260" y="0"/>
                </a:moveTo>
                <a:lnTo>
                  <a:pt x="260" y="0"/>
                </a:lnTo>
                <a:cubicBezTo>
                  <a:pt x="403" y="0"/>
                  <a:pt x="520" y="117"/>
                  <a:pt x="520" y="260"/>
                </a:cubicBezTo>
                <a:lnTo>
                  <a:pt x="520" y="260"/>
                </a:lnTo>
                <a:cubicBezTo>
                  <a:pt x="520" y="403"/>
                  <a:pt x="403" y="520"/>
                  <a:pt x="260" y="520"/>
                </a:cubicBezTo>
                <a:lnTo>
                  <a:pt x="260" y="520"/>
                </a:lnTo>
                <a:cubicBezTo>
                  <a:pt x="117" y="520"/>
                  <a:pt x="0" y="403"/>
                  <a:pt x="0" y="260"/>
                </a:cubicBezTo>
                <a:lnTo>
                  <a:pt x="0" y="260"/>
                </a:lnTo>
                <a:cubicBezTo>
                  <a:pt x="0" y="117"/>
                  <a:pt x="117" y="0"/>
                  <a:pt x="260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30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620" name="任意多边形 619"/>
          <p:cNvSpPr/>
          <p:nvPr/>
        </p:nvSpPr>
        <p:spPr>
          <a:xfrm>
            <a:off x="-1143000" y="4000500"/>
            <a:ext cx="4572000" cy="4572000"/>
          </a:xfrm>
          <a:custGeom>
            <a:avLst/>
            <a:gdLst/>
            <a:ahLst/>
            <a:cxnLst/>
            <a:pathLst>
              <a:path w="480" h="480">
                <a:moveTo>
                  <a:pt x="240" y="0"/>
                </a:moveTo>
                <a:lnTo>
                  <a:pt x="240" y="0"/>
                </a:lnTo>
                <a:cubicBezTo>
                  <a:pt x="372" y="0"/>
                  <a:pt x="480" y="108"/>
                  <a:pt x="480" y="240"/>
                </a:cubicBezTo>
                <a:lnTo>
                  <a:pt x="480" y="240"/>
                </a:lnTo>
                <a:cubicBezTo>
                  <a:pt x="480" y="372"/>
                  <a:pt x="372" y="480"/>
                  <a:pt x="240" y="480"/>
                </a:cubicBezTo>
                <a:lnTo>
                  <a:pt x="240" y="480"/>
                </a:lnTo>
                <a:cubicBezTo>
                  <a:pt x="108" y="480"/>
                  <a:pt x="0" y="372"/>
                  <a:pt x="0" y="240"/>
                </a:cubicBezTo>
                <a:lnTo>
                  <a:pt x="0" y="240"/>
                </a:lnTo>
                <a:cubicBezTo>
                  <a:pt x="0" y="108"/>
                  <a:pt x="108" y="0"/>
                  <a:pt x="240" y="0"/>
                </a:cubicBezTo>
                <a:close/>
              </a:path>
            </a:pathLst>
          </a:custGeom>
          <a:gradFill>
            <a:gsLst>
              <a:gs pos="0">
                <a:srgbClr val="2563EB">
                  <a:alpha val="2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621" name="文本框 620" descr="{&quot;isTemplate&quot;:true,&quot;type&quot;:&quot;text&quot;}"/>
          <p:cNvSpPr txBox="1"/>
          <p:nvPr/>
        </p:nvSpPr>
        <p:spPr>
          <a:xfrm>
            <a:off x="8277225" y="1238250"/>
            <a:ext cx="3533775" cy="3429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55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2500" b="1">
              <a:solidFill>
                <a:srgbClr val="FFFFFF">
                  <a:alpha val="55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2" name="矩形 621"/>
          <p:cNvSpPr/>
          <p:nvPr/>
        </p:nvSpPr>
        <p:spPr>
          <a:xfrm>
            <a:off x="838200" y="1971675"/>
            <a:ext cx="323850" cy="28575"/>
          </a:xfrm>
          <a:prstGeom prst="rect">
            <a:avLst/>
          </a:prstGeom>
          <a:solidFill>
            <a:srgbClr val="60A5FA"/>
          </a:solidFill>
        </p:spPr>
        <p:txBody>
          <a:bodyPr/>
          <a:p/>
        </p:txBody>
      </p:sp>
      <p:sp>
        <p:nvSpPr>
          <p:cNvPr id="623" name="文本框 622" descr="{&quot;isTemplate&quot;:true,&quot;type&quot;:&quot;text&quot;}"/>
          <p:cNvSpPr txBox="1"/>
          <p:nvPr/>
        </p:nvSpPr>
        <p:spPr>
          <a:xfrm>
            <a:off x="1295400" y="1905000"/>
            <a:ext cx="1895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SECTION 01 · WHY</a:t>
            </a:r>
            <a:endParaRPr lang="en-US" sz="1050" b="1" spc="300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4" name="文本框 623" descr="{&quot;isTemplate&quot;:true,&quot;type&quot;:&quot;text&quot;}"/>
          <p:cNvSpPr txBox="1"/>
          <p:nvPr/>
        </p:nvSpPr>
        <p:spPr>
          <a:xfrm>
            <a:off x="838200" y="2314575"/>
            <a:ext cx="6096000" cy="771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350" b="1" spc="-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问题与机会</a:t>
            </a:r>
            <a:endParaRPr lang="zh-CN" sz="4350" b="1" spc="-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5" name="文本框 624" descr="{&quot;isTemplate&quot;:true,&quot;type&quot;:&quot;text&quot;}"/>
          <p:cNvSpPr txBox="1"/>
          <p:nvPr/>
        </p:nvSpPr>
        <p:spPr>
          <a:xfrm>
            <a:off x="838200" y="3333750"/>
            <a:ext cx="60960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旅行内容持续生产，卡在三件事；而破局方向，已经被参考片验证过了。</a:t>
            </a:r>
            <a:endParaRPr lang="zh-CN" sz="1275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6" name="圆角矩形 625"/>
          <p:cNvSpPr/>
          <p:nvPr/>
        </p:nvSpPr>
        <p:spPr>
          <a:xfrm>
            <a:off x="838200" y="45339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/>
          <a:p/>
        </p:txBody>
      </p:sp>
      <p:sp>
        <p:nvSpPr>
          <p:cNvPr id="627" name="文本框 626" descr="{&quot;isTemplate&quot;:true,&quot;type&quot;:&quot;text&quot;}"/>
          <p:cNvSpPr txBox="1"/>
          <p:nvPr/>
        </p:nvSpPr>
        <p:spPr>
          <a:xfrm>
            <a:off x="1028700" y="4476750"/>
            <a:ext cx="2428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真人出镜成本高，账号资产沉淀不下来</a:t>
            </a:r>
            <a:endParaRPr lang="zh-CN" sz="1125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8" name="圆角矩形 627"/>
          <p:cNvSpPr/>
          <p:nvPr/>
        </p:nvSpPr>
        <p:spPr>
          <a:xfrm>
            <a:off x="838200" y="4857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/>
          <a:p/>
        </p:txBody>
      </p:sp>
      <p:sp>
        <p:nvSpPr>
          <p:cNvPr id="629" name="文本框 628" descr="{&quot;isTemplate&quot;:true,&quot;type&quot;:&quot;text&quot;}"/>
          <p:cNvSpPr txBox="1"/>
          <p:nvPr/>
        </p:nvSpPr>
        <p:spPr>
          <a:xfrm>
            <a:off x="1028700" y="4800600"/>
            <a:ext cx="2371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通用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工具是黑盒，不可控、不可改</a:t>
            </a:r>
            <a:endParaRPr lang="zh-CN" sz="1125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0" name="圆角矩形 629"/>
          <p:cNvSpPr/>
          <p:nvPr/>
        </p:nvSpPr>
        <p:spPr>
          <a:xfrm>
            <a:off x="838200" y="5181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/>
          <a:p/>
        </p:txBody>
      </p:sp>
      <p:sp>
        <p:nvSpPr>
          <p:cNvPr id="631" name="文本框 630" descr="{&quot;isTemplate&quot;:true,&quot;type&quot;:&quot;text&quot;}"/>
          <p:cNvSpPr txBox="1"/>
          <p:nvPr/>
        </p:nvSpPr>
        <p:spPr>
          <a:xfrm>
            <a:off x="1028700" y="5124450"/>
            <a:ext cx="35528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DGX Spark 128GB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统一内存，让全流程单机跑成流水线</a:t>
            </a:r>
            <a:endParaRPr lang="zh-CN" sz="1125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2" name="圆角矩形 631"/>
          <p:cNvSpPr/>
          <p:nvPr/>
        </p:nvSpPr>
        <p:spPr>
          <a:xfrm>
            <a:off x="838200" y="5934075"/>
            <a:ext cx="247650" cy="762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/>
          <a:p/>
        </p:txBody>
      </p:sp>
      <p:sp>
        <p:nvSpPr>
          <p:cNvPr id="633" name="文本框 632" descr="{&quot;isTemplate&quot;:true,&quot;type&quot;:&quot;text&quot;}"/>
          <p:cNvSpPr txBox="1"/>
          <p:nvPr/>
        </p:nvSpPr>
        <p:spPr>
          <a:xfrm>
            <a:off x="1181100" y="5905500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825" spc="75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4" name="圆角矩形 633"/>
          <p:cNvSpPr/>
          <p:nvPr/>
        </p:nvSpPr>
        <p:spPr>
          <a:xfrm>
            <a:off x="1476375" y="5934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635" name="文本框 634" descr="{&quot;isTemplate&quot;:true,&quot;type&quot;:&quot;text&quot;}"/>
          <p:cNvSpPr txBox="1"/>
          <p:nvPr/>
        </p:nvSpPr>
        <p:spPr>
          <a:xfrm>
            <a:off x="1647825" y="5905500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825" spc="75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6" name="圆角矩形 635"/>
          <p:cNvSpPr/>
          <p:nvPr/>
        </p:nvSpPr>
        <p:spPr>
          <a:xfrm>
            <a:off x="1943100" y="5934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637" name="文本框 636" descr="{&quot;isTemplate&quot;:true,&quot;type&quot;:&quot;text&quot;}"/>
          <p:cNvSpPr txBox="1"/>
          <p:nvPr/>
        </p:nvSpPr>
        <p:spPr>
          <a:xfrm>
            <a:off x="2114550" y="5905500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825" spc="75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8" name="圆角矩形 637"/>
          <p:cNvSpPr/>
          <p:nvPr/>
        </p:nvSpPr>
        <p:spPr>
          <a:xfrm>
            <a:off x="2409825" y="5934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639" name="文本框 638" descr="{&quot;isTemplate&quot;:true,&quot;type&quot;:&quot;text&quot;}"/>
          <p:cNvSpPr txBox="1"/>
          <p:nvPr/>
        </p:nvSpPr>
        <p:spPr>
          <a:xfrm>
            <a:off x="2581275" y="5905500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825" spc="75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0" name="文本框 639" descr="{&quot;isTemplate&quot;:true,&quot;type&quot;:&quot;text&quot;}"/>
          <p:cNvSpPr txBox="1"/>
          <p:nvPr/>
        </p:nvSpPr>
        <p:spPr>
          <a:xfrm>
            <a:off x="609600" y="6524625"/>
            <a:ext cx="20764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Kelvoy · AI </a:t>
            </a:r>
            <a:r>
              <a:rPr lang="zh-CN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40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1" name="文本框 640" descr="{&quot;isTemplate&quot;:true,&quot;type&quot;:&quot;text&quot;}"/>
          <p:cNvSpPr txBox="1"/>
          <p:nvPr/>
        </p:nvSpPr>
        <p:spPr>
          <a:xfrm>
            <a:off x="11172825" y="6524625"/>
            <a:ext cx="4095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 / 19</a:t>
            </a:r>
            <a:endParaRPr lang="en-US" sz="940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2" name="" descr="&lt;Slide padding='0'&gt;&#10;    &lt;Box style={{ position: 'absolute', top: 0, left: 0, width: '1280px', height: '720px', background: '#F6F8FB' }} /&gt;&#10;    &lt;Box style={{ position: 'absolute', top: 0, left: 0, width: '1280px', height: '4px', background: 'linear-gradient(90deg,#2563EB 0%,#7C3AED 100%)' }} /&gt;&#10;&#10;    &lt;Box style={{ position: 'absolute', top: '42px', left: '64px', right: '64px', flexDirection: 'row', justifyContent: 'space-between', alignItems: 'center' }}&gt;&#10;        &lt;Text style={{ fontSize: '12px', fontWeight: '700', color: '#2563EB', letterSpacing: '2px' }}&gt;01 · 问题与机会&lt;/Text&gt;&#10;        &lt;Text style={{ fontSize: '11px', color: '#8A97AB', letterSpacing: '3px' }}&gt;PAIN POINTS&lt;/Text&gt;&#10;    &lt;/Box&gt;&#10;    &lt;Text style={{ position: 'absolute', top: '68px', left: '64px', fontSize: '34px', fontWeight: 'bold', color: '#0B1220' }}&gt;&#10;        旅行内容持续生产，&lt;span style={{ color: '#2563EB' }}&gt;卡在三件事&lt;/span&gt;&#10;    &lt;/Text&gt;&#10;    &lt;Box style={{ position: 'absolute', top: '116px', left: '64px', width: '44px', height: '4px', borderRadius: '2px', background: 'linear-gradient(90deg,#2563EB,#7C3AED)' }} /&gt;&#10;&#10;    &lt;Box style={{ position: 'absolute', top: '150px', left: '64px', right: '64px', flexDirection: 'row', gap: '18px' }}&gt;&#10;        {[&#10;            { n: '1', icon: 'user', t: '真人出镜成本高', d: '拍摄与档期贵，人设跨期难一致；换一期就换一张脸，账号资产沉淀不下来。' },&#10;            { n: '2', icon: 'box', t: '通用 AI 工具是黑盒', d: '一键生成不可控、不可改；通用剪辑器只管剪，不管内容从哪来。' },&#10;            { n: '3', icon: 'calendar-days', t: '文旅与代运营要持续产出', d: '同一账号、多个目的地、稳定更新——现有工具没有为这个场景设计。' },&#10;        ].map((c, i) =&gt; (&#10;            &lt;Box key={i} style={{ flex: 1, padding: '26px 26px 22px 26px', background: '#FFFFFF', borderRadius: '14px', border: '1px solid #E6EAF1', boxShadow: '0 2px 12px rgba(15,23,42,0.04)', flexDirection: 'column', gap: '14px' }}&gt;&#10;                &lt;Box style={{ flexDirection: 'row', justifyContent: 'space-between', alignItems: 'center' }}&gt;&#10;                    &lt;Box style={{ width: '44px', height: '44px', borderRadius: '12px', background: '#EFF4FE', justifyContent: 'center', alignItems: 'center' }}&gt;&#10;                        &lt;FAIcon name={c.icon} style={{ fill: '#2563EB', width: '21px', height: '21px' }} /&gt;&#10;                    &lt;/Box&gt;&#10;                    &lt;Text style={{ fontSize: '30px', fontWeight: 'bold', color: '#DBE4F5' }}&gt;0{c.n}&lt;/Text&gt;&#10;                &lt;/Box&gt;&#10;                &lt;Text style={{ fontSize: '19px', fontWeight: 'bold', color: '#0B1220', lineHeight: 1.35 }}&gt;{c.t}&lt;/Text&gt;&#10;                &lt;Text style={{ fontSize: '13.5px', color: '#5B6B84', lineHeight: 1.7 }}&gt;{c.d}&lt;/Text&gt;&#10;            &lt;/Box&gt;&#10;        ))}&#10;    &lt;/Box&gt;&#10;&#10;    &lt;Box style={{ position: 'absolute', top: '418px', left: '64px', right: '64px', padding: '26px 30px', borderRadius: '14px', background: 'linear-gradient(120deg,#0A1128 0%,#16233F 60%,#312E81 100%)', flexDirection: 'row', alignItems: 'center', gap: '30px', boxShadow: '0 10px 30px rgba(15,23,42,0.25)' }}&gt;&#10;        &lt;Box style={{ width: '52px', height: '52px', borderRadius: '14px', background: 'rgba(96,165,250,0.16)', border: '1px solid rgba(96,165,250,0.4)', justifyContent: 'center', alignItems: 'center' }}&gt;&#10;            &lt;FAIcon name='lightbulb' style={{ fill: '#93C5FD', width: '24px', height: '24px' }} /&gt;&#10;        &lt;/Box&gt;&#10;        &lt;Box style={{ flex: 1, flexDirection: 'column', gap: '8px' }}&gt;&#10;            &lt;Text style={{ fontSize: '19px', fontWeight: 'bold', color: '#FFFFFF' }}&gt;机会 · Opportunity&lt;/Text&gt;&#10;            &lt;Text style={{ fontSize: '14px', color: 'rgba(255,255,255,0.82)', lineHeight: 1.65 }}&gt;&#10;                参考片验证了「&lt;span style={{ color: '#93C5FD', fontWeight: 600 }}&gt;静帧锁一致性 + 1 秒一镜&lt;/span&gt;」可稳定出片；DGX Spark 128GB 统一内存让脚本、图像、视频、合成在单机跑成流水线。&#10;            &lt;/Text&gt;&#10;        &lt;/Box&gt;&#10;    &lt;/Box&gt;&#10;&#10;    &lt;Box style={{ position: 'absolute', top: '588px', left: '64px', right: '64px', flexDirection: 'row', gap: '14px' }}&gt;&#10;        {[&#10;            { k: '成本', v: '真人出镜贵' },&#10;            { k: '可控', v: '黑盒不可改' },&#10;            { k: '场景', v: '没有为代运营设计' },&#10;        ].map((x, i) =&gt; (&#10;            &lt;Box key={i} style={{ flex: 1, flexDirection: 'row', alignItems: 'center', gap: '10px', padding: '12px 18px', background: '#FFFFFF', borderRadius: '10px', border: '1px solid #E6EAF1' }}&gt;&#10;                &lt;Box style={{ width: '8px', height: '8px', borderRadius: '4px', background: '#F59E0B' }} /&gt;&#10;                &lt;Text style={{ fontSize: '13px', color: '#5B6B84' }}&gt;&lt;span style={{ fontWeight: 700, color: '#0B1220' }}&gt;{x.k}&lt;/span&gt;　{x.v}&lt;/Text&gt;&#10;            &lt;/Box&gt;&#10;        ))}&#10;    &lt;/Box&gt;&#10;&#10;    &lt;Box style={{ position: 'absolute', bottom: '20px', left: '64px', right: '64px', flexDirection: 'row', justifyContent: 'space-between', alignItems: 'center' }}&gt;&#10;        &lt;Box style={{ flexDirection: 'row', alignItems: 'center', gap: '8px' }}&gt;&#10;            &lt;Box style={{ width: '18px', height: '18px', borderRadius: '5px', background: 'linear-gradient(135deg,#60A5FA,#2563EB)', justifyContent: 'center', alignItems: 'center' }}&gt;&#10;                &lt;Text style={{ fontSize: '10px', fontWeight: 'bold', color: '#FFFFFF' }}&gt;旅&lt;/Text&gt;&#10;            &lt;/Box&gt;&#10;            &lt;Text style={{ fontSize: '12px', color: '#8A97AB' }}&gt;可旅 Kelvoy · AI 旅行 Vlog 生产工作台&lt;/Text&gt;&#10;        &lt;/Box&gt;&#10;        &lt;Text style={{ fontSize: '12px', color: '#8A97AB' }}&gt;04 / 1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矩形 6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</p:spPr>
        <p:txBody>
          <a:bodyPr/>
          <a:p/>
        </p:txBody>
      </p:sp>
      <p:sp>
        <p:nvSpPr>
          <p:cNvPr id="644" name="矩形 64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645" name="文本框 644" descr="{&quot;isTemplate&quot;:true,&quot;type&quot;:&quot;text&quot;}"/>
          <p:cNvSpPr txBox="1"/>
          <p:nvPr/>
        </p:nvSpPr>
        <p:spPr>
          <a:xfrm>
            <a:off x="609600" y="400050"/>
            <a:ext cx="1028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01 · </a:t>
            </a:r>
            <a:r>
              <a:rPr lang="zh-CN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问题与机会</a:t>
            </a:r>
            <a:endParaRPr lang="zh-CN" sz="900" b="1" spc="1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6" name="文本框 645" descr="{&quot;isTemplate&quot;:true,&quot;type&quot;:&quot;text&quot;}"/>
          <p:cNvSpPr txBox="1"/>
          <p:nvPr/>
        </p:nvSpPr>
        <p:spPr>
          <a:xfrm>
            <a:off x="10591800" y="409575"/>
            <a:ext cx="9906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22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PAIN POINTS</a:t>
            </a:r>
            <a:endParaRPr lang="en-US" sz="825" spc="22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7" name="文本框 646" descr="{&quot;isTemplate&quot;:true,&quot;type&quot;:&quot;text&quot;}"/>
          <p:cNvSpPr txBox="1"/>
          <p:nvPr/>
        </p:nvSpPr>
        <p:spPr>
          <a:xfrm>
            <a:off x="609600" y="647700"/>
            <a:ext cx="45339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旅行内容持续生产，</a:t>
            </a:r>
            <a:r>
              <a:rPr lang="zh-CN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卡在三件事</a:t>
            </a:r>
            <a:endParaRPr lang="zh-CN" sz="25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8" name="圆角矩形 647"/>
          <p:cNvSpPr/>
          <p:nvPr/>
        </p:nvSpPr>
        <p:spPr>
          <a:xfrm>
            <a:off x="609600" y="1104900"/>
            <a:ext cx="4191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649" name="圆角矩形 648"/>
          <p:cNvSpPr/>
          <p:nvPr/>
        </p:nvSpPr>
        <p:spPr>
          <a:xfrm>
            <a:off x="609600" y="1428750"/>
            <a:ext cx="3543300" cy="1971675"/>
          </a:xfrm>
          <a:prstGeom prst="roundRect">
            <a:avLst>
              <a:gd name="adj" fmla="val 6763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650" name="圆角矩形 649"/>
          <p:cNvSpPr/>
          <p:nvPr/>
        </p:nvSpPr>
        <p:spPr>
          <a:xfrm>
            <a:off x="857250" y="16764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FF4FE"/>
          </a:solidFill>
        </p:spPr>
        <p:txBody>
          <a:bodyPr/>
          <a:p/>
        </p:txBody>
      </p:sp>
      <p:pic>
        <p:nvPicPr>
          <p:cNvPr id="651" name="图片 65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1550" y="1790700"/>
            <a:ext cx="200025" cy="200025"/>
          </a:xfrm>
          <a:prstGeom prst="rect">
            <a:avLst/>
          </a:prstGeom>
        </p:spPr>
      </p:pic>
      <p:sp>
        <p:nvSpPr>
          <p:cNvPr id="652" name="文本框 651" descr="{&quot;isTemplate&quot;:true,&quot;type&quot;:&quot;text&quot;}"/>
          <p:cNvSpPr txBox="1"/>
          <p:nvPr/>
        </p:nvSpPr>
        <p:spPr>
          <a:xfrm>
            <a:off x="3543300" y="1714500"/>
            <a:ext cx="361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2250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2250" b="1">
              <a:solidFill>
                <a:srgbClr val="DB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3" name="文本框 652" descr="{&quot;isTemplate&quot;:true,&quot;type&quot;:&quot;text&quot;}"/>
          <p:cNvSpPr txBox="1"/>
          <p:nvPr/>
        </p:nvSpPr>
        <p:spPr>
          <a:xfrm>
            <a:off x="857250" y="2228850"/>
            <a:ext cx="3048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42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真人出镜成本高</a:t>
            </a:r>
            <a:endParaRPr lang="zh-CN" sz="142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4" name="文本框 653" descr="{&quot;isTemplate&quot;:true,&quot;type&quot;:&quot;text&quot;}"/>
          <p:cNvSpPr txBox="1"/>
          <p:nvPr/>
        </p:nvSpPr>
        <p:spPr>
          <a:xfrm>
            <a:off x="857250" y="2657475"/>
            <a:ext cx="30480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5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拍摄与档期贵，人设跨期难一致；换一期就换一张脸，账号资产沉淀不下来。</a:t>
            </a:r>
            <a:endParaRPr lang="zh-CN" sz="1015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5" name="圆角矩形 654"/>
          <p:cNvSpPr/>
          <p:nvPr/>
        </p:nvSpPr>
        <p:spPr>
          <a:xfrm>
            <a:off x="4324350" y="1428750"/>
            <a:ext cx="3543300" cy="1971675"/>
          </a:xfrm>
          <a:prstGeom prst="roundRect">
            <a:avLst>
              <a:gd name="adj" fmla="val 6763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656" name="圆角矩形 655"/>
          <p:cNvSpPr/>
          <p:nvPr/>
        </p:nvSpPr>
        <p:spPr>
          <a:xfrm>
            <a:off x="4572000" y="16764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FF4FE"/>
          </a:solidFill>
        </p:spPr>
        <p:txBody>
          <a:bodyPr/>
          <a:p/>
        </p:txBody>
      </p:sp>
      <p:pic>
        <p:nvPicPr>
          <p:cNvPr id="657" name="图片 65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6300" y="1790700"/>
            <a:ext cx="200025" cy="200025"/>
          </a:xfrm>
          <a:prstGeom prst="rect">
            <a:avLst/>
          </a:prstGeom>
        </p:spPr>
      </p:pic>
      <p:sp>
        <p:nvSpPr>
          <p:cNvPr id="658" name="文本框 657" descr="{&quot;isTemplate&quot;:true,&quot;type&quot;:&quot;text&quot;}"/>
          <p:cNvSpPr txBox="1"/>
          <p:nvPr/>
        </p:nvSpPr>
        <p:spPr>
          <a:xfrm>
            <a:off x="7258050" y="1714500"/>
            <a:ext cx="361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2250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2250" b="1">
              <a:solidFill>
                <a:srgbClr val="DB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9" name="文本框 658" descr="{&quot;isTemplate&quot;:true,&quot;type&quot;:&quot;text&quot;}"/>
          <p:cNvSpPr txBox="1"/>
          <p:nvPr/>
        </p:nvSpPr>
        <p:spPr>
          <a:xfrm>
            <a:off x="4572000" y="2228850"/>
            <a:ext cx="3048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42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通用</a:t>
            </a:r>
            <a:r>
              <a:rPr lang="en-US" sz="142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42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工具是黑盒</a:t>
            </a:r>
            <a:endParaRPr lang="zh-CN" sz="142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0" name="文本框 659" descr="{&quot;isTemplate&quot;:true,&quot;type&quot;:&quot;text&quot;}"/>
          <p:cNvSpPr txBox="1"/>
          <p:nvPr/>
        </p:nvSpPr>
        <p:spPr>
          <a:xfrm>
            <a:off x="4572000" y="2657475"/>
            <a:ext cx="30480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5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一键生成不可控、不可改；通用剪辑器只管剪，不管内容从哪来。</a:t>
            </a:r>
            <a:endParaRPr lang="zh-CN" sz="1015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1" name="圆角矩形 660"/>
          <p:cNvSpPr/>
          <p:nvPr/>
        </p:nvSpPr>
        <p:spPr>
          <a:xfrm>
            <a:off x="8039100" y="1428750"/>
            <a:ext cx="3543300" cy="1971675"/>
          </a:xfrm>
          <a:prstGeom prst="roundRect">
            <a:avLst>
              <a:gd name="adj" fmla="val 6763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662" name="圆角矩形 661"/>
          <p:cNvSpPr/>
          <p:nvPr/>
        </p:nvSpPr>
        <p:spPr>
          <a:xfrm>
            <a:off x="8286750" y="16764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FF4FE"/>
          </a:solidFill>
        </p:spPr>
        <p:txBody>
          <a:bodyPr/>
          <a:p/>
        </p:txBody>
      </p:sp>
      <p:pic>
        <p:nvPicPr>
          <p:cNvPr id="663" name="图片 66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01050" y="1790700"/>
            <a:ext cx="200025" cy="200025"/>
          </a:xfrm>
          <a:prstGeom prst="rect">
            <a:avLst/>
          </a:prstGeom>
        </p:spPr>
      </p:pic>
      <p:sp>
        <p:nvSpPr>
          <p:cNvPr id="664" name="文本框 663" descr="{&quot;isTemplate&quot;:true,&quot;type&quot;:&quot;text&quot;}"/>
          <p:cNvSpPr txBox="1"/>
          <p:nvPr/>
        </p:nvSpPr>
        <p:spPr>
          <a:xfrm>
            <a:off x="10972800" y="1714500"/>
            <a:ext cx="361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2250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2250" b="1">
              <a:solidFill>
                <a:srgbClr val="DB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5" name="文本框 664" descr="{&quot;isTemplate&quot;:true,&quot;type&quot;:&quot;text&quot;}"/>
          <p:cNvSpPr txBox="1"/>
          <p:nvPr/>
        </p:nvSpPr>
        <p:spPr>
          <a:xfrm>
            <a:off x="8286750" y="2228850"/>
            <a:ext cx="3048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42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文旅与代运营要持续产出</a:t>
            </a:r>
            <a:endParaRPr lang="zh-CN" sz="142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6" name="文本框 665" descr="{&quot;isTemplate&quot;:true,&quot;type&quot;:&quot;text&quot;}"/>
          <p:cNvSpPr txBox="1"/>
          <p:nvPr/>
        </p:nvSpPr>
        <p:spPr>
          <a:xfrm>
            <a:off x="8286750" y="2657475"/>
            <a:ext cx="30480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5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同一账号、多个目的地、稳定更新——现有工具没有为这个场景设计。</a:t>
            </a:r>
            <a:endParaRPr lang="zh-CN" sz="1015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7" name="圆角矩形 666"/>
          <p:cNvSpPr/>
          <p:nvPr/>
        </p:nvSpPr>
        <p:spPr>
          <a:xfrm>
            <a:off x="609600" y="3981450"/>
            <a:ext cx="10972800" cy="1057275"/>
          </a:xfrm>
          <a:prstGeom prst="roundRect">
            <a:avLst>
              <a:gd name="adj" fmla="val 12613"/>
            </a:avLst>
          </a:prstGeom>
          <a:gradFill>
            <a:gsLst>
              <a:gs pos="0">
                <a:srgbClr val="0A1128"/>
              </a:gs>
              <a:gs pos="60000">
                <a:srgbClr val="16233F"/>
              </a:gs>
              <a:gs pos="100000">
                <a:srgbClr val="312E81"/>
              </a:gs>
            </a:gsLst>
            <a:lin ang="1800000" scaled="1"/>
          </a:gradFill>
          <a:effectLst>
            <a:outerShdw blurRad="285750" dist="95250" dir="5400000">
              <a:srgbClr val="0F172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668" name="圆角矩形 667"/>
          <p:cNvSpPr/>
          <p:nvPr/>
        </p:nvSpPr>
        <p:spPr>
          <a:xfrm>
            <a:off x="895350" y="426720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4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69" name="图片 66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8700" y="4400550"/>
            <a:ext cx="228600" cy="228600"/>
          </a:xfrm>
          <a:prstGeom prst="rect">
            <a:avLst/>
          </a:prstGeom>
        </p:spPr>
      </p:pic>
      <p:sp>
        <p:nvSpPr>
          <p:cNvPr id="670" name="文本框 669" descr="{&quot;isTemplate&quot;:true,&quot;type&quot;:&quot;text&quot;}"/>
          <p:cNvSpPr txBox="1"/>
          <p:nvPr/>
        </p:nvSpPr>
        <p:spPr>
          <a:xfrm>
            <a:off x="1676400" y="4229100"/>
            <a:ext cx="9620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机会</a:t>
            </a: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Opportunity</a:t>
            </a:r>
            <a:endParaRPr lang="en-US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1" name="文本框 670" descr="{&quot;isTemplate&quot;:true,&quot;type&quot;:&quot;text&quot;}"/>
          <p:cNvSpPr txBox="1"/>
          <p:nvPr/>
        </p:nvSpPr>
        <p:spPr>
          <a:xfrm>
            <a:off x="1676400" y="4524375"/>
            <a:ext cx="9620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参考片验证了「</a:t>
            </a:r>
            <a:r>
              <a:rPr lang="zh-CN" sz="105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静帧锁一致性</a:t>
            </a:r>
            <a:r>
              <a:rPr lang="en-US" sz="105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 + 1 </a:t>
            </a:r>
            <a:r>
              <a:rPr lang="zh-CN" sz="105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秒一镜</a:t>
            </a:r>
            <a:r>
              <a:rPr lang="zh-CN" sz="1050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」可稳定出片；</a:t>
            </a:r>
            <a:r>
              <a:rPr lang="en-US" sz="1050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DGX Spark 128GB </a:t>
            </a:r>
            <a:r>
              <a:rPr lang="zh-CN" sz="1050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统一内存让脚本、图像、视频、合成在单机跑成流水线。</a:t>
            </a:r>
            <a:endParaRPr lang="zh-CN" sz="1050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2" name="圆角矩形 671"/>
          <p:cNvSpPr/>
          <p:nvPr/>
        </p:nvSpPr>
        <p:spPr>
          <a:xfrm>
            <a:off x="609600" y="5600700"/>
            <a:ext cx="357187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673" name="圆角矩形 672"/>
          <p:cNvSpPr/>
          <p:nvPr/>
        </p:nvSpPr>
        <p:spPr>
          <a:xfrm>
            <a:off x="781050" y="5753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674" name="文本框 673" descr="{&quot;isTemplate&quot;:true,&quot;type&quot;:&quot;text&quot;}"/>
          <p:cNvSpPr txBox="1"/>
          <p:nvPr/>
        </p:nvSpPr>
        <p:spPr>
          <a:xfrm>
            <a:off x="952500" y="571500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成本</a:t>
            </a:r>
            <a:r>
              <a:rPr lang="zh-CN" sz="975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zh-CN" sz="975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真人出镜贵</a:t>
            </a:r>
            <a:endParaRPr lang="zh-CN" sz="975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5" name="圆角矩形 674"/>
          <p:cNvSpPr/>
          <p:nvPr/>
        </p:nvSpPr>
        <p:spPr>
          <a:xfrm>
            <a:off x="4314825" y="5600700"/>
            <a:ext cx="356235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676" name="圆角矩形 675"/>
          <p:cNvSpPr/>
          <p:nvPr/>
        </p:nvSpPr>
        <p:spPr>
          <a:xfrm>
            <a:off x="4486275" y="5753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677" name="文本框 676" descr="{&quot;isTemplate&quot;:true,&quot;type&quot;:&quot;text&quot;}"/>
          <p:cNvSpPr txBox="1"/>
          <p:nvPr/>
        </p:nvSpPr>
        <p:spPr>
          <a:xfrm>
            <a:off x="4657725" y="571500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可控</a:t>
            </a:r>
            <a:r>
              <a:rPr lang="zh-CN" sz="975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zh-CN" sz="975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黑盒不可改</a:t>
            </a:r>
            <a:endParaRPr lang="zh-CN" sz="975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8" name="圆角矩形 677"/>
          <p:cNvSpPr/>
          <p:nvPr/>
        </p:nvSpPr>
        <p:spPr>
          <a:xfrm>
            <a:off x="8010525" y="5600700"/>
            <a:ext cx="357187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679" name="圆角矩形 678"/>
          <p:cNvSpPr/>
          <p:nvPr/>
        </p:nvSpPr>
        <p:spPr>
          <a:xfrm>
            <a:off x="8181975" y="5753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680" name="文本框 679" descr="{&quot;isTemplate&quot;:true,&quot;type&quot;:&quot;text&quot;}"/>
          <p:cNvSpPr txBox="1"/>
          <p:nvPr/>
        </p:nvSpPr>
        <p:spPr>
          <a:xfrm>
            <a:off x="8353425" y="5715000"/>
            <a:ext cx="136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场景</a:t>
            </a:r>
            <a:r>
              <a:rPr lang="zh-CN" sz="975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zh-CN" sz="975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没有为代运营设计</a:t>
            </a:r>
            <a:endParaRPr lang="zh-CN" sz="975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1" name="圆角矩形 680"/>
          <p:cNvSpPr/>
          <p:nvPr/>
        </p:nvSpPr>
        <p:spPr>
          <a:xfrm>
            <a:off x="609600" y="6496050"/>
            <a:ext cx="171450" cy="171450"/>
          </a:xfrm>
          <a:prstGeom prst="roundRect">
            <a:avLst>
              <a:gd name="adj" fmla="val 27778"/>
            </a:avLst>
          </a:prstGeom>
          <a:gradFill>
            <a:gsLst>
              <a:gs pos="0">
                <a:srgbClr val="60A5FA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682" name="文本框 681" descr="{&quot;isTemplate&quot;:true,&quot;type&quot;:&quot;text&quot;}"/>
          <p:cNvSpPr txBox="1"/>
          <p:nvPr/>
        </p:nvSpPr>
        <p:spPr>
          <a:xfrm>
            <a:off x="647700" y="6524625"/>
            <a:ext cx="952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旅</a:t>
            </a:r>
            <a:endParaRPr lang="zh-CN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3" name="文本框 682" descr="{&quot;isTemplate&quot;:true,&quot;type&quot;:&quot;text&quot;}"/>
          <p:cNvSpPr txBox="1"/>
          <p:nvPr/>
        </p:nvSpPr>
        <p:spPr>
          <a:xfrm>
            <a:off x="857250" y="6515100"/>
            <a:ext cx="1990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Kelvoy · AI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4" name="文本框 683" descr="{&quot;isTemplate&quot;:true,&quot;type&quot;:&quot;text&quot;}"/>
          <p:cNvSpPr txBox="1"/>
          <p:nvPr/>
        </p:nvSpPr>
        <p:spPr>
          <a:xfrm>
            <a:off x="11191875" y="6515100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04 / 19</a:t>
            </a:r>
            <a:endParaRPr lang="en-US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5" name="" descr="&lt;Slide padding='0'&gt;&#10;    &lt;Box style={{ position: 'absolute', top: 0, left: 0, width: '1280px', height: '720px', background: 'linear-gradient(120deg,#0A1128 0%,#16233F 55%,#312E81 100%)' }} /&gt;&#10;    &lt;Box style={{ position: 'absolute', top: 0, left: 0, width: '1280px', height: '720px', opacity: 0.05, backgroundImage: 'linear-gradient(rgba(255,255,255,.6) 1px, transparent 1px), linear-gradient(90deg, rgba(255,255,255,.6) 1px, transparent 1px)', backgroundSize: '48px 48px' }} /&gt;&#10;    &lt;Box style={{ position: 'absolute', top: '-160px', right: '-100px', width: '520px', height: '520px', borderRadius: '50%', background: 'radial-gradient(circle, rgba(124,58,237,0.30) 0%, transparent 70%)' }} /&gt;&#10;    &lt;Box style={{ position: 'absolute', bottom: '-180px', left: '-120px', width: '480px', height: '480px', borderRadius: '50%', background: 'radial-gradient(circle, rgba(37,99,235,0.28) 0%, transparent 70%)' }} /&gt;&#10;    &lt;Text style={{ position: 'absolute', top: '130px', right: '40px', fontSize: '300px', fontWeight: 'bold', color: 'rgba(255,255,255,0.055)', lineHeight: 1 }}&gt;02&lt;/Text&gt;&#10;&#10;    &lt;Box style={{ position: 'absolute', top: '200px', left: '88px', width: '660px', flexDirection: 'column', gap: '26px' }}&gt;&#10;        &lt;Box style={{ flexDirection: 'row', alignItems: 'center', gap: '14px' }}&gt;&#10;            &lt;Box style={{ width: '34px', height: '3px', background: '#60A5FA' }} /&gt;&#10;            &lt;Text style={{ fontSize: '14px', fontWeight: 700, color: '#93C5FD', letterSpacing: '4px' }}&gt;SECTION 02 · WHAT&lt;/Text&gt;&#10;        &lt;/Box&gt;&#10;        &lt;Text style={{ fontSize: '58px', fontWeight: 'bold', color: '#FFFFFF', lineHeight: 1.15, letterSpacing: '-1px' }}&gt;&#10;            产品与体验&#10;        &lt;/Text&gt;&#10;        &lt;Text style={{ fontSize: '17px', color: 'rgba(255,255,255,0.72)', lineHeight: 1.7 }}&gt;&#10;            角色资产 × 目的地库，六阶段流水线，三个人工审核点。&#10;        &lt;/Text&gt;&#10;    &lt;/Box&gt;&#10;&#10;    &lt;Box style={{ position: 'absolute', top: '470px', left: '88px', width: '640px', flexDirection: 'column', gap: '16px' }}&gt;&#10;        {[&#10;            '一个角色 + 一个景区，换回一期 30 秒旅行 Vlog',&#10;            '六阶段生成，三个人工审核点兜住质量',&#10;            '默认直出视频，需要精修再走关键帧',&#10;        ].map((t, i) =&gt; (&#10;            &lt;Box key={i} style={{ flexDirection: 'row', alignItems: 'center', gap: '14px' }}&gt;&#10;                &lt;Box style={{ width: '6px', height: '6px', borderRadius: '3px', background: '#60A5FA' }} /&gt;&#10;                &lt;Text style={{ fontSize: '15px', color: 'rgba(255,255,255,0.85)' }}&gt;{t}&lt;/Text&gt;&#10;            &lt;/Box&gt;&#10;        ))}&#10;    &lt;/Box&gt;&#10;&#10;    &lt;Box style={{ position: 'absolute', bottom: '86px', left: '88px', flexDirection: 'row', alignItems: 'center', gap: '10px' }}&gt;&#10;        {['01', '02', '03', '04'].map((s, i) =&gt; (&#10;            &lt;Box key={i} style={{ flexDirection: 'row', alignItems: 'center', gap: '10px' }}&gt;&#10;                &lt;Box style={{ width: i === 1 ? '26px' : '8px', height: '8px', borderRadius: '4px', background: i === 1 ? '#60A5FA' : 'rgba(255,255,255,0.25)' }} /&gt;&#10;                &lt;Text style={{ fontSize: '11px', color: i === 1 ? '#93C5FD' : 'rgba(255,255,255,0.4)', letterSpacing: '1px', marginRight: '6px' }}&gt;{s}&lt;/Text&gt;&#10;            &lt;/Box&gt;&#10;        ))}&#10;    &lt;/Box&gt;&#10;&#10;    &lt;Box style={{ position: 'absolute', bottom: 0, left: 0, right: 0, height: '56px', padding: '0 64px', flexDirection: 'row', justifyContent: 'space-between', alignItems: 'center' }}&gt;&#10;        &lt;Text style={{ fontSize: '12.5px', color: 'rgba(255,255,255,0.5)' }}&gt;可旅 Kelvoy · AI 旅行 Vlog 生产工作台&lt;/Text&gt;&#10;        &lt;Text style={{ fontSize: '12.5px', color: 'rgba(255,255,255,0.5)' }}&gt;05 / 1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矩形 68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128"/>
              </a:gs>
              <a:gs pos="55000">
                <a:srgbClr val="16233F"/>
              </a:gs>
              <a:gs pos="100000">
                <a:srgbClr val="312E81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687" name="矩形 6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rgbClr val="FFFFFF">
                  <a:alpha val="3000"/>
                </a:srgbClr>
              </a:gs>
              <a:gs pos="1000">
                <a:srgbClr val="FFFFFF">
                  <a:alpha val="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688" name="矩形 68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rgbClr val="FFFFFF">
                  <a:alpha val="3000"/>
                </a:srgbClr>
              </a:gs>
              <a:gs pos="1000">
                <a:srgbClr val="FFFFFF">
                  <a:alpha val="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689" name="任意多边形 688"/>
          <p:cNvSpPr/>
          <p:nvPr/>
        </p:nvSpPr>
        <p:spPr>
          <a:xfrm>
            <a:off x="8191500" y="-1524000"/>
            <a:ext cx="4953000" cy="4953000"/>
          </a:xfrm>
          <a:custGeom>
            <a:avLst/>
            <a:gdLst/>
            <a:ahLst/>
            <a:cxnLst/>
            <a:pathLst>
              <a:path w="520" h="520">
                <a:moveTo>
                  <a:pt x="260" y="0"/>
                </a:moveTo>
                <a:lnTo>
                  <a:pt x="260" y="0"/>
                </a:lnTo>
                <a:cubicBezTo>
                  <a:pt x="403" y="0"/>
                  <a:pt x="520" y="117"/>
                  <a:pt x="520" y="260"/>
                </a:cubicBezTo>
                <a:lnTo>
                  <a:pt x="520" y="260"/>
                </a:lnTo>
                <a:cubicBezTo>
                  <a:pt x="520" y="403"/>
                  <a:pt x="403" y="520"/>
                  <a:pt x="260" y="520"/>
                </a:cubicBezTo>
                <a:lnTo>
                  <a:pt x="260" y="520"/>
                </a:lnTo>
                <a:cubicBezTo>
                  <a:pt x="117" y="520"/>
                  <a:pt x="0" y="403"/>
                  <a:pt x="0" y="260"/>
                </a:cubicBezTo>
                <a:lnTo>
                  <a:pt x="0" y="260"/>
                </a:lnTo>
                <a:cubicBezTo>
                  <a:pt x="0" y="117"/>
                  <a:pt x="117" y="0"/>
                  <a:pt x="260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30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690" name="任意多边形 689"/>
          <p:cNvSpPr/>
          <p:nvPr/>
        </p:nvSpPr>
        <p:spPr>
          <a:xfrm>
            <a:off x="-1143000" y="4000500"/>
            <a:ext cx="4572000" cy="4572000"/>
          </a:xfrm>
          <a:custGeom>
            <a:avLst/>
            <a:gdLst/>
            <a:ahLst/>
            <a:cxnLst/>
            <a:pathLst>
              <a:path w="480" h="480">
                <a:moveTo>
                  <a:pt x="240" y="0"/>
                </a:moveTo>
                <a:lnTo>
                  <a:pt x="240" y="0"/>
                </a:lnTo>
                <a:cubicBezTo>
                  <a:pt x="372" y="0"/>
                  <a:pt x="480" y="108"/>
                  <a:pt x="480" y="240"/>
                </a:cubicBezTo>
                <a:lnTo>
                  <a:pt x="480" y="240"/>
                </a:lnTo>
                <a:cubicBezTo>
                  <a:pt x="480" y="372"/>
                  <a:pt x="372" y="480"/>
                  <a:pt x="240" y="480"/>
                </a:cubicBezTo>
                <a:lnTo>
                  <a:pt x="240" y="480"/>
                </a:lnTo>
                <a:cubicBezTo>
                  <a:pt x="108" y="480"/>
                  <a:pt x="0" y="372"/>
                  <a:pt x="0" y="240"/>
                </a:cubicBezTo>
                <a:lnTo>
                  <a:pt x="0" y="240"/>
                </a:lnTo>
                <a:cubicBezTo>
                  <a:pt x="0" y="108"/>
                  <a:pt x="108" y="0"/>
                  <a:pt x="240" y="0"/>
                </a:cubicBezTo>
                <a:close/>
              </a:path>
            </a:pathLst>
          </a:custGeom>
          <a:gradFill>
            <a:gsLst>
              <a:gs pos="0">
                <a:srgbClr val="2563EB">
                  <a:alpha val="2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691" name="文本框 690" descr="{&quot;isTemplate&quot;:true,&quot;type&quot;:&quot;text&quot;}"/>
          <p:cNvSpPr txBox="1"/>
          <p:nvPr/>
        </p:nvSpPr>
        <p:spPr>
          <a:xfrm>
            <a:off x="8277225" y="1238250"/>
            <a:ext cx="3533775" cy="3429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55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2500" b="1">
              <a:solidFill>
                <a:srgbClr val="FFFFFF">
                  <a:alpha val="55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2" name="矩形 691"/>
          <p:cNvSpPr/>
          <p:nvPr/>
        </p:nvSpPr>
        <p:spPr>
          <a:xfrm>
            <a:off x="838200" y="1971675"/>
            <a:ext cx="323850" cy="28575"/>
          </a:xfrm>
          <a:prstGeom prst="rect">
            <a:avLst/>
          </a:prstGeom>
          <a:solidFill>
            <a:srgbClr val="60A5FA"/>
          </a:solidFill>
        </p:spPr>
        <p:txBody>
          <a:bodyPr/>
          <a:p/>
        </p:txBody>
      </p:sp>
      <p:sp>
        <p:nvSpPr>
          <p:cNvPr id="693" name="文本框 692" descr="{&quot;isTemplate&quot;:true,&quot;type&quot;:&quot;text&quot;}"/>
          <p:cNvSpPr txBox="1"/>
          <p:nvPr/>
        </p:nvSpPr>
        <p:spPr>
          <a:xfrm>
            <a:off x="1295400" y="1905000"/>
            <a:ext cx="20288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SECTION 02 · WHAT</a:t>
            </a:r>
            <a:endParaRPr lang="en-US" sz="1050" b="1" spc="300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4" name="文本框 693" descr="{&quot;isTemplate&quot;:true,&quot;type&quot;:&quot;text&quot;}"/>
          <p:cNvSpPr txBox="1"/>
          <p:nvPr/>
        </p:nvSpPr>
        <p:spPr>
          <a:xfrm>
            <a:off x="838200" y="2314575"/>
            <a:ext cx="6286500" cy="771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350" b="1" spc="-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产品与体验</a:t>
            </a:r>
            <a:endParaRPr lang="zh-CN" sz="4350" b="1" spc="-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5" name="文本框 694" descr="{&quot;isTemplate&quot;:true,&quot;type&quot;:&quot;text&quot;}"/>
          <p:cNvSpPr txBox="1"/>
          <p:nvPr/>
        </p:nvSpPr>
        <p:spPr>
          <a:xfrm>
            <a:off x="838200" y="3333750"/>
            <a:ext cx="62865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角色资产</a:t>
            </a:r>
            <a:r>
              <a:rPr lang="en-US" sz="1275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275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目的地库，六阶段流水线，三个人工审核点。</a:t>
            </a:r>
            <a:endParaRPr lang="zh-CN" sz="1275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6" name="圆角矩形 695"/>
          <p:cNvSpPr/>
          <p:nvPr/>
        </p:nvSpPr>
        <p:spPr>
          <a:xfrm>
            <a:off x="838200" y="45339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/>
          <a:p/>
        </p:txBody>
      </p:sp>
      <p:sp>
        <p:nvSpPr>
          <p:cNvPr id="697" name="文本框 696" descr="{&quot;isTemplate&quot;:true,&quot;type&quot;:&quot;text&quot;}"/>
          <p:cNvSpPr txBox="1"/>
          <p:nvPr/>
        </p:nvSpPr>
        <p:spPr>
          <a:xfrm>
            <a:off x="1028700" y="4476750"/>
            <a:ext cx="3095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一个角色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一个景区，换回一期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30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秒旅行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Vlog</a:t>
            </a:r>
            <a:endParaRPr lang="en-US" sz="1125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8" name="圆角矩形 697"/>
          <p:cNvSpPr/>
          <p:nvPr/>
        </p:nvSpPr>
        <p:spPr>
          <a:xfrm>
            <a:off x="838200" y="4857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/>
          <a:p/>
        </p:txBody>
      </p:sp>
      <p:sp>
        <p:nvSpPr>
          <p:cNvPr id="699" name="文本框 698" descr="{&quot;isTemplate&quot;:true,&quot;type&quot;:&quot;text&quot;}"/>
          <p:cNvSpPr txBox="1"/>
          <p:nvPr/>
        </p:nvSpPr>
        <p:spPr>
          <a:xfrm>
            <a:off x="1028700" y="4800600"/>
            <a:ext cx="2428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六阶段生成，三个人工审核点兜住质量</a:t>
            </a:r>
            <a:endParaRPr lang="zh-CN" sz="1125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0" name="圆角矩形 699"/>
          <p:cNvSpPr/>
          <p:nvPr/>
        </p:nvSpPr>
        <p:spPr>
          <a:xfrm>
            <a:off x="838200" y="5181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/>
          <a:p/>
        </p:txBody>
      </p:sp>
      <p:sp>
        <p:nvSpPr>
          <p:cNvPr id="701" name="文本框 700" descr="{&quot;isTemplate&quot;:true,&quot;type&quot;:&quot;text&quot;}"/>
          <p:cNvSpPr txBox="1"/>
          <p:nvPr/>
        </p:nvSpPr>
        <p:spPr>
          <a:xfrm>
            <a:off x="1028700" y="5124450"/>
            <a:ext cx="2286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默认直出视频，需要精修再走关键帧</a:t>
            </a:r>
            <a:endParaRPr lang="zh-CN" sz="1125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2" name="圆角矩形 701"/>
          <p:cNvSpPr/>
          <p:nvPr/>
        </p:nvSpPr>
        <p:spPr>
          <a:xfrm>
            <a:off x="838200" y="5934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703" name="文本框 702" descr="{&quot;isTemplate&quot;:true,&quot;type&quot;:&quot;text&quot;}"/>
          <p:cNvSpPr txBox="1"/>
          <p:nvPr/>
        </p:nvSpPr>
        <p:spPr>
          <a:xfrm>
            <a:off x="1009650" y="5905500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825" spc="75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4" name="圆角矩形 703"/>
          <p:cNvSpPr/>
          <p:nvPr/>
        </p:nvSpPr>
        <p:spPr>
          <a:xfrm>
            <a:off x="1304925" y="5934075"/>
            <a:ext cx="247650" cy="762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/>
          <a:p/>
        </p:txBody>
      </p:sp>
      <p:sp>
        <p:nvSpPr>
          <p:cNvPr id="705" name="文本框 704" descr="{&quot;isTemplate&quot;:true,&quot;type&quot;:&quot;text&quot;}"/>
          <p:cNvSpPr txBox="1"/>
          <p:nvPr/>
        </p:nvSpPr>
        <p:spPr>
          <a:xfrm>
            <a:off x="1647825" y="5905500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825" spc="75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6" name="圆角矩形 705"/>
          <p:cNvSpPr/>
          <p:nvPr/>
        </p:nvSpPr>
        <p:spPr>
          <a:xfrm>
            <a:off x="1943100" y="5934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707" name="文本框 706" descr="{&quot;isTemplate&quot;:true,&quot;type&quot;:&quot;text&quot;}"/>
          <p:cNvSpPr txBox="1"/>
          <p:nvPr/>
        </p:nvSpPr>
        <p:spPr>
          <a:xfrm>
            <a:off x="2114550" y="5905500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825" spc="75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8" name="圆角矩形 707"/>
          <p:cNvSpPr/>
          <p:nvPr/>
        </p:nvSpPr>
        <p:spPr>
          <a:xfrm>
            <a:off x="2409825" y="5934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709" name="文本框 708" descr="{&quot;isTemplate&quot;:true,&quot;type&quot;:&quot;text&quot;}"/>
          <p:cNvSpPr txBox="1"/>
          <p:nvPr/>
        </p:nvSpPr>
        <p:spPr>
          <a:xfrm>
            <a:off x="2581275" y="5905500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825" spc="75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0" name="文本框 709" descr="{&quot;isTemplate&quot;:true,&quot;type&quot;:&quot;text&quot;}"/>
          <p:cNvSpPr txBox="1"/>
          <p:nvPr/>
        </p:nvSpPr>
        <p:spPr>
          <a:xfrm>
            <a:off x="609600" y="6524625"/>
            <a:ext cx="20764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Kelvoy · AI </a:t>
            </a:r>
            <a:r>
              <a:rPr lang="zh-CN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40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1" name="文本框 710" descr="{&quot;isTemplate&quot;:true,&quot;type&quot;:&quot;text&quot;}"/>
          <p:cNvSpPr txBox="1"/>
          <p:nvPr/>
        </p:nvSpPr>
        <p:spPr>
          <a:xfrm>
            <a:off x="11172825" y="6524625"/>
            <a:ext cx="4095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05 / 19</a:t>
            </a:r>
            <a:endParaRPr lang="en-US" sz="940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2" name="" descr="&lt;Slide padding='0'&gt;&#10;    &lt;Box style={{ position: 'absolute', top: 0, left: 0, width: '1280px', height: '720px', background: '#F6F8FB' }} /&gt;&#10;    &lt;Box style={{ position: 'absolute', top: 0, left: 0, width: '1280px', height: '4px', background: 'linear-gradient(90deg,#2563EB 0%,#7C3AED 100%)' }} /&gt;&#10;&#10;    &lt;Box style={{ position: 'absolute', top: '42px', left: '64px', right: '64px', flexDirection: 'row', justifyContent: 'space-between', alignItems: 'center' }}&gt;&#10;        &lt;Text style={{ fontSize: '12px', fontWeight: '700', color: '#2563EB', letterSpacing: '2px' }}&gt;02 · 产品与体验&lt;/Text&gt;&#10;        &lt;Text style={{ fontSize: '11px', color: '#8A97AB', letterSpacing: '3px' }}&gt;PRODUCT DEFINITION&lt;/Text&gt;&#10;    &lt;/Box&gt;&#10;    &lt;Text style={{ position: 'absolute', top: '68px', left: '64px', fontSize: '34px', fontWeight: 'bold', color: '#0B1220' }}&gt;&#10;        一个角色 + 一个景区，&lt;span style={{ color: '#2563EB' }}&gt;换回一期 30 秒旅行 Vlog&lt;/span&gt;&#10;    &lt;/Text&gt;&#10;    &lt;Box style={{ position: 'absolute', top: '116px', left: '64px', width: '44px', height: '4px', borderRadius: '2px', background: 'linear-gradient(90deg,#2563EB,#7C3AED)' }} /&gt;&#10;&#10;    &lt;Box style={{ position: 'absolute', top: '146px', left: '64px', right: '64px', flexDirection: 'row', alignItems: 'stretch', gap: '10px' }}&gt;&#10;        &lt;Box style={{ width: '300px', padding: '18px 20px', background: '#FFFFFF', borderRadius: '14px', border: '1px solid #E6EAF1', boxShadow: '0 2px 12px rgba(15,23,42,0.04)', flexDirection: 'column', gap: '10px' }}&gt;&#10;            &lt;Text style={{ fontSize: '11px', fontWeight: 700, color: '#2563EB', letterSpacing: '2px' }}&gt;输入 · INPUT&lt;/Text&gt;&#10;            &lt;Box style={{ flexDirection: 'row', gap: '14px', alignItems: 'center' }}&gt;&#10;                &lt;Box style={{ width: '86px', height: '104px', borderRadius: '10px', overflow: 'hidden', border: '1px solid #E6EAF1' }}&gt;&#10;                    &lt;Image src='C:/Users/Admin/WorkBuddy/2026-09-29-15-08-33/work/Kelvoy_DEMO_v2/assets/image2.jpeg' style={{ width: '86px', height: '104px' }} /&gt;&#10;                &lt;/Box&gt;&#10;                &lt;Box style={{ flex: 1, flexDirection: 'column', gap: '6px' }}&gt;&#10;                    &lt;Text style={{ fontSize: '16.5px', fontWeight: 'bold', color: '#0B1220', lineHeight: 1.3 }}&gt;虚拟角色&lt;/Text&gt;&#10;                    &lt;Text style={{ fontSize: '12.5px', color: '#2563EB', fontWeight: 600 }}&gt;账号级资产&lt;/Text&gt;&#10;                &lt;/Box&gt;&#10;            &lt;/Box&gt;&#10;            &lt;Text style={{ fontSize: '12.5px', color: '#5B6B84', lineHeight: 1.6 }}&gt;三视图参考锁定外形，每期可换穿搭。&lt;/Text&gt;&#10;        &lt;/Box&gt;&#10;&#10;        &lt;Box style={{ width: '26px', justifyContent: 'center', alignItems: 'center' }}&gt;&#10;            &lt;FAIcon name='arrow-right-long' style={{ fill: '#94A3B8', width: '20px', height: '20px' }} /&gt;&#10;        &lt;/Box&gt;&#10;&#10;        &lt;Box style={{ flex: 1, padding: '18px 20px', background: '#FFFFFF', borderRadius: '14px', border: '1px solid #DBE4F5', boxShadow: '0 2px 12px rgba(37,99,235,0.07)', flexDirection: 'column', gap: '10px' }}&gt;&#10;            &lt;Text style={{ fontSize: '11px', fontWeight: 700, color: '#2563EB', letterSpacing: '2px' }}&gt;三个人工选择点 · HUMAN-IN-LOOP&lt;/Text&gt;&#10;            {[&#10;                { n: '1', t: '脚本', d: '改、删、重生成' },&#10;                { n: '2', t: '关键帧', d: '逐镜挑图' },&#10;                { n: '3', t: '片段', d: '选 1 秒 + 红线' },&#10;            ].map((r, i) =&gt; (&#10;                &lt;Box key={i} style={{ flexDirection: 'row', alignItems: 'center', gap: '12px', padding: '9px 12px', background: '#F6F8FB', borderRadius: '9px' }}&gt;&#10;                    &lt;Box style={{ width: '24px', height: '24px', borderRadius: '7px', background: 'linear-gradient(135deg,#2563EB,#7C3AED)', justifyContent: 'center', alignItems: 'center' }}&gt;&#10;                        &lt;Text style={{ fontSize: '12px', fontWeight: 'bold', color: '#FFFFFF' }}&gt;{r.n}&lt;/Text&gt;&#10;                    &lt;/Box&gt;&#10;                    &lt;Text style={{ fontSize: '13.5px', fontWeight: 700, color: '#0B1220', width: '58px' }}&gt;{r.t}&lt;/Text&gt;&#10;                    &lt;Text style={{ fontSize: '12.5px', color: '#5B6B84' }}&gt;{r.d}&lt;/Text&gt;&#10;                &lt;/Box&gt;&#10;            ))}&#10;        &lt;/Box&gt;&#10;&#10;        &lt;Box style={{ width: '26px', justifyContent: 'center', alignItems: 'center' }}&gt;&#10;            &lt;FAIcon name='arrow-right-long' style={{ fill: '#94A3B8', width: '20px', height: '20px' }} /&gt;&#10;        &lt;/Box&gt;&#10;&#10;        &lt;Box style={{ width: '306px', padding: '18px 20px', borderRadius: '14px', background: 'linear-gradient(135deg,#1D4ED8 0%,#2563EB 55%,#7C3AED 100%)', flexDirection: 'column', gap: '9px', boxShadow: '0 8px 24px rgba(37,99,235,0.3)' }}&gt;&#10;            &lt;Text style={{ fontSize: '11px', fontWeight: 700, color: 'rgba(255,255,255,0.75)', letterSpacing: '2px' }}&gt;输出 · OUTPUT&lt;/Text&gt;&#10;            &lt;Text style={{ fontSize: '21px', fontWeight: 'bold', color: '#FFFFFF', lineHeight: 1.25 }}&gt;一期旅行 Vlog MP4&lt;/Text&gt;&#10;            {['24–30 镜 · 每镜 1 秒 · 约 30 秒', '9:16 竖屏（默认）或 16:9 横屏', '带字幕、LUT、AI 标识；可分享'].map((t, i) =&gt; (&#10;                &lt;Box key={i} style={{ flexDirection: 'row', alignItems: 'center', gap: '8px' }}&gt;&#10;                    &lt;Box style={{ width: '4px', height: '4px', borderRadius: '2px', background: '#93C5FD' }} /&gt;&#10;                    &lt;Text style={{ fontSize: '12px', color: 'rgba(255,255,255,0.9)' }}&gt;{t}&lt;/Text&gt;&#10;                &lt;/Box&gt;&#10;            ))}&#10;        &lt;/Box&gt;&#10;    &lt;/Box&gt;&#10;&#10;    &lt;Box style={{ position: 'absolute', top: '372px', left: '64px', right: '64px', flexDirection: 'row', justifyContent: 'space-between', alignItems: 'center' }}&gt;&#10;        &lt;Box style={{ flexDirection: 'row', alignItems: 'center', gap: '10px' }}&gt;&#10;            &lt;Box style={{ width: '4px', height: '16px', borderRadius: '2px', background: '#2563EB' }} /&gt;&#10;            &lt;Text style={{ fontSize: '16px', fontWeight: 'bold', color: '#0B1220' }}&gt;目的地是共享资产：官方维护景区级符号包&lt;/Text&gt;&#10;        &lt;/Box&gt;&#10;        &lt;Text style={{ fontSize: '12.5px', color: '#5B6B84' }}&gt;每个地标 3–10 张实景参考图 + 最佳机位 / 时段 + 必须保真特征 · 首批内置五个景区&lt;/Text&gt;&#10;    &lt;/Box&gt;&#10;&#10;    &lt;Box style={{ position: 'absolute', top: '408px', left: '64px', right: '64px', flexDirection: 'row', gap: '14px' }}&gt;&#10;        {[&#10;            { img: 'image3.jpeg', t: '无锡南长街' },&#10;            { img: 'image4.jpeg', t: '无锡拈花湾' },&#10;            { img: 'image5.jpeg', t: '无锡灵山大佛' },&#10;            { img: 'image6.jpeg', t: '泰山' },&#10;            { img: 'image7.jpeg', t: '黄山' },&#10;        ].map((s, i) =&gt; (&#10;            &lt;Box key={i} style={{ flex: 1, flexDirection: 'column', gap: '8px' }}&gt;&#10;                &lt;Box style={{ width: '100%', height: '158px', borderRadius: '12px', overflow: 'hidden', border: '1px solid #E6EAF1', boxShadow: '0 2px 10px rgba(15,23,42,0.06)' }}&gt;&#10;                    &lt;Image src={`C:/Users/Admin/WorkBuddy/2026-09-29-15-08-33/work/Kelvoy_DEMO_v2/assets/${s.img}`} style={{ width: '218px', height: '158px' }} /&gt;&#10;                &lt;/Box&gt;&#10;                &lt;Box style={{ flexDirection: 'row', alignItems: 'center', gap: '7px', padding: '7px 12px', background: '#FFFFFF', borderRadius: '8px', border: '1px solid #E6EAF1' }}&gt;&#10;                    &lt;FAIcon name='map-location-dot' style={{ fill: '#2563EB', width: '13px', height: '13px' }} /&gt;&#10;                    &lt;Text style={{ fontSize: '12.5px', fontWeight: 600, color: '#0B1220' }}&gt;{s.t}&lt;/Text&gt;&#10;                &lt;/Box&gt;&#10;            &lt;/Box&gt;&#10;        ))}&#10;    &lt;/Box&gt;&#10;&#10;    &lt;Box style={{ position: 'absolute', bottom: '20px', left: '64px', right: '64px', flexDirection: 'row', justifyContent: 'space-between', alignItems: 'center' }}&gt;&#10;        &lt;Box style={{ flexDirection: 'row', alignItems: 'center', gap: '8px' }}&gt;&#10;            &lt;Box style={{ width: '18px', height: '18px', borderRadius: '5px', background: 'linear-gradient(135deg,#60A5FA,#2563EB)', justifyContent: 'center', alignItems: 'center' }}&gt;&#10;                &lt;Text style={{ fontSize: '10px', fontWeight: 'bold', color: '#FFFFFF' }}&gt;旅&lt;/Text&gt;&#10;            &lt;/Box&gt;&#10;            &lt;Text style={{ fontSize: '12px', color: '#8A97AB' }}&gt;可旅 Kelvoy · AI 旅行 Vlog 生产工作台&lt;/Text&gt;&#10;        &lt;/Box&gt;&#10;        &lt;Text style={{ fontSize: '12px', color: '#8A97AB' }}&gt;06 / 1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矩形 7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</p:spPr>
        <p:txBody>
          <a:bodyPr/>
          <a:p/>
        </p:txBody>
      </p:sp>
      <p:sp>
        <p:nvSpPr>
          <p:cNvPr id="714" name="矩形 71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715" name="文本框 714" descr="{&quot;isTemplate&quot;:true,&quot;type&quot;:&quot;text&quot;}"/>
          <p:cNvSpPr txBox="1"/>
          <p:nvPr/>
        </p:nvSpPr>
        <p:spPr>
          <a:xfrm>
            <a:off x="609600" y="400050"/>
            <a:ext cx="1028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02 · </a:t>
            </a:r>
            <a:r>
              <a:rPr lang="zh-CN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产品与体验</a:t>
            </a:r>
            <a:endParaRPr lang="zh-CN" sz="900" b="1" spc="1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6" name="文本框 715" descr="{&quot;isTemplate&quot;:true,&quot;type&quot;:&quot;text&quot;}"/>
          <p:cNvSpPr txBox="1"/>
          <p:nvPr/>
        </p:nvSpPr>
        <p:spPr>
          <a:xfrm>
            <a:off x="9925050" y="409575"/>
            <a:ext cx="16573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22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PRODUCT DEFINITION</a:t>
            </a:r>
            <a:endParaRPr lang="en-US" sz="825" spc="22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7" name="文本框 716" descr="{&quot;isTemplate&quot;:true,&quot;type&quot;:&quot;text&quot;}"/>
          <p:cNvSpPr txBox="1"/>
          <p:nvPr/>
        </p:nvSpPr>
        <p:spPr>
          <a:xfrm>
            <a:off x="609600" y="647700"/>
            <a:ext cx="70675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一个角色</a:t>
            </a:r>
            <a:r>
              <a:rPr lang="en-US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一个景区，</a:t>
            </a:r>
            <a:r>
              <a:rPr lang="zh-CN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换回一期</a:t>
            </a:r>
            <a:r>
              <a:rPr lang="en-US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 30 </a:t>
            </a:r>
            <a:r>
              <a:rPr lang="zh-CN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秒旅行</a:t>
            </a:r>
            <a:r>
              <a:rPr lang="en-US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 Vlog</a:t>
            </a:r>
            <a:endParaRPr lang="en-US" sz="25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8" name="圆角矩形 717"/>
          <p:cNvSpPr/>
          <p:nvPr/>
        </p:nvSpPr>
        <p:spPr>
          <a:xfrm>
            <a:off x="609600" y="1104900"/>
            <a:ext cx="4191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719" name="圆角矩形 718"/>
          <p:cNvSpPr/>
          <p:nvPr/>
        </p:nvSpPr>
        <p:spPr>
          <a:xfrm>
            <a:off x="609600" y="1390650"/>
            <a:ext cx="2857500" cy="1962150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720" name="文本框 719" descr="{&quot;isTemplate&quot;:true,&quot;type&quot;:&quot;text&quot;}"/>
          <p:cNvSpPr txBox="1"/>
          <p:nvPr/>
        </p:nvSpPr>
        <p:spPr>
          <a:xfrm>
            <a:off x="800100" y="1562100"/>
            <a:ext cx="24765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输入</a:t>
            </a:r>
            <a:r>
              <a:rPr lang="en-US" sz="825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 · INPUT</a:t>
            </a:r>
            <a:endParaRPr lang="en-US" sz="825" b="1" spc="1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1" name="圆角矩形 720"/>
          <p:cNvSpPr/>
          <p:nvPr/>
        </p:nvSpPr>
        <p:spPr>
          <a:xfrm>
            <a:off x="800100" y="1790700"/>
            <a:ext cx="819150" cy="990600"/>
          </a:xfrm>
          <a:prstGeom prst="roundRect">
            <a:avLst>
              <a:gd name="adj" fmla="val 11628"/>
            </a:avLst>
          </a:prstGeom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pic>
        <p:nvPicPr>
          <p:cNvPr id="722" name="图片 721"/>
          <p:cNvPicPr>
            <a:picLocks noChangeAspect="1"/>
          </p:cNvPicPr>
          <p:nvPr/>
        </p:nvPicPr>
        <p:blipFill>
          <a:blip r:embed="rId1"/>
          <a:srcRect l="384" r="384"/>
          <a:stretch>
            <a:fillRect/>
          </a:stretch>
        </p:blipFill>
        <p:spPr>
          <a:xfrm>
            <a:off x="800100" y="1790700"/>
            <a:ext cx="819150" cy="990600"/>
          </a:xfrm>
          <a:custGeom>
            <a:avLst/>
            <a:gdLst/>
            <a:ahLst/>
            <a:cxnLst/>
            <a:pathLst>
              <a:path w="86" h="104">
                <a:moveTo>
                  <a:pt x="76" y="0"/>
                </a:moveTo>
                <a:cubicBezTo>
                  <a:pt x="82" y="0"/>
                  <a:pt x="86" y="5"/>
                  <a:pt x="86" y="10"/>
                </a:cubicBezTo>
                <a:lnTo>
                  <a:pt x="86" y="94"/>
                </a:lnTo>
                <a:cubicBezTo>
                  <a:pt x="86" y="100"/>
                  <a:pt x="82" y="104"/>
                  <a:pt x="76" y="104"/>
                </a:cubicBezTo>
                <a:lnTo>
                  <a:pt x="10" y="104"/>
                </a:lnTo>
                <a:cubicBezTo>
                  <a:pt x="4" y="104"/>
                  <a:pt x="0" y="100"/>
                  <a:pt x="0" y="94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76" y="0"/>
                </a:lnTo>
                <a:close/>
              </a:path>
            </a:pathLst>
          </a:custGeom>
        </p:spPr>
      </p:pic>
      <p:sp>
        <p:nvSpPr>
          <p:cNvPr id="723" name="文本框 722" descr="{&quot;isTemplate&quot;:true,&quot;type&quot;:&quot;text&quot;}"/>
          <p:cNvSpPr txBox="1"/>
          <p:nvPr/>
        </p:nvSpPr>
        <p:spPr>
          <a:xfrm>
            <a:off x="1752600" y="2066925"/>
            <a:ext cx="15240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虚拟角色</a:t>
            </a:r>
            <a:endParaRPr lang="zh-CN" sz="124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4" name="文本框 723" descr="{&quot;isTemplate&quot;:true,&quot;type&quot;:&quot;text&quot;}"/>
          <p:cNvSpPr txBox="1"/>
          <p:nvPr/>
        </p:nvSpPr>
        <p:spPr>
          <a:xfrm>
            <a:off x="1752600" y="2371725"/>
            <a:ext cx="15240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账号级资产</a:t>
            </a:r>
            <a:endParaRPr lang="zh-CN" sz="9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5" name="文本框 724" descr="{&quot;isTemplate&quot;:true,&quot;type&quot;:&quot;text&quot;}"/>
          <p:cNvSpPr txBox="1"/>
          <p:nvPr/>
        </p:nvSpPr>
        <p:spPr>
          <a:xfrm>
            <a:off x="800100" y="2876550"/>
            <a:ext cx="2476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三视图参考锁定外形，每期可换穿搭。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26" name="图片 72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0925" y="2276475"/>
            <a:ext cx="190500" cy="190500"/>
          </a:xfrm>
          <a:prstGeom prst="rect">
            <a:avLst/>
          </a:prstGeom>
        </p:spPr>
      </p:pic>
      <p:sp>
        <p:nvSpPr>
          <p:cNvPr id="727" name="圆角矩形 726"/>
          <p:cNvSpPr/>
          <p:nvPr/>
        </p:nvSpPr>
        <p:spPr>
          <a:xfrm>
            <a:off x="3905250" y="1390650"/>
            <a:ext cx="4324350" cy="1962150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2700">
            <a:solidFill>
              <a:srgbClr val="DBE4F5"/>
            </a:solidFill>
            <a:prstDash val="solid"/>
          </a:ln>
          <a:effectLst>
            <a:outerShdw blurRad="114300" dist="19050" dir="5400000">
              <a:srgbClr val="2563E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28" name="文本框 727" descr="{&quot;isTemplate&quot;:true,&quot;type&quot;:&quot;text&quot;}"/>
          <p:cNvSpPr txBox="1"/>
          <p:nvPr/>
        </p:nvSpPr>
        <p:spPr>
          <a:xfrm>
            <a:off x="4095750" y="1562100"/>
            <a:ext cx="39433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三个人工选择点</a:t>
            </a:r>
            <a:r>
              <a:rPr lang="en-US" sz="825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 · HUMAN-IN-LOOP</a:t>
            </a:r>
            <a:endParaRPr lang="en-US" sz="825" b="1" spc="1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9" name="圆角矩形 728"/>
          <p:cNvSpPr/>
          <p:nvPr/>
        </p:nvSpPr>
        <p:spPr>
          <a:xfrm>
            <a:off x="4095750" y="1790700"/>
            <a:ext cx="3943350" cy="400050"/>
          </a:xfrm>
          <a:prstGeom prst="roundRect">
            <a:avLst>
              <a:gd name="adj" fmla="val 21429"/>
            </a:avLst>
          </a:prstGeom>
          <a:solidFill>
            <a:srgbClr val="F6F8FB"/>
          </a:solidFill>
        </p:spPr>
        <p:txBody>
          <a:bodyPr/>
          <a:p/>
        </p:txBody>
      </p:sp>
      <p:sp>
        <p:nvSpPr>
          <p:cNvPr id="730" name="圆角矩形 729"/>
          <p:cNvSpPr/>
          <p:nvPr/>
        </p:nvSpPr>
        <p:spPr>
          <a:xfrm>
            <a:off x="4210050" y="1876425"/>
            <a:ext cx="228600" cy="228600"/>
          </a:xfrm>
          <a:prstGeom prst="roundRect">
            <a:avLst>
              <a:gd name="adj" fmla="val 29167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731" name="文本框 730" descr="{&quot;isTemplate&quot;:true,&quot;type&quot;:&quot;text&quot;}"/>
          <p:cNvSpPr txBox="1"/>
          <p:nvPr/>
        </p:nvSpPr>
        <p:spPr>
          <a:xfrm>
            <a:off x="4286250" y="1924050"/>
            <a:ext cx="76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2" name="文本框 731" descr="{&quot;isTemplate&quot;:true,&quot;type&quot;:&quot;text&quot;}"/>
          <p:cNvSpPr txBox="1"/>
          <p:nvPr/>
        </p:nvSpPr>
        <p:spPr>
          <a:xfrm>
            <a:off x="4552950" y="1914525"/>
            <a:ext cx="552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脚本</a:t>
            </a:r>
            <a:endParaRPr lang="zh-CN" sz="101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3" name="文本框 732" descr="{&quot;isTemplate&quot;:true,&quot;type&quot;:&quot;text&quot;}"/>
          <p:cNvSpPr txBox="1"/>
          <p:nvPr/>
        </p:nvSpPr>
        <p:spPr>
          <a:xfrm>
            <a:off x="5219700" y="1924050"/>
            <a:ext cx="838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改、删、重生成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4" name="圆角矩形 733"/>
          <p:cNvSpPr/>
          <p:nvPr/>
        </p:nvSpPr>
        <p:spPr>
          <a:xfrm>
            <a:off x="4095750" y="2286000"/>
            <a:ext cx="3943350" cy="400050"/>
          </a:xfrm>
          <a:prstGeom prst="roundRect">
            <a:avLst>
              <a:gd name="adj" fmla="val 21429"/>
            </a:avLst>
          </a:prstGeom>
          <a:solidFill>
            <a:srgbClr val="F6F8FB"/>
          </a:solidFill>
        </p:spPr>
        <p:txBody>
          <a:bodyPr/>
          <a:p/>
        </p:txBody>
      </p:sp>
      <p:sp>
        <p:nvSpPr>
          <p:cNvPr id="735" name="圆角矩形 734"/>
          <p:cNvSpPr/>
          <p:nvPr/>
        </p:nvSpPr>
        <p:spPr>
          <a:xfrm>
            <a:off x="4210050" y="2371725"/>
            <a:ext cx="228600" cy="228600"/>
          </a:xfrm>
          <a:prstGeom prst="roundRect">
            <a:avLst>
              <a:gd name="adj" fmla="val 29167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736" name="文本框 735" descr="{&quot;isTemplate&quot;:true,&quot;type&quot;:&quot;text&quot;}"/>
          <p:cNvSpPr txBox="1"/>
          <p:nvPr/>
        </p:nvSpPr>
        <p:spPr>
          <a:xfrm>
            <a:off x="4286250" y="2419350"/>
            <a:ext cx="76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7" name="文本框 736" descr="{&quot;isTemplate&quot;:true,&quot;type&quot;:&quot;text&quot;}"/>
          <p:cNvSpPr txBox="1"/>
          <p:nvPr/>
        </p:nvSpPr>
        <p:spPr>
          <a:xfrm>
            <a:off x="4552950" y="2409825"/>
            <a:ext cx="552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关键帧</a:t>
            </a:r>
            <a:endParaRPr lang="zh-CN" sz="101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8" name="文本框 737" descr="{&quot;isTemplate&quot;:true,&quot;type&quot;:&quot;text&quot;}"/>
          <p:cNvSpPr txBox="1"/>
          <p:nvPr/>
        </p:nvSpPr>
        <p:spPr>
          <a:xfrm>
            <a:off x="5219700" y="2419350"/>
            <a:ext cx="4762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逐镜挑图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9" name="圆角矩形 738"/>
          <p:cNvSpPr/>
          <p:nvPr/>
        </p:nvSpPr>
        <p:spPr>
          <a:xfrm>
            <a:off x="4095750" y="2781300"/>
            <a:ext cx="3943350" cy="400050"/>
          </a:xfrm>
          <a:prstGeom prst="roundRect">
            <a:avLst>
              <a:gd name="adj" fmla="val 21429"/>
            </a:avLst>
          </a:prstGeom>
          <a:solidFill>
            <a:srgbClr val="F6F8FB"/>
          </a:solidFill>
        </p:spPr>
        <p:txBody>
          <a:bodyPr/>
          <a:p/>
        </p:txBody>
      </p:sp>
      <p:sp>
        <p:nvSpPr>
          <p:cNvPr id="740" name="圆角矩形 739"/>
          <p:cNvSpPr/>
          <p:nvPr/>
        </p:nvSpPr>
        <p:spPr>
          <a:xfrm>
            <a:off x="4210050" y="2867025"/>
            <a:ext cx="228600" cy="228600"/>
          </a:xfrm>
          <a:prstGeom prst="roundRect">
            <a:avLst>
              <a:gd name="adj" fmla="val 29167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741" name="文本框 740" descr="{&quot;isTemplate&quot;:true,&quot;type&quot;:&quot;text&quot;}"/>
          <p:cNvSpPr txBox="1"/>
          <p:nvPr/>
        </p:nvSpPr>
        <p:spPr>
          <a:xfrm>
            <a:off x="4286250" y="2914650"/>
            <a:ext cx="76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2" name="文本框 741" descr="{&quot;isTemplate&quot;:true,&quot;type&quot;:&quot;text&quot;}"/>
          <p:cNvSpPr txBox="1"/>
          <p:nvPr/>
        </p:nvSpPr>
        <p:spPr>
          <a:xfrm>
            <a:off x="4552950" y="2905125"/>
            <a:ext cx="552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片段</a:t>
            </a:r>
            <a:endParaRPr lang="zh-CN" sz="101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3" name="文本框 742" descr="{&quot;isTemplate&quot;:true,&quot;type&quot;:&quot;text&quot;}"/>
          <p:cNvSpPr txBox="1"/>
          <p:nvPr/>
        </p:nvSpPr>
        <p:spPr>
          <a:xfrm>
            <a:off x="5219700" y="2914650"/>
            <a:ext cx="7810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选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3-4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秒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红线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44" name="图片 74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3425" y="2276475"/>
            <a:ext cx="190500" cy="190500"/>
          </a:xfrm>
          <a:prstGeom prst="rect">
            <a:avLst/>
          </a:prstGeom>
        </p:spPr>
      </p:pic>
      <p:sp>
        <p:nvSpPr>
          <p:cNvPr id="745" name="圆角矩形 744"/>
          <p:cNvSpPr/>
          <p:nvPr/>
        </p:nvSpPr>
        <p:spPr>
          <a:xfrm>
            <a:off x="8667750" y="1390650"/>
            <a:ext cx="2914650" cy="1962150"/>
          </a:xfrm>
          <a:prstGeom prst="roundRect">
            <a:avLst>
              <a:gd name="adj" fmla="val 6796"/>
            </a:avLst>
          </a:prstGeom>
          <a:gradFill>
            <a:gsLst>
              <a:gs pos="0">
                <a:srgbClr val="1D4ED8"/>
              </a:gs>
              <a:gs pos="55000">
                <a:srgbClr val="2563EB"/>
              </a:gs>
              <a:gs pos="100000">
                <a:srgbClr val="7C3AED"/>
              </a:gs>
            </a:gsLst>
            <a:lin ang="2700000" scaled="1"/>
          </a:gradFill>
          <a:effectLst>
            <a:outerShdw blurRad="228600" dist="76200" dir="5400000">
              <a:srgbClr val="2563EB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746" name="文本框 745" descr="{&quot;isTemplate&quot;:true,&quot;type&quot;:&quot;text&quot;}"/>
          <p:cNvSpPr txBox="1"/>
          <p:nvPr/>
        </p:nvSpPr>
        <p:spPr>
          <a:xfrm>
            <a:off x="8858250" y="1562100"/>
            <a:ext cx="25336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15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输出</a:t>
            </a:r>
            <a:r>
              <a:rPr lang="en-US" sz="825" b="1" spc="15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OUTPUT</a:t>
            </a:r>
            <a:endParaRPr lang="en-US" sz="825" b="1" spc="150">
              <a:solidFill>
                <a:srgbClr val="FFFFFF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7" name="文本框 746" descr="{&quot;isTemplate&quot;:true,&quot;type&quot;:&quot;text&quot;}"/>
          <p:cNvSpPr txBox="1"/>
          <p:nvPr/>
        </p:nvSpPr>
        <p:spPr>
          <a:xfrm>
            <a:off x="8858250" y="1781175"/>
            <a:ext cx="25336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一期旅行</a:t>
            </a:r>
            <a:r>
              <a:rPr lang="en-US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Vlog MP4</a:t>
            </a:r>
            <a:endParaRPr lang="en-US"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8" name="圆角矩形 747"/>
          <p:cNvSpPr/>
          <p:nvPr/>
        </p:nvSpPr>
        <p:spPr>
          <a:xfrm>
            <a:off x="8858250" y="2228850"/>
            <a:ext cx="38100" cy="38100"/>
          </a:xfrm>
          <a:prstGeom prst="roundRect">
            <a:avLst>
              <a:gd name="adj" fmla="val 50000"/>
            </a:avLst>
          </a:prstGeom>
          <a:solidFill>
            <a:srgbClr val="93C5FD"/>
          </a:solidFill>
        </p:spPr>
        <p:txBody>
          <a:bodyPr/>
          <a:p/>
        </p:txBody>
      </p:sp>
      <p:sp>
        <p:nvSpPr>
          <p:cNvPr id="749" name="文本框 748" descr="{&quot;isTemplate&quot;:true,&quot;type&quot;:&quot;text&quot;}"/>
          <p:cNvSpPr txBox="1"/>
          <p:nvPr/>
        </p:nvSpPr>
        <p:spPr>
          <a:xfrm>
            <a:off x="8972550" y="2171700"/>
            <a:ext cx="15811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5–10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镜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每镜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3-4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秒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约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30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秒</a:t>
            </a:r>
            <a:endParaRPr lang="zh-CN" sz="900">
              <a:solidFill>
                <a:srgbClr val="FFFFFF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0" name="圆角矩形 749"/>
          <p:cNvSpPr/>
          <p:nvPr/>
        </p:nvSpPr>
        <p:spPr>
          <a:xfrm>
            <a:off x="8858250" y="2457450"/>
            <a:ext cx="38100" cy="38100"/>
          </a:xfrm>
          <a:prstGeom prst="roundRect">
            <a:avLst>
              <a:gd name="adj" fmla="val 50000"/>
            </a:avLst>
          </a:prstGeom>
          <a:solidFill>
            <a:srgbClr val="93C5FD"/>
          </a:solidFill>
        </p:spPr>
        <p:txBody>
          <a:bodyPr/>
          <a:p/>
        </p:txBody>
      </p:sp>
      <p:sp>
        <p:nvSpPr>
          <p:cNvPr id="751" name="文本框 750" descr="{&quot;isTemplate&quot;:true,&quot;type&quot;:&quot;text&quot;}"/>
          <p:cNvSpPr txBox="1"/>
          <p:nvPr/>
        </p:nvSpPr>
        <p:spPr>
          <a:xfrm>
            <a:off x="8972550" y="2400300"/>
            <a:ext cx="1590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9:16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竖屏（默认）或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16:9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横屏</a:t>
            </a:r>
            <a:endParaRPr lang="zh-CN" sz="900">
              <a:solidFill>
                <a:srgbClr val="FFFFFF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2" name="圆角矩形 751"/>
          <p:cNvSpPr/>
          <p:nvPr/>
        </p:nvSpPr>
        <p:spPr>
          <a:xfrm>
            <a:off x="8858250" y="2686050"/>
            <a:ext cx="38100" cy="38100"/>
          </a:xfrm>
          <a:prstGeom prst="roundRect">
            <a:avLst>
              <a:gd name="adj" fmla="val 50000"/>
            </a:avLst>
          </a:prstGeom>
          <a:solidFill>
            <a:srgbClr val="93C5FD"/>
          </a:solidFill>
        </p:spPr>
        <p:txBody>
          <a:bodyPr/>
          <a:p/>
        </p:txBody>
      </p:sp>
      <p:sp>
        <p:nvSpPr>
          <p:cNvPr id="753" name="文本框 752" descr="{&quot;isTemplate&quot;:true,&quot;type&quot;:&quot;text&quot;}"/>
          <p:cNvSpPr txBox="1"/>
          <p:nvPr/>
        </p:nvSpPr>
        <p:spPr>
          <a:xfrm>
            <a:off x="8972550" y="2628900"/>
            <a:ext cx="16192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带字幕、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LUT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标识；可分享</a:t>
            </a:r>
            <a:endParaRPr lang="zh-CN" sz="900">
              <a:solidFill>
                <a:srgbClr val="FFFFFF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4" name="圆角矩形 753"/>
          <p:cNvSpPr/>
          <p:nvPr/>
        </p:nvSpPr>
        <p:spPr>
          <a:xfrm>
            <a:off x="609600" y="3562350"/>
            <a:ext cx="38100" cy="152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755" name="文本框 754" descr="{&quot;isTemplate&quot;:true,&quot;type&quot;:&quot;text&quot;}"/>
          <p:cNvSpPr txBox="1"/>
          <p:nvPr/>
        </p:nvSpPr>
        <p:spPr>
          <a:xfrm>
            <a:off x="742950" y="3543300"/>
            <a:ext cx="2895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目的地是共享资产：官方维护景区级符号包</a:t>
            </a:r>
            <a:endParaRPr lang="zh-CN" sz="12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6" name="文本框 755" descr="{&quot;isTemplate&quot;:true,&quot;type&quot;:&quot;text&quot;}"/>
          <p:cNvSpPr txBox="1"/>
          <p:nvPr/>
        </p:nvSpPr>
        <p:spPr>
          <a:xfrm>
            <a:off x="7124700" y="3571875"/>
            <a:ext cx="4457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每个地标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3–10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张实景参考图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最佳机位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时段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必须保真特征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首批内置五个景区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7" name="圆角矩形 756"/>
          <p:cNvSpPr/>
          <p:nvPr/>
        </p:nvSpPr>
        <p:spPr>
          <a:xfrm>
            <a:off x="609600" y="3886200"/>
            <a:ext cx="2085975" cy="1504950"/>
          </a:xfrm>
          <a:prstGeom prst="roundRect">
            <a:avLst>
              <a:gd name="adj" fmla="val 7595"/>
            </a:avLst>
          </a:prstGeom>
          <a:ln w="12700">
            <a:solidFill>
              <a:srgbClr val="E6EAF1"/>
            </a:solidFill>
            <a:prstDash val="solid"/>
          </a:ln>
          <a:effectLst>
            <a:outerShdw blurRad="95250" dist="1905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758" name="图片 757"/>
          <p:cNvPicPr>
            <a:picLocks noChangeAspect="1"/>
          </p:cNvPicPr>
          <p:nvPr/>
        </p:nvPicPr>
        <p:blipFill>
          <a:blip r:embed="rId4"/>
          <a:srcRect t="1681" b="1681"/>
          <a:stretch>
            <a:fillRect/>
          </a:stretch>
        </p:blipFill>
        <p:spPr>
          <a:xfrm>
            <a:off x="609600" y="3886200"/>
            <a:ext cx="2076450" cy="1504950"/>
          </a:xfrm>
          <a:custGeom>
            <a:avLst/>
            <a:gdLst/>
            <a:ahLst/>
            <a:cxnLst/>
            <a:pathLst>
              <a:path w="218" h="158">
                <a:moveTo>
                  <a:pt x="207" y="0"/>
                </a:moveTo>
                <a:cubicBezTo>
                  <a:pt x="212" y="0"/>
                  <a:pt x="216" y="3"/>
                  <a:pt x="218" y="7"/>
                </a:cubicBezTo>
                <a:lnTo>
                  <a:pt x="218" y="151"/>
                </a:lnTo>
                <a:cubicBezTo>
                  <a:pt x="216" y="155"/>
                  <a:pt x="212" y="158"/>
                  <a:pt x="207" y="158"/>
                </a:cubicBezTo>
                <a:lnTo>
                  <a:pt x="12" y="158"/>
                </a:lnTo>
                <a:cubicBezTo>
                  <a:pt x="5" y="158"/>
                  <a:pt x="0" y="153"/>
                  <a:pt x="0" y="146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207" y="0"/>
                </a:lnTo>
                <a:close/>
              </a:path>
            </a:pathLst>
          </a:custGeom>
        </p:spPr>
      </p:pic>
      <p:sp>
        <p:nvSpPr>
          <p:cNvPr id="759" name="圆角矩形 758"/>
          <p:cNvSpPr/>
          <p:nvPr/>
        </p:nvSpPr>
        <p:spPr>
          <a:xfrm>
            <a:off x="609600" y="5467350"/>
            <a:ext cx="2085975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pic>
        <p:nvPicPr>
          <p:cNvPr id="760" name="图片 75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900" y="5543550"/>
            <a:ext cx="123825" cy="123825"/>
          </a:xfrm>
          <a:prstGeom prst="rect">
            <a:avLst/>
          </a:prstGeom>
        </p:spPr>
      </p:pic>
      <p:sp>
        <p:nvSpPr>
          <p:cNvPr id="761" name="文本框 760" descr="{&quot;isTemplate&quot;:true,&quot;type&quot;:&quot;text&quot;}"/>
          <p:cNvSpPr txBox="1"/>
          <p:nvPr/>
        </p:nvSpPr>
        <p:spPr>
          <a:xfrm>
            <a:off x="914400" y="5534025"/>
            <a:ext cx="600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无锡南长街</a:t>
            </a:r>
            <a:endParaRPr lang="zh-CN" sz="94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2" name="圆角矩形 761"/>
          <p:cNvSpPr/>
          <p:nvPr/>
        </p:nvSpPr>
        <p:spPr>
          <a:xfrm>
            <a:off x="2828925" y="3886200"/>
            <a:ext cx="2085975" cy="1504950"/>
          </a:xfrm>
          <a:prstGeom prst="roundRect">
            <a:avLst>
              <a:gd name="adj" fmla="val 7595"/>
            </a:avLst>
          </a:prstGeom>
          <a:ln w="12700">
            <a:solidFill>
              <a:srgbClr val="E6EAF1"/>
            </a:solidFill>
            <a:prstDash val="solid"/>
          </a:ln>
          <a:effectLst>
            <a:outerShdw blurRad="95250" dist="1905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763" name="图片 762"/>
          <p:cNvPicPr>
            <a:picLocks noChangeAspect="1"/>
          </p:cNvPicPr>
          <p:nvPr/>
        </p:nvPicPr>
        <p:blipFill>
          <a:blip r:embed="rId7"/>
          <a:srcRect t="1681" b="1681"/>
          <a:stretch>
            <a:fillRect/>
          </a:stretch>
        </p:blipFill>
        <p:spPr>
          <a:xfrm>
            <a:off x="2828925" y="3886200"/>
            <a:ext cx="2076450" cy="1504950"/>
          </a:xfrm>
          <a:custGeom>
            <a:avLst/>
            <a:gdLst/>
            <a:ahLst/>
            <a:cxnLst/>
            <a:pathLst>
              <a:path w="218" h="158">
                <a:moveTo>
                  <a:pt x="207" y="0"/>
                </a:moveTo>
                <a:cubicBezTo>
                  <a:pt x="212" y="0"/>
                  <a:pt x="216" y="3"/>
                  <a:pt x="218" y="7"/>
                </a:cubicBezTo>
                <a:lnTo>
                  <a:pt x="218" y="151"/>
                </a:lnTo>
                <a:cubicBezTo>
                  <a:pt x="216" y="155"/>
                  <a:pt x="212" y="158"/>
                  <a:pt x="207" y="158"/>
                </a:cubicBezTo>
                <a:lnTo>
                  <a:pt x="12" y="158"/>
                </a:lnTo>
                <a:cubicBezTo>
                  <a:pt x="5" y="158"/>
                  <a:pt x="0" y="153"/>
                  <a:pt x="0" y="146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207" y="0"/>
                </a:lnTo>
                <a:close/>
              </a:path>
            </a:pathLst>
          </a:custGeom>
        </p:spPr>
      </p:pic>
      <p:sp>
        <p:nvSpPr>
          <p:cNvPr id="764" name="圆角矩形 763"/>
          <p:cNvSpPr/>
          <p:nvPr/>
        </p:nvSpPr>
        <p:spPr>
          <a:xfrm>
            <a:off x="2828925" y="5467350"/>
            <a:ext cx="2085975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pic>
        <p:nvPicPr>
          <p:cNvPr id="765" name="图片 76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43225" y="5543550"/>
            <a:ext cx="123825" cy="123825"/>
          </a:xfrm>
          <a:prstGeom prst="rect">
            <a:avLst/>
          </a:prstGeom>
        </p:spPr>
      </p:pic>
      <p:sp>
        <p:nvSpPr>
          <p:cNvPr id="766" name="文本框 765" descr="{&quot;isTemplate&quot;:true,&quot;type&quot;:&quot;text&quot;}"/>
          <p:cNvSpPr txBox="1"/>
          <p:nvPr/>
        </p:nvSpPr>
        <p:spPr>
          <a:xfrm>
            <a:off x="3133725" y="5534025"/>
            <a:ext cx="600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无锡拈花湾</a:t>
            </a:r>
            <a:endParaRPr lang="zh-CN" sz="94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7" name="圆角矩形 766"/>
          <p:cNvSpPr/>
          <p:nvPr/>
        </p:nvSpPr>
        <p:spPr>
          <a:xfrm>
            <a:off x="5048250" y="3886200"/>
            <a:ext cx="2095500" cy="1504950"/>
          </a:xfrm>
          <a:prstGeom prst="roundRect">
            <a:avLst>
              <a:gd name="adj" fmla="val 7595"/>
            </a:avLst>
          </a:prstGeom>
          <a:ln w="12700">
            <a:solidFill>
              <a:srgbClr val="E6EAF1"/>
            </a:solidFill>
            <a:prstDash val="solid"/>
          </a:ln>
          <a:effectLst>
            <a:outerShdw blurRad="95250" dist="1905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768" name="图片 767"/>
          <p:cNvPicPr>
            <a:picLocks noChangeAspect="1"/>
          </p:cNvPicPr>
          <p:nvPr/>
        </p:nvPicPr>
        <p:blipFill>
          <a:blip r:embed="rId8"/>
          <a:srcRect l="5434" r="5434"/>
          <a:stretch>
            <a:fillRect/>
          </a:stretch>
        </p:blipFill>
        <p:spPr>
          <a:xfrm>
            <a:off x="5048250" y="3886200"/>
            <a:ext cx="2076450" cy="1504950"/>
          </a:xfrm>
          <a:custGeom>
            <a:avLst/>
            <a:gdLst/>
            <a:ahLst/>
            <a:cxnLst/>
            <a:pathLst>
              <a:path w="218" h="158">
                <a:moveTo>
                  <a:pt x="208" y="0"/>
                </a:moveTo>
                <a:cubicBezTo>
                  <a:pt x="212" y="0"/>
                  <a:pt x="216" y="2"/>
                  <a:pt x="218" y="5"/>
                </a:cubicBezTo>
                <a:lnTo>
                  <a:pt x="218" y="153"/>
                </a:lnTo>
                <a:cubicBezTo>
                  <a:pt x="216" y="156"/>
                  <a:pt x="212" y="158"/>
                  <a:pt x="208" y="158"/>
                </a:cubicBezTo>
                <a:lnTo>
                  <a:pt x="12" y="158"/>
                </a:lnTo>
                <a:cubicBezTo>
                  <a:pt x="5" y="158"/>
                  <a:pt x="0" y="153"/>
                  <a:pt x="0" y="146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</p:spPr>
      </p:pic>
      <p:sp>
        <p:nvSpPr>
          <p:cNvPr id="769" name="圆角矩形 768"/>
          <p:cNvSpPr/>
          <p:nvPr/>
        </p:nvSpPr>
        <p:spPr>
          <a:xfrm>
            <a:off x="5048250" y="5467350"/>
            <a:ext cx="2095500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pic>
        <p:nvPicPr>
          <p:cNvPr id="770" name="图片 76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62550" y="5543550"/>
            <a:ext cx="123825" cy="123825"/>
          </a:xfrm>
          <a:prstGeom prst="rect">
            <a:avLst/>
          </a:prstGeom>
        </p:spPr>
      </p:pic>
      <p:sp>
        <p:nvSpPr>
          <p:cNvPr id="771" name="文本框 770" descr="{&quot;isTemplate&quot;:true,&quot;type&quot;:&quot;text&quot;}"/>
          <p:cNvSpPr txBox="1"/>
          <p:nvPr/>
        </p:nvSpPr>
        <p:spPr>
          <a:xfrm>
            <a:off x="5353050" y="5534025"/>
            <a:ext cx="7143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无锡灵山大佛</a:t>
            </a:r>
            <a:endParaRPr lang="zh-CN" sz="94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2" name="圆角矩形 771"/>
          <p:cNvSpPr/>
          <p:nvPr/>
        </p:nvSpPr>
        <p:spPr>
          <a:xfrm>
            <a:off x="7277100" y="3886200"/>
            <a:ext cx="2085975" cy="1504950"/>
          </a:xfrm>
          <a:prstGeom prst="roundRect">
            <a:avLst>
              <a:gd name="adj" fmla="val 7595"/>
            </a:avLst>
          </a:prstGeom>
          <a:ln w="12700">
            <a:solidFill>
              <a:srgbClr val="E6EAF1"/>
            </a:solidFill>
            <a:prstDash val="solid"/>
          </a:ln>
          <a:effectLst>
            <a:outerShdw blurRad="95250" dist="1905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773" name="图片 772"/>
          <p:cNvPicPr>
            <a:picLocks noChangeAspect="1"/>
          </p:cNvPicPr>
          <p:nvPr/>
        </p:nvPicPr>
        <p:blipFill>
          <a:blip r:embed="rId9"/>
          <a:srcRect l="6954" r="6954"/>
          <a:stretch>
            <a:fillRect/>
          </a:stretch>
        </p:blipFill>
        <p:spPr>
          <a:xfrm>
            <a:off x="7277100" y="3886200"/>
            <a:ext cx="2076450" cy="1504950"/>
          </a:xfrm>
          <a:custGeom>
            <a:avLst/>
            <a:gdLst/>
            <a:ahLst/>
            <a:cxnLst/>
            <a:pathLst>
              <a:path w="218" h="158">
                <a:moveTo>
                  <a:pt x="207" y="0"/>
                </a:moveTo>
                <a:cubicBezTo>
                  <a:pt x="212" y="0"/>
                  <a:pt x="216" y="3"/>
                  <a:pt x="218" y="7"/>
                </a:cubicBezTo>
                <a:lnTo>
                  <a:pt x="218" y="151"/>
                </a:lnTo>
                <a:cubicBezTo>
                  <a:pt x="216" y="155"/>
                  <a:pt x="212" y="158"/>
                  <a:pt x="207" y="158"/>
                </a:cubicBezTo>
                <a:lnTo>
                  <a:pt x="12" y="158"/>
                </a:lnTo>
                <a:cubicBezTo>
                  <a:pt x="5" y="158"/>
                  <a:pt x="0" y="153"/>
                  <a:pt x="0" y="146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207" y="0"/>
                </a:lnTo>
                <a:close/>
              </a:path>
            </a:pathLst>
          </a:custGeom>
        </p:spPr>
      </p:pic>
      <p:sp>
        <p:nvSpPr>
          <p:cNvPr id="774" name="圆角矩形 773"/>
          <p:cNvSpPr/>
          <p:nvPr/>
        </p:nvSpPr>
        <p:spPr>
          <a:xfrm>
            <a:off x="7277100" y="5467350"/>
            <a:ext cx="2085975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pic>
        <p:nvPicPr>
          <p:cNvPr id="775" name="图片 77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1400" y="5543550"/>
            <a:ext cx="123825" cy="123825"/>
          </a:xfrm>
          <a:prstGeom prst="rect">
            <a:avLst/>
          </a:prstGeom>
        </p:spPr>
      </p:pic>
      <p:sp>
        <p:nvSpPr>
          <p:cNvPr id="776" name="文本框 775" descr="{&quot;isTemplate&quot;:true,&quot;type&quot;:&quot;text&quot;}"/>
          <p:cNvSpPr txBox="1"/>
          <p:nvPr/>
        </p:nvSpPr>
        <p:spPr>
          <a:xfrm>
            <a:off x="7581900" y="5534025"/>
            <a:ext cx="2381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泰山</a:t>
            </a:r>
            <a:endParaRPr lang="zh-CN" sz="94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7" name="圆角矩形 776"/>
          <p:cNvSpPr/>
          <p:nvPr/>
        </p:nvSpPr>
        <p:spPr>
          <a:xfrm>
            <a:off x="9496425" y="3886200"/>
            <a:ext cx="2085975" cy="1504950"/>
          </a:xfrm>
          <a:prstGeom prst="roundRect">
            <a:avLst>
              <a:gd name="adj" fmla="val 7595"/>
            </a:avLst>
          </a:prstGeom>
          <a:ln w="12700">
            <a:solidFill>
              <a:srgbClr val="E6EAF1"/>
            </a:solidFill>
            <a:prstDash val="solid"/>
          </a:ln>
          <a:effectLst>
            <a:outerShdw blurRad="95250" dist="1905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778" name="图片 777"/>
          <p:cNvPicPr>
            <a:picLocks noChangeAspect="1"/>
          </p:cNvPicPr>
          <p:nvPr/>
        </p:nvPicPr>
        <p:blipFill>
          <a:blip r:embed="rId10"/>
          <a:srcRect t="1681" b="1681"/>
          <a:stretch>
            <a:fillRect/>
          </a:stretch>
        </p:blipFill>
        <p:spPr>
          <a:xfrm>
            <a:off x="9496425" y="3886200"/>
            <a:ext cx="2076450" cy="1504950"/>
          </a:xfrm>
          <a:custGeom>
            <a:avLst/>
            <a:gdLst/>
            <a:ahLst/>
            <a:cxnLst/>
            <a:pathLst>
              <a:path w="218" h="158">
                <a:moveTo>
                  <a:pt x="207" y="0"/>
                </a:moveTo>
                <a:cubicBezTo>
                  <a:pt x="212" y="0"/>
                  <a:pt x="216" y="3"/>
                  <a:pt x="218" y="7"/>
                </a:cubicBezTo>
                <a:lnTo>
                  <a:pt x="218" y="151"/>
                </a:lnTo>
                <a:cubicBezTo>
                  <a:pt x="216" y="155"/>
                  <a:pt x="212" y="158"/>
                  <a:pt x="207" y="158"/>
                </a:cubicBezTo>
                <a:lnTo>
                  <a:pt x="12" y="158"/>
                </a:lnTo>
                <a:cubicBezTo>
                  <a:pt x="5" y="158"/>
                  <a:pt x="0" y="153"/>
                  <a:pt x="0" y="146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207" y="0"/>
                </a:lnTo>
                <a:close/>
              </a:path>
            </a:pathLst>
          </a:custGeom>
        </p:spPr>
      </p:pic>
      <p:sp>
        <p:nvSpPr>
          <p:cNvPr id="779" name="圆角矩形 778"/>
          <p:cNvSpPr/>
          <p:nvPr/>
        </p:nvSpPr>
        <p:spPr>
          <a:xfrm>
            <a:off x="9496425" y="5467350"/>
            <a:ext cx="2085975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pic>
        <p:nvPicPr>
          <p:cNvPr id="780" name="图片 77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0725" y="5543550"/>
            <a:ext cx="123825" cy="123825"/>
          </a:xfrm>
          <a:prstGeom prst="rect">
            <a:avLst/>
          </a:prstGeom>
        </p:spPr>
      </p:pic>
      <p:sp>
        <p:nvSpPr>
          <p:cNvPr id="781" name="文本框 780" descr="{&quot;isTemplate&quot;:true,&quot;type&quot;:&quot;text&quot;}"/>
          <p:cNvSpPr txBox="1"/>
          <p:nvPr/>
        </p:nvSpPr>
        <p:spPr>
          <a:xfrm>
            <a:off x="9801225" y="5534025"/>
            <a:ext cx="2381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黄山</a:t>
            </a:r>
            <a:endParaRPr lang="zh-CN" sz="94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2" name="圆角矩形 781"/>
          <p:cNvSpPr/>
          <p:nvPr/>
        </p:nvSpPr>
        <p:spPr>
          <a:xfrm>
            <a:off x="609600" y="6496050"/>
            <a:ext cx="171450" cy="171450"/>
          </a:xfrm>
          <a:prstGeom prst="roundRect">
            <a:avLst>
              <a:gd name="adj" fmla="val 27778"/>
            </a:avLst>
          </a:prstGeom>
          <a:gradFill>
            <a:gsLst>
              <a:gs pos="0">
                <a:srgbClr val="60A5FA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783" name="文本框 782" descr="{&quot;isTemplate&quot;:true,&quot;type&quot;:&quot;text&quot;}"/>
          <p:cNvSpPr txBox="1"/>
          <p:nvPr/>
        </p:nvSpPr>
        <p:spPr>
          <a:xfrm>
            <a:off x="647700" y="6524625"/>
            <a:ext cx="952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旅</a:t>
            </a:r>
            <a:endParaRPr lang="zh-CN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4" name="文本框 783" descr="{&quot;isTemplate&quot;:true,&quot;type&quot;:&quot;text&quot;}"/>
          <p:cNvSpPr txBox="1"/>
          <p:nvPr/>
        </p:nvSpPr>
        <p:spPr>
          <a:xfrm>
            <a:off x="857250" y="6515100"/>
            <a:ext cx="1990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Kelvoy · AI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5" name="文本框 784" descr="{&quot;isTemplate&quot;:true,&quot;type&quot;:&quot;text&quot;}"/>
          <p:cNvSpPr txBox="1"/>
          <p:nvPr/>
        </p:nvSpPr>
        <p:spPr>
          <a:xfrm>
            <a:off x="11191875" y="6515100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06 / 19</a:t>
            </a:r>
            <a:endParaRPr lang="en-US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6" name="" descr="&lt;Slide padding='0'&gt;&#10;    &lt;Box style={{ position: 'absolute', top: 0, left: 0, width: '1280px', height: '720px', background: '#F6F8FB' }} /&gt;&#10;    &lt;Box style={{ position: 'absolute', top: 0, left: 0, width: '1280px', height: '4px', background: 'linear-gradient(90deg,#2563EB 0%,#7C3AED 100%)' }} /&gt;&#10;&#10;    &lt;Box style={{ position: 'absolute', top: '42px', left: '64px', right: '64px', flexDirection: 'row', justifyContent: 'space-between', alignItems: 'center' }}&gt;&#10;        &lt;Text style={{ fontSize: '12px', fontWeight: '700', color: '#2563EB', letterSpacing: '2px' }}&gt;02 · 产品与体验&lt;/Text&gt;&#10;        &lt;Text style={{ fontSize: '11px', color: '#8A97AB', letterSpacing: '3px' }}&gt;DIFFERENTIATION&lt;/Text&gt;&#10;    &lt;/Box&gt;&#10;    &lt;Text style={{ position: 'absolute', top: '68px', left: '64px', fontSize: '34px', fontWeight: 'bold', color: '#0B1220' }}&gt;&#10;        不做通用视频生成器，只做&lt;span style={{ color: '#2563EB' }}&gt;「角色 × 目的地」&lt;/span&gt;&#10;    &lt;/Text&gt;&#10;    &lt;Box style={{ position: 'absolute', top: '116px', left: '64px', width: '44px', height: '4px', borderRadius: '2px', background: 'linear-gradient(90deg,#2563EB,#7C3AED)' }} /&gt;&#10;&#10;    &lt;Box style={{ position: 'absolute', top: '146px', left: '64px', right: '64px', flexDirection: 'row', padding: '0 20px', alignItems: 'center' }}&gt;&#10;        &lt;Text style={{ width: '110px', fontSize: '12.5px', fontWeight: 700, color: '#8A97AB', letterSpacing: '1px' }}&gt;维度&lt;/Text&gt;&#10;        &lt;Text style={{ flex: 1, fontSize: '12.5px', fontWeight: 700, color: '#8A97AB', letterSpacing: '1px' }}&gt;通用 AI 视频工具&lt;/Text&gt;&#10;        &lt;Box style={{ flexDirection: 'row', alignItems: 'center', gap: '8px', width: '470px' }}&gt;&#10;            &lt;Box style={{ width: '18px', height: '18px', borderRadius: '5px', background: 'linear-gradient(135deg,#60A5FA,#2563EB)', justifyContent: 'center', alignItems: 'center' }}&gt;&#10;                &lt;Text style={{ fontSize: '10px', fontWeight: 'bold', color: '#FFFFFF' }}&gt;旅&lt;/Text&gt;&#10;            &lt;/Box&gt;&#10;            &lt;Text style={{ fontSize: '12.5px', fontWeight: 700, color: '#2563EB', letterSpacing: '1px' }}&gt;Kelvoy 可旅&lt;/Text&gt;&#10;        &lt;/Box&gt;&#10;    &lt;/Box&gt;&#10;&#10;    &lt;Box style={{ position: 'absolute', top: '180px', left: '64px', right: '64px', flexDirection: 'column', gap: '12px' }}&gt;&#10;        {[&#10;            { dim: '角色', icon: 'user', a: '每次重新描述，形象随机', b: '账号级资产：外形跨期一致，每期换穿搭' },&#10;            { dim: '目的地', icon: 'map-location-dot', a: '不懂地标，容易失真', b: '景区级符号包 + 实景参考图保真' },&#10;            { dim: '叙事', icon: 'feather', a: '自由发挥，质量看运气', b: '六种目的地类型对应六种镜头语法' },&#10;            { dim: '过程', icon: 'sliders', a: '一键黑盒，不可干预', b: '六阶段 + 人工审核点，可改、可重跑' },&#10;            { dim: '成本', icon: 'coins', a: '按次付费，不可控', b: '本地 DGX 为主 + API 溢出，整期上限 ¥20' },&#10;        ].map((r, i) =&gt; (&#10;            &lt;Box key={i} style={{ flexDirection: 'row', alignItems: 'center', gap: '20px' }}&gt;&#10;                &lt;Box style={{ width: '110px', flexDirection: 'row', alignItems: 'center', gap: '9px' }}&gt;&#10;                    &lt;Box style={{ width: '34px', height: '34px', borderRadius: '10px', background: '#EFF4FE', justifyContent: 'center', alignItems: 'center' }}&gt;&#10;                        &lt;FAIcon name={r.icon} style={{ fill: '#2563EB', width: '16px', height: '16px' }} /&gt;&#10;                    &lt;/Box&gt;&#10;                    &lt;Text style={{ fontSize: '14.5px', fontWeight: 700, color: '#0B1220' }}&gt;{r.dim}&lt;/Text&gt;&#10;                &lt;/Box&gt;&#10;                &lt;Box style={{ flex: 1, flexDirection: 'row', alignItems: 'center', gap: '10px', padding: '17px 18px', background: '#FFFFFF', borderRadius: '11px', border: '1px solid #E6EAF1' }}&gt;&#10;                    &lt;FAIcon name='circle-xmark' style={{ fill: '#CBD5E1', width: '15px', height: '15px' }} /&gt;&#10;                    &lt;Text style={{ fontSize: '13px', color: '#8A97AB' }}&gt;{r.a}&lt;/Text&gt;&#10;                &lt;/Box&gt;&#10;                &lt;Box style={{ width: '470px', flexDirection: 'row', alignItems: 'center', gap: '10px', padding: '17px 18px', background: 'linear-gradient(120deg,#EFF4FE 0%,#F5F1FE 100%)', borderRadius: '11px', border: '1px solid #C7D7FA' }}&gt;&#10;                    &lt;FAIcon name='circle-check' style={{ fill: '#2563EB', width: '15px', height: '15px' }} /&gt;&#10;                    &lt;Text style={{ fontSize: '13px', fontWeight: 600, color: '#1D4ED8' }}&gt;{r.b}&lt;/Text&gt;&#10;                &lt;/Box&gt;&#10;            &lt;/Box&gt;&#10;        ))}&#10;    &lt;/Box&gt;&#10;&#10;    &lt;Box style={{ position: 'absolute', top: '596px', left: '64px', right: '64px', padding: '16px 24px', borderRadius: '12px', background: '#0B1220', flexDirection: 'row', alignItems: 'center', gap: '14px' }}&gt;&#10;        &lt;FAIcon name='shield-halved' style={{ fill: '#93C5FD', width: '18px', height: '18px' }} /&gt;&#10;        &lt;Text style={{ fontSize: '14px', color: 'rgba(255,255,255,0.9)' }}&gt;&#10;            护城河不在模型，在&lt;span style={{ color: '#93C5FD', fontWeight: 700 }}&gt;角色资产、目的地库和跨期一致性&lt;/span&gt;&#10;        &lt;/Text&gt;&#10;    &lt;/Box&gt;&#10;&#10;    &lt;Box style={{ position: 'absolute', bottom: '20px', left: '64px', right: '64px', flexDirection: 'row', justifyContent: 'space-between', alignItems: 'center' }}&gt;&#10;        &lt;Box style={{ flexDirection: 'row', alignItems: 'center', gap: '8px' }}&gt;&#10;            &lt;Box style={{ width: '18px', height: '18px', borderRadius: '5px', background: 'linear-gradient(135deg,#60A5FA,#2563EB)', justifyContent: 'center', alignItems: 'center' }}&gt;&#10;                &lt;Text style={{ fontSize: '10px', fontWeight: 'bold', color: '#FFFFFF' }}&gt;旅&lt;/Text&gt;&#10;            &lt;/Box&gt;&#10;            &lt;Text style={{ fontSize: '12px', color: '#8A97AB' }}&gt;可旅 Kelvoy · AI 旅行 Vlog 生产工作台&lt;/Text&gt;&#10;        &lt;/Box&gt;&#10;        &lt;Text style={{ fontSize: '12px', color: '#8A97AB' }}&gt;07 / 1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矩形 7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</p:spPr>
        <p:txBody>
          <a:bodyPr/>
          <a:p/>
        </p:txBody>
      </p:sp>
      <p:sp>
        <p:nvSpPr>
          <p:cNvPr id="788" name="矩形 787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789" name="文本框 788" descr="{&quot;isTemplate&quot;:true,&quot;type&quot;:&quot;text&quot;}"/>
          <p:cNvSpPr txBox="1"/>
          <p:nvPr/>
        </p:nvSpPr>
        <p:spPr>
          <a:xfrm>
            <a:off x="609600" y="400050"/>
            <a:ext cx="1028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02 · </a:t>
            </a:r>
            <a:r>
              <a:rPr lang="zh-CN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产品与体验</a:t>
            </a:r>
            <a:endParaRPr lang="zh-CN" sz="900" b="1" spc="1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0" name="文本框 789" descr="{&quot;isTemplate&quot;:true,&quot;type&quot;:&quot;text&quot;}"/>
          <p:cNvSpPr txBox="1"/>
          <p:nvPr/>
        </p:nvSpPr>
        <p:spPr>
          <a:xfrm>
            <a:off x="10229850" y="409575"/>
            <a:ext cx="13525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22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DIFFERENTIATION</a:t>
            </a:r>
            <a:endParaRPr lang="en-US" sz="825" spc="22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1" name="文本框 790" descr="{&quot;isTemplate&quot;:true,&quot;type&quot;:&quot;text&quot;}"/>
          <p:cNvSpPr txBox="1"/>
          <p:nvPr/>
        </p:nvSpPr>
        <p:spPr>
          <a:xfrm>
            <a:off x="609600" y="647700"/>
            <a:ext cx="66008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不做通用视频生成器，只做</a:t>
            </a:r>
            <a:r>
              <a:rPr lang="zh-CN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「角色</a:t>
            </a:r>
            <a:r>
              <a:rPr lang="en-US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目的地」</a:t>
            </a:r>
            <a:endParaRPr lang="zh-CN" sz="25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2" name="圆角矩形 791"/>
          <p:cNvSpPr/>
          <p:nvPr/>
        </p:nvSpPr>
        <p:spPr>
          <a:xfrm>
            <a:off x="609600" y="1104900"/>
            <a:ext cx="4191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793" name="文本框 792" descr="{&quot;isTemplate&quot;:true,&quot;type&quot;:&quot;text&quot;}"/>
          <p:cNvSpPr txBox="1"/>
          <p:nvPr/>
        </p:nvSpPr>
        <p:spPr>
          <a:xfrm>
            <a:off x="800100" y="1409700"/>
            <a:ext cx="10477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b="1" spc="7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维度</a:t>
            </a:r>
            <a:endParaRPr lang="zh-CN" sz="940" b="1" spc="7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4" name="文本框 793" descr="{&quot;isTemplate&quot;:true,&quot;type&quot;:&quot;text&quot;}"/>
          <p:cNvSpPr txBox="1"/>
          <p:nvPr/>
        </p:nvSpPr>
        <p:spPr>
          <a:xfrm>
            <a:off x="1847850" y="1409700"/>
            <a:ext cx="5067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b="1" spc="7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通用</a:t>
            </a:r>
            <a:r>
              <a:rPr lang="en-US" sz="940" b="1" spc="7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940" b="1" spc="7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视频工具</a:t>
            </a:r>
            <a:endParaRPr lang="zh-CN" sz="940" b="1" spc="7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5" name="圆角矩形 794"/>
          <p:cNvSpPr/>
          <p:nvPr/>
        </p:nvSpPr>
        <p:spPr>
          <a:xfrm>
            <a:off x="6915150" y="1390650"/>
            <a:ext cx="171450" cy="171450"/>
          </a:xfrm>
          <a:prstGeom prst="roundRect">
            <a:avLst>
              <a:gd name="adj" fmla="val 27778"/>
            </a:avLst>
          </a:prstGeom>
          <a:gradFill>
            <a:gsLst>
              <a:gs pos="0">
                <a:srgbClr val="60A5FA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796" name="文本框 795" descr="{&quot;isTemplate&quot;:true,&quot;type&quot;:&quot;text&quot;}"/>
          <p:cNvSpPr txBox="1"/>
          <p:nvPr/>
        </p:nvSpPr>
        <p:spPr>
          <a:xfrm>
            <a:off x="6953250" y="1419225"/>
            <a:ext cx="952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旅</a:t>
            </a:r>
            <a:endParaRPr lang="zh-CN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7" name="文本框 796" descr="{&quot;isTemplate&quot;:true,&quot;type&quot;:&quot;text&quot;}"/>
          <p:cNvSpPr txBox="1"/>
          <p:nvPr/>
        </p:nvSpPr>
        <p:spPr>
          <a:xfrm>
            <a:off x="7162800" y="1409700"/>
            <a:ext cx="7620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 b="1" spc="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Kelvoy </a:t>
            </a:r>
            <a:r>
              <a:rPr lang="zh-CN" sz="940" b="1" spc="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endParaRPr lang="zh-CN" sz="940" b="1" spc="75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8" name="圆角矩形 797"/>
          <p:cNvSpPr/>
          <p:nvPr/>
        </p:nvSpPr>
        <p:spPr>
          <a:xfrm>
            <a:off x="609600" y="17907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EFF4FE"/>
          </a:solidFill>
        </p:spPr>
        <p:txBody>
          <a:bodyPr/>
          <a:p/>
        </p:txBody>
      </p:sp>
      <p:pic>
        <p:nvPicPr>
          <p:cNvPr id="799" name="图片 79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" y="1876425"/>
            <a:ext cx="152400" cy="152400"/>
          </a:xfrm>
          <a:prstGeom prst="rect">
            <a:avLst/>
          </a:prstGeom>
        </p:spPr>
      </p:pic>
      <p:sp>
        <p:nvSpPr>
          <p:cNvPr id="800" name="文本框 799" descr="{&quot;isTemplate&quot;:true,&quot;type&quot;:&quot;text&quot;}"/>
          <p:cNvSpPr txBox="1"/>
          <p:nvPr/>
        </p:nvSpPr>
        <p:spPr>
          <a:xfrm>
            <a:off x="1019175" y="1866900"/>
            <a:ext cx="276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角色</a:t>
            </a:r>
            <a:endParaRPr lang="zh-CN" sz="109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1" name="圆角矩形 800"/>
          <p:cNvSpPr/>
          <p:nvPr/>
        </p:nvSpPr>
        <p:spPr>
          <a:xfrm>
            <a:off x="1847850" y="1714500"/>
            <a:ext cx="5067300" cy="4762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pic>
        <p:nvPicPr>
          <p:cNvPr id="802" name="图片 80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19300" y="1885950"/>
            <a:ext cx="142875" cy="142875"/>
          </a:xfrm>
          <a:prstGeom prst="rect">
            <a:avLst/>
          </a:prstGeom>
        </p:spPr>
      </p:pic>
      <p:sp>
        <p:nvSpPr>
          <p:cNvPr id="803" name="文本框 802" descr="{&quot;isTemplate&quot;:true,&quot;type&quot;:&quot;text&quot;}"/>
          <p:cNvSpPr txBox="1"/>
          <p:nvPr/>
        </p:nvSpPr>
        <p:spPr>
          <a:xfrm>
            <a:off x="2257425" y="1876425"/>
            <a:ext cx="136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每次重新描述，形象随机</a:t>
            </a:r>
            <a:endParaRPr lang="zh-CN" sz="97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4" name="圆角矩形 803"/>
          <p:cNvSpPr/>
          <p:nvPr/>
        </p:nvSpPr>
        <p:spPr>
          <a:xfrm>
            <a:off x="7105650" y="1714500"/>
            <a:ext cx="4476750" cy="476250"/>
          </a:xfrm>
          <a:prstGeom prst="roundRect">
            <a:avLst>
              <a:gd name="adj" fmla="val 22000"/>
            </a:avLst>
          </a:prstGeom>
          <a:gradFill>
            <a:gsLst>
              <a:gs pos="0">
                <a:srgbClr val="EFF4FE"/>
              </a:gs>
              <a:gs pos="100000">
                <a:srgbClr val="F5F1FE"/>
              </a:gs>
            </a:gsLst>
            <a:lin ang="1800000" scaled="1"/>
          </a:gradFill>
          <a:ln w="12700">
            <a:solidFill>
              <a:srgbClr val="C7D7FA"/>
            </a:solidFill>
            <a:prstDash val="solid"/>
          </a:ln>
        </p:spPr>
        <p:txBody>
          <a:bodyPr/>
          <a:p/>
        </p:txBody>
      </p:sp>
      <p:pic>
        <p:nvPicPr>
          <p:cNvPr id="805" name="图片 80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7100" y="1885950"/>
            <a:ext cx="142875" cy="142875"/>
          </a:xfrm>
          <a:prstGeom prst="rect">
            <a:avLst/>
          </a:prstGeom>
        </p:spPr>
      </p:pic>
      <p:sp>
        <p:nvSpPr>
          <p:cNvPr id="806" name="文本框 805" descr="{&quot;isTemplate&quot;:true,&quot;type&quot;:&quot;text&quot;}"/>
          <p:cNvSpPr txBox="1"/>
          <p:nvPr/>
        </p:nvSpPr>
        <p:spPr>
          <a:xfrm>
            <a:off x="7515225" y="1876425"/>
            <a:ext cx="2228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账号级资产：外形跨期一致，每期换穿搭</a:t>
            </a:r>
            <a:endParaRPr lang="zh-CN" sz="975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7" name="圆角矩形 806"/>
          <p:cNvSpPr/>
          <p:nvPr/>
        </p:nvSpPr>
        <p:spPr>
          <a:xfrm>
            <a:off x="609600" y="238125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EFF4FE"/>
          </a:solidFill>
        </p:spPr>
        <p:txBody>
          <a:bodyPr/>
          <a:p/>
        </p:txBody>
      </p:sp>
      <p:pic>
        <p:nvPicPr>
          <p:cNvPr id="808" name="图片 80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5325" y="2466975"/>
            <a:ext cx="152400" cy="152400"/>
          </a:xfrm>
          <a:prstGeom prst="rect">
            <a:avLst/>
          </a:prstGeom>
        </p:spPr>
      </p:pic>
      <p:sp>
        <p:nvSpPr>
          <p:cNvPr id="809" name="文本框 808" descr="{&quot;isTemplate&quot;:true,&quot;type&quot;:&quot;text&quot;}"/>
          <p:cNvSpPr txBox="1"/>
          <p:nvPr/>
        </p:nvSpPr>
        <p:spPr>
          <a:xfrm>
            <a:off x="1019175" y="2457450"/>
            <a:ext cx="4191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目的地</a:t>
            </a:r>
            <a:endParaRPr lang="zh-CN" sz="109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0" name="圆角矩形 809"/>
          <p:cNvSpPr/>
          <p:nvPr/>
        </p:nvSpPr>
        <p:spPr>
          <a:xfrm>
            <a:off x="1847850" y="2305050"/>
            <a:ext cx="5067300" cy="4762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pic>
        <p:nvPicPr>
          <p:cNvPr id="811" name="图片 8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19300" y="2476500"/>
            <a:ext cx="142875" cy="142875"/>
          </a:xfrm>
          <a:prstGeom prst="rect">
            <a:avLst/>
          </a:prstGeom>
        </p:spPr>
      </p:pic>
      <p:sp>
        <p:nvSpPr>
          <p:cNvPr id="812" name="文本框 811" descr="{&quot;isTemplate&quot;:true,&quot;type&quot;:&quot;text&quot;}"/>
          <p:cNvSpPr txBox="1"/>
          <p:nvPr/>
        </p:nvSpPr>
        <p:spPr>
          <a:xfrm>
            <a:off x="2257425" y="2466975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不懂地标，容易失真</a:t>
            </a:r>
            <a:endParaRPr lang="zh-CN" sz="97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3" name="圆角矩形 812"/>
          <p:cNvSpPr/>
          <p:nvPr/>
        </p:nvSpPr>
        <p:spPr>
          <a:xfrm>
            <a:off x="7105650" y="2305050"/>
            <a:ext cx="4476750" cy="476250"/>
          </a:xfrm>
          <a:prstGeom prst="roundRect">
            <a:avLst>
              <a:gd name="adj" fmla="val 22000"/>
            </a:avLst>
          </a:prstGeom>
          <a:gradFill>
            <a:gsLst>
              <a:gs pos="0">
                <a:srgbClr val="EFF4FE"/>
              </a:gs>
              <a:gs pos="100000">
                <a:srgbClr val="F5F1FE"/>
              </a:gs>
            </a:gsLst>
            <a:lin ang="1800000" scaled="1"/>
          </a:gradFill>
          <a:ln w="12700">
            <a:solidFill>
              <a:srgbClr val="C7D7FA"/>
            </a:solidFill>
            <a:prstDash val="solid"/>
          </a:ln>
        </p:spPr>
        <p:txBody>
          <a:bodyPr/>
          <a:p/>
        </p:txBody>
      </p:sp>
      <p:pic>
        <p:nvPicPr>
          <p:cNvPr id="814" name="图片 81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7100" y="2476500"/>
            <a:ext cx="142875" cy="142875"/>
          </a:xfrm>
          <a:prstGeom prst="rect">
            <a:avLst/>
          </a:prstGeom>
        </p:spPr>
      </p:pic>
      <p:sp>
        <p:nvSpPr>
          <p:cNvPr id="815" name="文本框 814" descr="{&quot;isTemplate&quot;:true,&quot;type&quot;:&quot;text&quot;}"/>
          <p:cNvSpPr txBox="1"/>
          <p:nvPr/>
        </p:nvSpPr>
        <p:spPr>
          <a:xfrm>
            <a:off x="7515225" y="2466975"/>
            <a:ext cx="17811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景区级符号包</a:t>
            </a:r>
            <a:r>
              <a:rPr lang="en-US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实景参考图保真</a:t>
            </a:r>
            <a:endParaRPr lang="zh-CN" sz="975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6" name="圆角矩形 815"/>
          <p:cNvSpPr/>
          <p:nvPr/>
        </p:nvSpPr>
        <p:spPr>
          <a:xfrm>
            <a:off x="609600" y="29718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EFF4FE"/>
          </a:solidFill>
        </p:spPr>
        <p:txBody>
          <a:bodyPr/>
          <a:p/>
        </p:txBody>
      </p:sp>
      <p:pic>
        <p:nvPicPr>
          <p:cNvPr id="817" name="图片 816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5325" y="3057525"/>
            <a:ext cx="152400" cy="152400"/>
          </a:xfrm>
          <a:prstGeom prst="rect">
            <a:avLst/>
          </a:prstGeom>
        </p:spPr>
      </p:pic>
      <p:sp>
        <p:nvSpPr>
          <p:cNvPr id="818" name="文本框 817" descr="{&quot;isTemplate&quot;:true,&quot;type&quot;:&quot;text&quot;}"/>
          <p:cNvSpPr txBox="1"/>
          <p:nvPr/>
        </p:nvSpPr>
        <p:spPr>
          <a:xfrm>
            <a:off x="1019175" y="3048000"/>
            <a:ext cx="276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叙事</a:t>
            </a:r>
            <a:endParaRPr lang="zh-CN" sz="109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9" name="圆角矩形 818"/>
          <p:cNvSpPr/>
          <p:nvPr/>
        </p:nvSpPr>
        <p:spPr>
          <a:xfrm>
            <a:off x="1847850" y="2895600"/>
            <a:ext cx="5067300" cy="4762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pic>
        <p:nvPicPr>
          <p:cNvPr id="820" name="图片 81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19300" y="3067050"/>
            <a:ext cx="142875" cy="142875"/>
          </a:xfrm>
          <a:prstGeom prst="rect">
            <a:avLst/>
          </a:prstGeom>
        </p:spPr>
      </p:pic>
      <p:sp>
        <p:nvSpPr>
          <p:cNvPr id="821" name="文本框 820" descr="{&quot;isTemplate&quot;:true,&quot;type&quot;:&quot;text&quot;}"/>
          <p:cNvSpPr txBox="1"/>
          <p:nvPr/>
        </p:nvSpPr>
        <p:spPr>
          <a:xfrm>
            <a:off x="2257425" y="3057525"/>
            <a:ext cx="123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自由发挥，质量看运气</a:t>
            </a:r>
            <a:endParaRPr lang="zh-CN" sz="97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2" name="圆角矩形 821"/>
          <p:cNvSpPr/>
          <p:nvPr/>
        </p:nvSpPr>
        <p:spPr>
          <a:xfrm>
            <a:off x="7105650" y="2895600"/>
            <a:ext cx="4476750" cy="476250"/>
          </a:xfrm>
          <a:prstGeom prst="roundRect">
            <a:avLst>
              <a:gd name="adj" fmla="val 22000"/>
            </a:avLst>
          </a:prstGeom>
          <a:gradFill>
            <a:gsLst>
              <a:gs pos="0">
                <a:srgbClr val="EFF4FE"/>
              </a:gs>
              <a:gs pos="100000">
                <a:srgbClr val="F5F1FE"/>
              </a:gs>
            </a:gsLst>
            <a:lin ang="1800000" scaled="1"/>
          </a:gradFill>
          <a:ln w="12700">
            <a:solidFill>
              <a:srgbClr val="C7D7FA"/>
            </a:solidFill>
            <a:prstDash val="solid"/>
          </a:ln>
        </p:spPr>
        <p:txBody>
          <a:bodyPr/>
          <a:p/>
        </p:txBody>
      </p:sp>
      <p:pic>
        <p:nvPicPr>
          <p:cNvPr id="823" name="图片 82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7100" y="3067050"/>
            <a:ext cx="142875" cy="142875"/>
          </a:xfrm>
          <a:prstGeom prst="rect">
            <a:avLst/>
          </a:prstGeom>
        </p:spPr>
      </p:pic>
      <p:sp>
        <p:nvSpPr>
          <p:cNvPr id="824" name="文本框 823" descr="{&quot;isTemplate&quot;:true,&quot;type&quot;:&quot;text&quot;}"/>
          <p:cNvSpPr txBox="1"/>
          <p:nvPr/>
        </p:nvSpPr>
        <p:spPr>
          <a:xfrm>
            <a:off x="7515225" y="3057525"/>
            <a:ext cx="18573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六种目的地类型对应六种镜头语法</a:t>
            </a:r>
            <a:endParaRPr lang="zh-CN" sz="975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5" name="圆角矩形 824"/>
          <p:cNvSpPr/>
          <p:nvPr/>
        </p:nvSpPr>
        <p:spPr>
          <a:xfrm>
            <a:off x="609600" y="356235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EFF4FE"/>
          </a:solidFill>
        </p:spPr>
        <p:txBody>
          <a:bodyPr/>
          <a:p/>
        </p:txBody>
      </p:sp>
      <p:pic>
        <p:nvPicPr>
          <p:cNvPr id="826" name="图片 82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5325" y="3648075"/>
            <a:ext cx="152400" cy="152400"/>
          </a:xfrm>
          <a:prstGeom prst="rect">
            <a:avLst/>
          </a:prstGeom>
        </p:spPr>
      </p:pic>
      <p:sp>
        <p:nvSpPr>
          <p:cNvPr id="827" name="文本框 826" descr="{&quot;isTemplate&quot;:true,&quot;type&quot;:&quot;text&quot;}"/>
          <p:cNvSpPr txBox="1"/>
          <p:nvPr/>
        </p:nvSpPr>
        <p:spPr>
          <a:xfrm>
            <a:off x="1019175" y="3638550"/>
            <a:ext cx="276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过程</a:t>
            </a:r>
            <a:endParaRPr lang="zh-CN" sz="109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8" name="圆角矩形 827"/>
          <p:cNvSpPr/>
          <p:nvPr/>
        </p:nvSpPr>
        <p:spPr>
          <a:xfrm>
            <a:off x="1847850" y="3486150"/>
            <a:ext cx="5067300" cy="4762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pic>
        <p:nvPicPr>
          <p:cNvPr id="829" name="图片 82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19300" y="3657600"/>
            <a:ext cx="142875" cy="142875"/>
          </a:xfrm>
          <a:prstGeom prst="rect">
            <a:avLst/>
          </a:prstGeom>
        </p:spPr>
      </p:pic>
      <p:sp>
        <p:nvSpPr>
          <p:cNvPr id="830" name="文本框 829" descr="{&quot;isTemplate&quot;:true,&quot;type&quot;:&quot;text&quot;}"/>
          <p:cNvSpPr txBox="1"/>
          <p:nvPr/>
        </p:nvSpPr>
        <p:spPr>
          <a:xfrm>
            <a:off x="2257425" y="3648075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一键黑盒，不可干预</a:t>
            </a:r>
            <a:endParaRPr lang="zh-CN" sz="97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1" name="圆角矩形 830"/>
          <p:cNvSpPr/>
          <p:nvPr/>
        </p:nvSpPr>
        <p:spPr>
          <a:xfrm>
            <a:off x="7105650" y="3486150"/>
            <a:ext cx="4476750" cy="476250"/>
          </a:xfrm>
          <a:prstGeom prst="roundRect">
            <a:avLst>
              <a:gd name="adj" fmla="val 22000"/>
            </a:avLst>
          </a:prstGeom>
          <a:gradFill>
            <a:gsLst>
              <a:gs pos="0">
                <a:srgbClr val="EFF4FE"/>
              </a:gs>
              <a:gs pos="100000">
                <a:srgbClr val="F5F1FE"/>
              </a:gs>
            </a:gsLst>
            <a:lin ang="1800000" scaled="1"/>
          </a:gradFill>
          <a:ln w="12700">
            <a:solidFill>
              <a:srgbClr val="C7D7FA"/>
            </a:solidFill>
            <a:prstDash val="solid"/>
          </a:ln>
        </p:spPr>
        <p:txBody>
          <a:bodyPr/>
          <a:p/>
        </p:txBody>
      </p:sp>
      <p:pic>
        <p:nvPicPr>
          <p:cNvPr id="832" name="图片 83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7100" y="3657600"/>
            <a:ext cx="142875" cy="142875"/>
          </a:xfrm>
          <a:prstGeom prst="rect">
            <a:avLst/>
          </a:prstGeom>
        </p:spPr>
      </p:pic>
      <p:sp>
        <p:nvSpPr>
          <p:cNvPr id="833" name="文本框 832" descr="{&quot;isTemplate&quot;:true,&quot;type&quot;:&quot;text&quot;}"/>
          <p:cNvSpPr txBox="1"/>
          <p:nvPr/>
        </p:nvSpPr>
        <p:spPr>
          <a:xfrm>
            <a:off x="7515225" y="3648075"/>
            <a:ext cx="2028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六阶段</a:t>
            </a:r>
            <a:r>
              <a:rPr lang="en-US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人工审核点，可改、可重跑</a:t>
            </a:r>
            <a:endParaRPr lang="zh-CN" sz="975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4" name="圆角矩形 833"/>
          <p:cNvSpPr/>
          <p:nvPr/>
        </p:nvSpPr>
        <p:spPr>
          <a:xfrm>
            <a:off x="609600" y="41529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EFF4FE"/>
          </a:solidFill>
        </p:spPr>
        <p:txBody>
          <a:bodyPr/>
          <a:p/>
        </p:txBody>
      </p:sp>
      <p:pic>
        <p:nvPicPr>
          <p:cNvPr id="835" name="图片 834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5325" y="4238625"/>
            <a:ext cx="152400" cy="152400"/>
          </a:xfrm>
          <a:prstGeom prst="rect">
            <a:avLst/>
          </a:prstGeom>
        </p:spPr>
      </p:pic>
      <p:sp>
        <p:nvSpPr>
          <p:cNvPr id="836" name="文本框 835" descr="{&quot;isTemplate&quot;:true,&quot;type&quot;:&quot;text&quot;}"/>
          <p:cNvSpPr txBox="1"/>
          <p:nvPr/>
        </p:nvSpPr>
        <p:spPr>
          <a:xfrm>
            <a:off x="1019175" y="4229100"/>
            <a:ext cx="276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成本</a:t>
            </a:r>
            <a:endParaRPr lang="zh-CN" sz="109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7" name="圆角矩形 836"/>
          <p:cNvSpPr/>
          <p:nvPr/>
        </p:nvSpPr>
        <p:spPr>
          <a:xfrm>
            <a:off x="1847850" y="4076700"/>
            <a:ext cx="5067300" cy="4762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pic>
        <p:nvPicPr>
          <p:cNvPr id="838" name="图片 83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19300" y="4248150"/>
            <a:ext cx="142875" cy="142875"/>
          </a:xfrm>
          <a:prstGeom prst="rect">
            <a:avLst/>
          </a:prstGeom>
        </p:spPr>
      </p:pic>
      <p:sp>
        <p:nvSpPr>
          <p:cNvPr id="839" name="文本框 838" descr="{&quot;isTemplate&quot;:true,&quot;type&quot;:&quot;text&quot;}"/>
          <p:cNvSpPr txBox="1"/>
          <p:nvPr/>
        </p:nvSpPr>
        <p:spPr>
          <a:xfrm>
            <a:off x="2257425" y="4238625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按次付费，不可控</a:t>
            </a:r>
            <a:endParaRPr lang="zh-CN" sz="97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0" name="圆角矩形 839"/>
          <p:cNvSpPr/>
          <p:nvPr/>
        </p:nvSpPr>
        <p:spPr>
          <a:xfrm>
            <a:off x="7105650" y="4076700"/>
            <a:ext cx="4476750" cy="476250"/>
          </a:xfrm>
          <a:prstGeom prst="roundRect">
            <a:avLst>
              <a:gd name="adj" fmla="val 22000"/>
            </a:avLst>
          </a:prstGeom>
          <a:gradFill>
            <a:gsLst>
              <a:gs pos="0">
                <a:srgbClr val="EFF4FE"/>
              </a:gs>
              <a:gs pos="100000">
                <a:srgbClr val="F5F1FE"/>
              </a:gs>
            </a:gsLst>
            <a:lin ang="1800000" scaled="1"/>
          </a:gradFill>
          <a:ln w="12700">
            <a:solidFill>
              <a:srgbClr val="C7D7FA"/>
            </a:solidFill>
            <a:prstDash val="solid"/>
          </a:ln>
        </p:spPr>
        <p:txBody>
          <a:bodyPr/>
          <a:p/>
        </p:txBody>
      </p:sp>
      <p:pic>
        <p:nvPicPr>
          <p:cNvPr id="841" name="图片 84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7100" y="4248150"/>
            <a:ext cx="142875" cy="142875"/>
          </a:xfrm>
          <a:prstGeom prst="rect">
            <a:avLst/>
          </a:prstGeom>
        </p:spPr>
      </p:pic>
      <p:sp>
        <p:nvSpPr>
          <p:cNvPr id="842" name="文本框 841" descr="{&quot;isTemplate&quot;:true,&quot;type&quot;:&quot;text&quot;}"/>
          <p:cNvSpPr txBox="1"/>
          <p:nvPr/>
        </p:nvSpPr>
        <p:spPr>
          <a:xfrm>
            <a:off x="7515225" y="4238625"/>
            <a:ext cx="2409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本地</a:t>
            </a:r>
            <a:r>
              <a:rPr lang="en-US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 DGX </a:t>
            </a:r>
            <a:r>
              <a:rPr lang="zh-CN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为主</a:t>
            </a:r>
            <a:r>
              <a:rPr lang="en-US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 + API </a:t>
            </a:r>
            <a:r>
              <a:rPr lang="zh-CN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溢出，整期上限</a:t>
            </a:r>
            <a:r>
              <a:rPr lang="en-US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 ¥20</a:t>
            </a:r>
            <a:endParaRPr lang="en-US" sz="975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3" name="圆角矩形 842"/>
          <p:cNvSpPr/>
          <p:nvPr/>
        </p:nvSpPr>
        <p:spPr>
          <a:xfrm>
            <a:off x="609600" y="5676900"/>
            <a:ext cx="10972800" cy="476250"/>
          </a:xfrm>
          <a:prstGeom prst="roundRect">
            <a:avLst>
              <a:gd name="adj" fmla="val 24000"/>
            </a:avLst>
          </a:prstGeom>
          <a:solidFill>
            <a:srgbClr val="0B1220"/>
          </a:solidFill>
        </p:spPr>
        <p:txBody>
          <a:bodyPr/>
          <a:p/>
        </p:txBody>
      </p:sp>
      <p:pic>
        <p:nvPicPr>
          <p:cNvPr id="844" name="图片 843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8200" y="5829300"/>
            <a:ext cx="171450" cy="171450"/>
          </a:xfrm>
          <a:prstGeom prst="rect">
            <a:avLst/>
          </a:prstGeom>
        </p:spPr>
      </p:pic>
      <p:sp>
        <p:nvSpPr>
          <p:cNvPr id="845" name="文本框 844" descr="{&quot;isTemplate&quot;:true,&quot;type&quot;:&quot;text&quot;}"/>
          <p:cNvSpPr txBox="1"/>
          <p:nvPr/>
        </p:nvSpPr>
        <p:spPr>
          <a:xfrm>
            <a:off x="1143000" y="5838825"/>
            <a:ext cx="3200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护城河不在模型，在</a:t>
            </a:r>
            <a:r>
              <a:rPr lang="zh-CN" sz="105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角色资产、目的地库和跨期一致性</a:t>
            </a:r>
            <a:endParaRPr lang="zh-CN" sz="1050" b="1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6" name="圆角矩形 845"/>
          <p:cNvSpPr/>
          <p:nvPr/>
        </p:nvSpPr>
        <p:spPr>
          <a:xfrm>
            <a:off x="609600" y="6496050"/>
            <a:ext cx="171450" cy="171450"/>
          </a:xfrm>
          <a:prstGeom prst="roundRect">
            <a:avLst>
              <a:gd name="adj" fmla="val 27778"/>
            </a:avLst>
          </a:prstGeom>
          <a:gradFill>
            <a:gsLst>
              <a:gs pos="0">
                <a:srgbClr val="60A5FA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847" name="文本框 846" descr="{&quot;isTemplate&quot;:true,&quot;type&quot;:&quot;text&quot;}"/>
          <p:cNvSpPr txBox="1"/>
          <p:nvPr/>
        </p:nvSpPr>
        <p:spPr>
          <a:xfrm>
            <a:off x="647700" y="6524625"/>
            <a:ext cx="952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旅</a:t>
            </a:r>
            <a:endParaRPr lang="zh-CN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8" name="文本框 847" descr="{&quot;isTemplate&quot;:true,&quot;type&quot;:&quot;text&quot;}"/>
          <p:cNvSpPr txBox="1"/>
          <p:nvPr/>
        </p:nvSpPr>
        <p:spPr>
          <a:xfrm>
            <a:off x="857250" y="6515100"/>
            <a:ext cx="1990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Kelvoy · AI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9" name="文本框 848" descr="{&quot;isTemplate&quot;:true,&quot;type&quot;:&quot;text&quot;}"/>
          <p:cNvSpPr txBox="1"/>
          <p:nvPr/>
        </p:nvSpPr>
        <p:spPr>
          <a:xfrm>
            <a:off x="11191875" y="6515100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07 / 19</a:t>
            </a:r>
            <a:endParaRPr lang="en-US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0" name="" descr="&lt;Slide padding='0'&gt;&#10;    &lt;Box style={{ position: 'absolute', top: 0, left: 0, width: '1280px', height: '720px', background: '#F6F8FB' }} /&gt;&#10;    &lt;Box style={{ position: 'absolute', top: 0, left: 0, width: '1280px', height: '4px', background: 'linear-gradient(90deg,#2563EB 0%,#7C3AED 100%)' }} /&gt;&#10;&#10;    &lt;Box style={{ position: 'absolute', top: '42px', left: '64px', right: '64px', flexDirection: 'row', justifyContent: 'space-between', alignItems: 'center' }}&gt;&#10;        &lt;Text style={{ fontSize: '12px', fontWeight: '700', color: '#2563EB', letterSpacing: '2px' }}&gt;02 · 产品与体验&lt;/Text&gt;&#10;        &lt;Text style={{ fontSize: '11px', color: '#8A97AB', letterSpacing: '3px' }}&gt;PIPELINE&lt;/Text&gt;&#10;    &lt;/Box&gt;&#10;    &lt;Text style={{ position: 'absolute', top: '68px', left: '64px', fontSize: '34px', fontWeight: 'bold', color: '#0B1220' }}&gt;&#10;        六阶段生成，&lt;span style={{ color: '#2563EB' }}&gt;三个人工审核点&lt;/span&gt;兜住质量&#10;    &lt;/Text&gt;&#10;    &lt;Box style={{ position: 'absolute', top: '116px', left: '64px', width: '44px', height: '4px', borderRadius: '2px', background: 'linear-gradient(90deg,#2563EB,#7C3AED)' }} /&gt;&#10;&#10;    &lt;Box style={{ position: 'absolute', top: '150px', left: '64px', flexDirection: 'row', gap: '12px' }}&gt;&#10;        {[&#10;            { code: 'Brief', n: '建期', d: '角色 / 目的地\n模板 / 画幅', c: '#64748B', bg: '#F1F5F9' },&#10;            { code: 'S1', n: '脚本生成', d: '24–30 镜 JSON\n含逐镜字幕', c: '#2563EB', bg: '#EFF4FE' },&#10;            { code: 'S2', n: '角色资产', d: '版本快照\n参考图集', c: '#2563EB', bg: '#EFF4FE' },&#10;            { code: 'S3', n: '关键帧', d: '每镜 1–3 候选\n（传统路径）', c: '#F59E0B', bg: '#FEF6E7' },&#10;            { code: 'S4', n: '视频生成', d: '3–5 秒片段\n截取 1 秒', c: '#7C3AED', bg: '#F5F1FE' },&#10;            { code: 'S5', n: '合成', d: '卡拍 / LUT / 字幕\nAI 标识 MP4', c: '#10B981', bg: '#E9F9F2' },&#10;        ].map((s, i) =&gt; (&#10;            &lt;Box key={i} style={{ width: '182px', height: '175px', padding: '14px 15px', background: '#FFFFFF', borderRadius: '12px', border: '1px solid #E6EAF1', boxShadow: '0 2px 12px rgba(15,23,42,0.04)', flexDirection: 'column', gap: '9px' }}&gt;&#10;                &lt;Box style={{ flexDirection: 'row', alignItems: 'center', justifyContent: 'space-between' }}&gt;&#10;                    &lt;Box style={{ padding: '3px 9px', borderRadius: '6px', background: s.bg }}&gt;&#10;                        &lt;Text style={{ fontSize: '11px', fontWeight: 700, color: s.c, letterSpacing: '0.5px' }}&gt;{s.code}&lt;/Text&gt;&#10;                    &lt;/Box&gt;&#10;                    &lt;Text style={{ fontSize: '13px', fontWeight: 'bold', color: '#DBE4F5' }}&gt;0{i + 1}&lt;/Text&gt;&#10;                &lt;/Box&gt;&#10;                &lt;Text style={{ fontSize: '16px', fontWeight: 'bold', color: '#0B1220' }}&gt;{s.n}&lt;/Text&gt;&#10;                &lt;Box style={{ width: '22px', height: '3px', borderRadius: '2px', background: s.c }} /&gt;&#10;                &lt;Text style={{ fontSize: '12px', color: '#5B6B84', lineHeight: 1.55 }}&gt;{s.d}&lt;/Text&gt;&#10;            &lt;/Box&gt;&#10;        ))}&#10;    &lt;/Box&gt;&#10;&#10;    {[252, 446, 640, 834, 1028].map((x, i) =&gt; (&#10;        &lt;Box key={i} style={{ position: 'absolute', top: '225px', left: `${x - 8}px`, width: '16px', height: '16px', borderRadius: '8px', background: '#F6F8FB', border: '1px solid #DBE4F5', justifyContent: 'center', alignItems: 'center' }}&gt;&#10;            &lt;FAIcon name='chevron-right' style={{ fill: '#2563EB', width: '8px', height: '8px' }} /&gt;&#10;        &lt;/Box&gt;&#10;    ))}&#10;&#10;    {[349, 737, 931].map((cx, i) =&gt; (&#10;        &lt;Box key={i} style={{ position: 'absolute', top: '325px', left: `${cx - 1}px`, width: '2px', height: '26px', background: '#C7D7FA' }} /&gt;&#10;    ))}&#10;    &lt;Box style={{ position: 'absolute', top: '351px', left: '64px', right: '64px', height: '2px', background: '#E6EAF1' }} /&gt;&#10;    {[&#10;        { cx: 349, t: '审核 1 · 改脚本' },&#10;        { cx: 737, t: '审核 2 · 挑关键帧' },&#10;        { cx: 931, t: '审核 3 · 挑片段' },&#10;    ].map((b, i) =&gt; (&#10;        &lt;Box key={i} style={{ position: 'absolute', top: '342px', left: `${b.cx - 85}px`, width: '170px', padding: '9px 0', borderRadius: '999px', background: 'linear-gradient(120deg,#1D4ED8 0%,#7C3AED 100%)', justifyContent: 'center', alignItems: 'center', boxShadow: '0 4px 14px rgba(37,99,235,0.28)' }}&gt;&#10;            &lt;Text style={{ fontSize: '12.5px', fontWeight: 700, color: '#FFFFFF' }}&gt;{b.t}&lt;/Text&gt;&#10;        &lt;/Box&gt;&#10;    ))}&#10;&#10;    &lt;Box style={{ position: 'absolute', top: '418px', left: '64px', right: '64px', padding: '22px 28px', borderRadius: '14px', background: 'linear-gradient(120deg,#0A1128 0%,#16233F 60%,#312E81 100%)', flexDirection: 'row', alignItems: 'center', gap: '24px', boxShadow: '0 10px 30px rgba(15,23,42,0.22)' }}&gt;&#10;        &lt;Box style={{ width: '46px', height: '46px', borderRadius: '13px', background: 'rgba(96,165,250,0.16)', border: '1px solid rgba(96,165,250,0.4)', justifyContent: 'center', alignItems: 'center' }}&gt;&#10;            &lt;FAIcon name='compass-drafting' style={{ fill: '#93C5FD', width: '21px', height: '21px' }} /&gt;&#10;        &lt;/Box&gt;&#10;        &lt;Box style={{ flex: 1, flexDirection: 'column', gap: '7px' }}&gt;&#10;            &lt;Text style={{ fontSize: '17px', fontWeight: 'bold', color: '#FFFFFF' }}&gt;设计理念&lt;/Text&gt;&#10;            &lt;Text style={{ fontSize: '13.5px', color: 'rgba(255,255,255,0.82)', lineHeight: 1.6 }}&gt;&#10;                不确定性压在便宜的&lt;span style={{ color: '#93C5FD', fontWeight: 600 }}&gt;静帧阶段&lt;/span&gt;，视频环节只让模型「动一下」，剪辑节奏交给合成。&#10;            &lt;/Text&gt;&#10;        &lt;/Box&gt;&#10;    &lt;/Box&gt;&#10;&#10;    &lt;Box style={{ position: 'absolute', top: '556px', left: '64px', right: '64px', flexDirection: 'row', gap: '14px' }}&gt;&#10;        {[&#10;            { k: '6', u: '阶段', d: '建期 → 脚本 → 资产 → 关键帧 → 视频 → 合成' },&#10;            { k: '3', u: '审核点', d: '脚本 / 关键帧 / 片段，全部可改、可重跑' },&#10;            { k: '1', u: '秒一镜', d: '片段全部通过后进入 compose_ready 合成设置' },&#10;        ].map((x, i) =&gt; (&#10;            &lt;Box key={i} style={{ flex: 1, flexDirection: 'row', alignItems: 'center', gap: '14px', padding: '14px 20px', background: '#FFFFFF', borderRadius: '12px', border: '1px solid #E6EAF1' }}&gt;&#10;                &lt;Text style={{ fontSize: '30px', fontWeight: 'bold', color: '#2563EB', lineHeight: 1 }}&gt;{x.k}&lt;/Text&gt;&#10;                &lt;Box style={{ flexDirection: 'column', gap: '4px' }}&gt;&#10;                    &lt;Text style={{ fontSize: '13.5px', fontWeight: 700, color: '#0B1220' }}&gt;{x.u}&lt;/Text&gt;&#10;                    &lt;Text style={{ fontSize: '11.5px', color: '#8A97AB' }}&gt;{x.d}&lt;/Text&gt;&#10;                &lt;/Box&gt;&#10;            &lt;/Box&gt;&#10;        ))}&#10;    &lt;/Box&gt;&#10;&#10;    &lt;Box style={{ position: 'absolute', bottom: '20px', left: '64px', right: '64px', flexDirection: 'row', justifyContent: 'space-between', alignItems: 'center' }}&gt;&#10;        &lt;Box style={{ flexDirection: 'row', alignItems: 'center', gap: '8px' }}&gt;&#10;            &lt;Box style={{ width: '18px', height: '18px', borderRadius: '5px', background: 'linear-gradient(135deg,#60A5FA,#2563EB)', justifyContent: 'center', alignItems: 'center' }}&gt;&#10;                &lt;Text style={{ fontSize: '10px', fontWeight: 'bold', color: '#FFFFFF' }}&gt;旅&lt;/Text&gt;&#10;            &lt;/Box&gt;&#10;            &lt;Text style={{ fontSize: '12px', color: '#8A97AB' }}&gt;可旅 Kelvoy · AI 旅行 Vlog 生产工作台&lt;/Text&gt;&#10;        &lt;/Box&gt;&#10;        &lt;Text style={{ fontSize: '12px', color: '#8A97AB' }}&gt;08 / 1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矩形 8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</p:spPr>
        <p:txBody>
          <a:bodyPr/>
          <a:p/>
        </p:txBody>
      </p:sp>
      <p:sp>
        <p:nvSpPr>
          <p:cNvPr id="852" name="矩形 85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853" name="文本框 852" descr="{&quot;isTemplate&quot;:true,&quot;type&quot;:&quot;text&quot;}"/>
          <p:cNvSpPr txBox="1"/>
          <p:nvPr/>
        </p:nvSpPr>
        <p:spPr>
          <a:xfrm>
            <a:off x="609600" y="400050"/>
            <a:ext cx="1028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02 · </a:t>
            </a:r>
            <a:r>
              <a:rPr lang="zh-CN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产品与体验</a:t>
            </a:r>
            <a:endParaRPr lang="zh-CN" sz="900" b="1" spc="1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4" name="文本框 853" descr="{&quot;isTemplate&quot;:true,&quot;type&quot;:&quot;text&quot;}"/>
          <p:cNvSpPr txBox="1"/>
          <p:nvPr/>
        </p:nvSpPr>
        <p:spPr>
          <a:xfrm>
            <a:off x="10906125" y="409575"/>
            <a:ext cx="6762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22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PIPELINE</a:t>
            </a:r>
            <a:endParaRPr lang="en-US" sz="825" spc="22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5" name="文本框 854" descr="{&quot;isTemplate&quot;:true,&quot;type&quot;:&quot;text&quot;}"/>
          <p:cNvSpPr txBox="1"/>
          <p:nvPr/>
        </p:nvSpPr>
        <p:spPr>
          <a:xfrm>
            <a:off x="609600" y="647700"/>
            <a:ext cx="55054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六阶段生成，</a:t>
            </a:r>
            <a:r>
              <a:rPr lang="zh-CN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三个人工审核点</a:t>
            </a:r>
            <a:r>
              <a:rPr lang="zh-CN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兜住质量</a:t>
            </a:r>
            <a:endParaRPr lang="zh-CN" sz="255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6" name="圆角矩形 855"/>
          <p:cNvSpPr/>
          <p:nvPr/>
        </p:nvSpPr>
        <p:spPr>
          <a:xfrm>
            <a:off x="609600" y="1104900"/>
            <a:ext cx="4191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857" name="圆角矩形 856"/>
          <p:cNvSpPr/>
          <p:nvPr/>
        </p:nvSpPr>
        <p:spPr>
          <a:xfrm>
            <a:off x="609600" y="1428750"/>
            <a:ext cx="1733550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858" name="圆角矩形 857"/>
          <p:cNvSpPr/>
          <p:nvPr/>
        </p:nvSpPr>
        <p:spPr>
          <a:xfrm>
            <a:off x="752475" y="1562100"/>
            <a:ext cx="447675" cy="190500"/>
          </a:xfrm>
          <a:prstGeom prst="roundRect">
            <a:avLst>
              <a:gd name="adj" fmla="val 30000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859" name="文本框 858" descr="{&quot;isTemplate&quot;:true,&quot;type&quot;:&quot;text&quot;}"/>
          <p:cNvSpPr txBox="1"/>
          <p:nvPr/>
        </p:nvSpPr>
        <p:spPr>
          <a:xfrm>
            <a:off x="838200" y="1590675"/>
            <a:ext cx="2762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38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Brief</a:t>
            </a:r>
            <a:endParaRPr lang="en-US" sz="825" b="1" spc="38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0" name="文本框 859" descr="{&quot;isTemplate&quot;:true,&quot;type&quot;:&quot;text&quot;}"/>
          <p:cNvSpPr txBox="1"/>
          <p:nvPr/>
        </p:nvSpPr>
        <p:spPr>
          <a:xfrm>
            <a:off x="2038350" y="1581150"/>
            <a:ext cx="1619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975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975" b="1">
              <a:solidFill>
                <a:srgbClr val="DB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1" name="文本框 860" descr="{&quot;isTemplate&quot;:true,&quot;type&quot;:&quot;text&quot;}"/>
          <p:cNvSpPr txBox="1"/>
          <p:nvPr/>
        </p:nvSpPr>
        <p:spPr>
          <a:xfrm>
            <a:off x="752475" y="1838325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建期</a:t>
            </a:r>
            <a:endParaRPr lang="zh-CN" sz="12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2" name="圆角矩形 861"/>
          <p:cNvSpPr/>
          <p:nvPr/>
        </p:nvSpPr>
        <p:spPr>
          <a:xfrm>
            <a:off x="752475" y="2114550"/>
            <a:ext cx="209550" cy="28575"/>
          </a:xfrm>
          <a:prstGeom prst="roundRect">
            <a:avLst>
              <a:gd name="adj" fmla="val 66667"/>
            </a:avLst>
          </a:prstGeom>
          <a:solidFill>
            <a:srgbClr val="64748B"/>
          </a:solidFill>
        </p:spPr>
        <p:txBody>
          <a:bodyPr/>
          <a:p/>
        </p:txBody>
      </p:sp>
      <p:sp>
        <p:nvSpPr>
          <p:cNvPr id="863" name="文本框 862" descr="{&quot;isTemplate&quot;:true,&quot;type&quot;:&quot;text&quot;}"/>
          <p:cNvSpPr txBox="1"/>
          <p:nvPr/>
        </p:nvSpPr>
        <p:spPr>
          <a:xfrm>
            <a:off x="752475" y="2228850"/>
            <a:ext cx="14478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角色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目的地
模板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画幅</a:t>
            </a:r>
            <a:endParaRPr lang="zh-CN" sz="90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4" name="圆角矩形 863"/>
          <p:cNvSpPr/>
          <p:nvPr/>
        </p:nvSpPr>
        <p:spPr>
          <a:xfrm>
            <a:off x="2457450" y="1428750"/>
            <a:ext cx="1733550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865" name="圆角矩形 864"/>
          <p:cNvSpPr/>
          <p:nvPr/>
        </p:nvSpPr>
        <p:spPr>
          <a:xfrm>
            <a:off x="2600325" y="1562100"/>
            <a:ext cx="314325" cy="190500"/>
          </a:xfrm>
          <a:prstGeom prst="roundRect">
            <a:avLst>
              <a:gd name="adj" fmla="val 30000"/>
            </a:avLst>
          </a:prstGeom>
          <a:solidFill>
            <a:srgbClr val="EFF4FE"/>
          </a:solidFill>
        </p:spPr>
        <p:txBody>
          <a:bodyPr/>
          <a:p/>
        </p:txBody>
      </p:sp>
      <p:sp>
        <p:nvSpPr>
          <p:cNvPr id="866" name="文本框 865" descr="{&quot;isTemplate&quot;:true,&quot;type&quot;:&quot;text&quot;}"/>
          <p:cNvSpPr txBox="1"/>
          <p:nvPr/>
        </p:nvSpPr>
        <p:spPr>
          <a:xfrm>
            <a:off x="2686050" y="1590675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38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S1</a:t>
            </a:r>
            <a:endParaRPr lang="en-US" sz="825" b="1" spc="38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7" name="文本框 866" descr="{&quot;isTemplate&quot;:true,&quot;type&quot;:&quot;text&quot;}"/>
          <p:cNvSpPr txBox="1"/>
          <p:nvPr/>
        </p:nvSpPr>
        <p:spPr>
          <a:xfrm>
            <a:off x="3886200" y="1581150"/>
            <a:ext cx="1619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975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975" b="1">
              <a:solidFill>
                <a:srgbClr val="DB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8" name="文本框 867" descr="{&quot;isTemplate&quot;:true,&quot;type&quot;:&quot;text&quot;}"/>
          <p:cNvSpPr txBox="1"/>
          <p:nvPr/>
        </p:nvSpPr>
        <p:spPr>
          <a:xfrm>
            <a:off x="2600325" y="1838325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脚本生成</a:t>
            </a:r>
            <a:endParaRPr lang="zh-CN" sz="12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9" name="圆角矩形 868"/>
          <p:cNvSpPr/>
          <p:nvPr/>
        </p:nvSpPr>
        <p:spPr>
          <a:xfrm>
            <a:off x="2600325" y="2114550"/>
            <a:ext cx="209550" cy="28575"/>
          </a:xfrm>
          <a:prstGeom prst="roundRect">
            <a:avLst>
              <a:gd name="adj" fmla="val 66667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870" name="文本框 869" descr="{&quot;isTemplate&quot;:true,&quot;type&quot;:&quot;text&quot;}"/>
          <p:cNvSpPr txBox="1"/>
          <p:nvPr/>
        </p:nvSpPr>
        <p:spPr>
          <a:xfrm>
            <a:off x="2600325" y="2228850"/>
            <a:ext cx="14478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5-10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镜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JSON
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含逐镜字幕</a:t>
            </a:r>
            <a:endParaRPr lang="zh-CN" sz="90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1" name="圆角矩形 870"/>
          <p:cNvSpPr/>
          <p:nvPr/>
        </p:nvSpPr>
        <p:spPr>
          <a:xfrm>
            <a:off x="4305300" y="1428750"/>
            <a:ext cx="1733550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872" name="圆角矩形 871"/>
          <p:cNvSpPr/>
          <p:nvPr/>
        </p:nvSpPr>
        <p:spPr>
          <a:xfrm>
            <a:off x="4448175" y="1562100"/>
            <a:ext cx="314325" cy="190500"/>
          </a:xfrm>
          <a:prstGeom prst="roundRect">
            <a:avLst>
              <a:gd name="adj" fmla="val 30000"/>
            </a:avLst>
          </a:prstGeom>
          <a:solidFill>
            <a:srgbClr val="EFF4FE"/>
          </a:solidFill>
        </p:spPr>
        <p:txBody>
          <a:bodyPr/>
          <a:p/>
        </p:txBody>
      </p:sp>
      <p:sp>
        <p:nvSpPr>
          <p:cNvPr id="873" name="文本框 872" descr="{&quot;isTemplate&quot;:true,&quot;type&quot;:&quot;text&quot;}"/>
          <p:cNvSpPr txBox="1"/>
          <p:nvPr/>
        </p:nvSpPr>
        <p:spPr>
          <a:xfrm>
            <a:off x="4533900" y="1590675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38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S2</a:t>
            </a:r>
            <a:endParaRPr lang="en-US" sz="825" b="1" spc="38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4" name="文本框 873" descr="{&quot;isTemplate&quot;:true,&quot;type&quot;:&quot;text&quot;}"/>
          <p:cNvSpPr txBox="1"/>
          <p:nvPr/>
        </p:nvSpPr>
        <p:spPr>
          <a:xfrm>
            <a:off x="5734050" y="1581150"/>
            <a:ext cx="1619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975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975" b="1">
              <a:solidFill>
                <a:srgbClr val="DB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5" name="文本框 874" descr="{&quot;isTemplate&quot;:true,&quot;type&quot;:&quot;text&quot;}"/>
          <p:cNvSpPr txBox="1"/>
          <p:nvPr/>
        </p:nvSpPr>
        <p:spPr>
          <a:xfrm>
            <a:off x="4448175" y="1838325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角色资产</a:t>
            </a:r>
            <a:endParaRPr lang="zh-CN" sz="12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6" name="圆角矩形 875"/>
          <p:cNvSpPr/>
          <p:nvPr/>
        </p:nvSpPr>
        <p:spPr>
          <a:xfrm>
            <a:off x="4448175" y="2114550"/>
            <a:ext cx="209550" cy="28575"/>
          </a:xfrm>
          <a:prstGeom prst="roundRect">
            <a:avLst>
              <a:gd name="adj" fmla="val 66667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877" name="文本框 876" descr="{&quot;isTemplate&quot;:true,&quot;type&quot;:&quot;text&quot;}"/>
          <p:cNvSpPr txBox="1"/>
          <p:nvPr/>
        </p:nvSpPr>
        <p:spPr>
          <a:xfrm>
            <a:off x="4448175" y="2228850"/>
            <a:ext cx="14478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版本快照
参考图集</a:t>
            </a:r>
            <a:endParaRPr lang="zh-CN" sz="90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8" name="圆角矩形 877"/>
          <p:cNvSpPr/>
          <p:nvPr/>
        </p:nvSpPr>
        <p:spPr>
          <a:xfrm>
            <a:off x="6153150" y="1428750"/>
            <a:ext cx="1733550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879" name="圆角矩形 878"/>
          <p:cNvSpPr/>
          <p:nvPr/>
        </p:nvSpPr>
        <p:spPr>
          <a:xfrm>
            <a:off x="6296025" y="1562100"/>
            <a:ext cx="314325" cy="190500"/>
          </a:xfrm>
          <a:prstGeom prst="roundRect">
            <a:avLst>
              <a:gd name="adj" fmla="val 30000"/>
            </a:avLst>
          </a:prstGeom>
          <a:solidFill>
            <a:srgbClr val="FEF6E7"/>
          </a:solidFill>
        </p:spPr>
        <p:txBody>
          <a:bodyPr/>
          <a:p/>
        </p:txBody>
      </p:sp>
      <p:sp>
        <p:nvSpPr>
          <p:cNvPr id="880" name="文本框 879" descr="{&quot;isTemplate&quot;:true,&quot;type&quot;:&quot;text&quot;}"/>
          <p:cNvSpPr txBox="1"/>
          <p:nvPr/>
        </p:nvSpPr>
        <p:spPr>
          <a:xfrm>
            <a:off x="6381750" y="1590675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38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S3</a:t>
            </a:r>
            <a:endParaRPr lang="en-US" sz="825" b="1" spc="38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1" name="文本框 880" descr="{&quot;isTemplate&quot;:true,&quot;type&quot;:&quot;text&quot;}"/>
          <p:cNvSpPr txBox="1"/>
          <p:nvPr/>
        </p:nvSpPr>
        <p:spPr>
          <a:xfrm>
            <a:off x="7581900" y="1581150"/>
            <a:ext cx="1619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975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975" b="1">
              <a:solidFill>
                <a:srgbClr val="DB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2" name="文本框 881" descr="{&quot;isTemplate&quot;:true,&quot;type&quot;:&quot;text&quot;}"/>
          <p:cNvSpPr txBox="1"/>
          <p:nvPr/>
        </p:nvSpPr>
        <p:spPr>
          <a:xfrm>
            <a:off x="6296025" y="1838325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关键帧</a:t>
            </a:r>
            <a:endParaRPr lang="zh-CN" sz="12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3" name="圆角矩形 882"/>
          <p:cNvSpPr/>
          <p:nvPr/>
        </p:nvSpPr>
        <p:spPr>
          <a:xfrm>
            <a:off x="6296025" y="2114550"/>
            <a:ext cx="209550" cy="28575"/>
          </a:xfrm>
          <a:prstGeom prst="roundRect">
            <a:avLst>
              <a:gd name="adj" fmla="val 66667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884" name="文本框 883" descr="{&quot;isTemplate&quot;:true,&quot;type&quot;:&quot;text&quot;}"/>
          <p:cNvSpPr txBox="1"/>
          <p:nvPr/>
        </p:nvSpPr>
        <p:spPr>
          <a:xfrm>
            <a:off x="6296025" y="2228850"/>
            <a:ext cx="14478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每镜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1–3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候选
（传统路径）</a:t>
            </a:r>
            <a:endParaRPr lang="zh-CN" sz="90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5" name="圆角矩形 884"/>
          <p:cNvSpPr/>
          <p:nvPr/>
        </p:nvSpPr>
        <p:spPr>
          <a:xfrm>
            <a:off x="8001000" y="1428750"/>
            <a:ext cx="1733550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886" name="圆角矩形 885"/>
          <p:cNvSpPr/>
          <p:nvPr/>
        </p:nvSpPr>
        <p:spPr>
          <a:xfrm>
            <a:off x="8143875" y="1562100"/>
            <a:ext cx="314325" cy="190500"/>
          </a:xfrm>
          <a:prstGeom prst="roundRect">
            <a:avLst>
              <a:gd name="adj" fmla="val 30000"/>
            </a:avLst>
          </a:prstGeom>
          <a:solidFill>
            <a:srgbClr val="F5F1FE"/>
          </a:solidFill>
        </p:spPr>
        <p:txBody>
          <a:bodyPr/>
          <a:p/>
        </p:txBody>
      </p:sp>
      <p:sp>
        <p:nvSpPr>
          <p:cNvPr id="887" name="文本框 886" descr="{&quot;isTemplate&quot;:true,&quot;type&quot;:&quot;text&quot;}"/>
          <p:cNvSpPr txBox="1"/>
          <p:nvPr/>
        </p:nvSpPr>
        <p:spPr>
          <a:xfrm>
            <a:off x="8229600" y="1590675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38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S4</a:t>
            </a:r>
            <a:endParaRPr lang="en-US" sz="825" b="1" spc="38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8" name="文本框 887" descr="{&quot;isTemplate&quot;:true,&quot;type&quot;:&quot;text&quot;}"/>
          <p:cNvSpPr txBox="1"/>
          <p:nvPr/>
        </p:nvSpPr>
        <p:spPr>
          <a:xfrm>
            <a:off x="9429750" y="1581150"/>
            <a:ext cx="1619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975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975" b="1">
              <a:solidFill>
                <a:srgbClr val="DB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9" name="文本框 888" descr="{&quot;isTemplate&quot;:true,&quot;type&quot;:&quot;text&quot;}"/>
          <p:cNvSpPr txBox="1"/>
          <p:nvPr/>
        </p:nvSpPr>
        <p:spPr>
          <a:xfrm>
            <a:off x="8143875" y="1838325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视频生成</a:t>
            </a:r>
            <a:endParaRPr lang="zh-CN" sz="12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0" name="圆角矩形 889"/>
          <p:cNvSpPr/>
          <p:nvPr/>
        </p:nvSpPr>
        <p:spPr>
          <a:xfrm>
            <a:off x="8143875" y="2114550"/>
            <a:ext cx="209550" cy="28575"/>
          </a:xfrm>
          <a:prstGeom prst="roundRect">
            <a:avLst>
              <a:gd name="adj" fmla="val 66667"/>
            </a:avLst>
          </a:prstGeom>
          <a:solidFill>
            <a:srgbClr val="7C3AED"/>
          </a:solidFill>
        </p:spPr>
        <p:txBody>
          <a:bodyPr/>
          <a:p/>
        </p:txBody>
      </p:sp>
      <p:sp>
        <p:nvSpPr>
          <p:cNvPr id="891" name="文本框 890" descr="{&quot;isTemplate&quot;:true,&quot;type&quot;:&quot;text&quot;}"/>
          <p:cNvSpPr txBox="1"/>
          <p:nvPr/>
        </p:nvSpPr>
        <p:spPr>
          <a:xfrm>
            <a:off x="8143875" y="2228850"/>
            <a:ext cx="14478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3–4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秒片段
截取</a:t>
            </a:r>
            <a:endParaRPr lang="zh-CN" sz="90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2" name="圆角矩形 891"/>
          <p:cNvSpPr/>
          <p:nvPr/>
        </p:nvSpPr>
        <p:spPr>
          <a:xfrm>
            <a:off x="9848850" y="1428750"/>
            <a:ext cx="1733550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893" name="圆角矩形 892"/>
          <p:cNvSpPr/>
          <p:nvPr/>
        </p:nvSpPr>
        <p:spPr>
          <a:xfrm>
            <a:off x="9991725" y="1562100"/>
            <a:ext cx="314325" cy="190500"/>
          </a:xfrm>
          <a:prstGeom prst="roundRect">
            <a:avLst>
              <a:gd name="adj" fmla="val 30000"/>
            </a:avLst>
          </a:prstGeom>
          <a:solidFill>
            <a:srgbClr val="E9F9F2"/>
          </a:solidFill>
        </p:spPr>
        <p:txBody>
          <a:bodyPr/>
          <a:p/>
        </p:txBody>
      </p:sp>
      <p:sp>
        <p:nvSpPr>
          <p:cNvPr id="894" name="文本框 893" descr="{&quot;isTemplate&quot;:true,&quot;type&quot;:&quot;text&quot;}"/>
          <p:cNvSpPr txBox="1"/>
          <p:nvPr/>
        </p:nvSpPr>
        <p:spPr>
          <a:xfrm>
            <a:off x="10077450" y="1590675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38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S5</a:t>
            </a:r>
            <a:endParaRPr lang="en-US" sz="825" b="1" spc="38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5" name="文本框 894" descr="{&quot;isTemplate&quot;:true,&quot;type&quot;:&quot;text&quot;}"/>
          <p:cNvSpPr txBox="1"/>
          <p:nvPr/>
        </p:nvSpPr>
        <p:spPr>
          <a:xfrm>
            <a:off x="11277600" y="1581150"/>
            <a:ext cx="1619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975" b="1">
                <a:solidFill>
                  <a:srgbClr val="DBE4F5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975" b="1">
              <a:solidFill>
                <a:srgbClr val="DBE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6" name="文本框 895" descr="{&quot;isTemplate&quot;:true,&quot;type&quot;:&quot;text&quot;}"/>
          <p:cNvSpPr txBox="1"/>
          <p:nvPr/>
        </p:nvSpPr>
        <p:spPr>
          <a:xfrm>
            <a:off x="9991725" y="1838325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合成</a:t>
            </a:r>
            <a:endParaRPr lang="zh-CN" sz="12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7" name="圆角矩形 896"/>
          <p:cNvSpPr/>
          <p:nvPr/>
        </p:nvSpPr>
        <p:spPr>
          <a:xfrm>
            <a:off x="9991725" y="2114550"/>
            <a:ext cx="209550" cy="28575"/>
          </a:xfrm>
          <a:prstGeom prst="roundRect">
            <a:avLst>
              <a:gd name="adj" fmla="val 66667"/>
            </a:avLst>
          </a:prstGeom>
          <a:solidFill>
            <a:srgbClr val="10B981"/>
          </a:solidFill>
        </p:spPr>
        <p:txBody>
          <a:bodyPr/>
          <a:p/>
        </p:txBody>
      </p:sp>
      <p:sp>
        <p:nvSpPr>
          <p:cNvPr id="898" name="文本框 897" descr="{&quot;isTemplate&quot;:true,&quot;type&quot;:&quot;text&quot;}"/>
          <p:cNvSpPr txBox="1"/>
          <p:nvPr/>
        </p:nvSpPr>
        <p:spPr>
          <a:xfrm>
            <a:off x="9991725" y="2228850"/>
            <a:ext cx="14478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卡拍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/ LUT /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字幕
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标识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MP4</a:t>
            </a:r>
            <a:endParaRPr lang="en-US" sz="90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9" name="圆角矩形 898"/>
          <p:cNvSpPr/>
          <p:nvPr/>
        </p:nvSpPr>
        <p:spPr>
          <a:xfrm>
            <a:off x="2324100" y="21431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12700">
            <a:solidFill>
              <a:srgbClr val="DBE4F5"/>
            </a:solidFill>
            <a:prstDash val="solid"/>
          </a:ln>
        </p:spPr>
        <p:txBody>
          <a:bodyPr/>
          <a:p/>
        </p:txBody>
      </p:sp>
      <p:pic>
        <p:nvPicPr>
          <p:cNvPr id="900" name="图片 89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2200" y="2181225"/>
            <a:ext cx="76200" cy="76200"/>
          </a:xfrm>
          <a:prstGeom prst="rect">
            <a:avLst/>
          </a:prstGeom>
        </p:spPr>
      </p:pic>
      <p:sp>
        <p:nvSpPr>
          <p:cNvPr id="901" name="圆角矩形 900"/>
          <p:cNvSpPr/>
          <p:nvPr/>
        </p:nvSpPr>
        <p:spPr>
          <a:xfrm>
            <a:off x="4171950" y="21431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12700">
            <a:solidFill>
              <a:srgbClr val="DBE4F5"/>
            </a:solidFill>
            <a:prstDash val="solid"/>
          </a:ln>
        </p:spPr>
        <p:txBody>
          <a:bodyPr/>
          <a:p/>
        </p:txBody>
      </p:sp>
      <p:pic>
        <p:nvPicPr>
          <p:cNvPr id="902" name="图片 90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10050" y="2181225"/>
            <a:ext cx="76200" cy="76200"/>
          </a:xfrm>
          <a:prstGeom prst="rect">
            <a:avLst/>
          </a:prstGeom>
        </p:spPr>
      </p:pic>
      <p:sp>
        <p:nvSpPr>
          <p:cNvPr id="903" name="圆角矩形 902"/>
          <p:cNvSpPr/>
          <p:nvPr/>
        </p:nvSpPr>
        <p:spPr>
          <a:xfrm>
            <a:off x="6019800" y="21431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12700">
            <a:solidFill>
              <a:srgbClr val="DBE4F5"/>
            </a:solidFill>
            <a:prstDash val="solid"/>
          </a:ln>
        </p:spPr>
        <p:txBody>
          <a:bodyPr/>
          <a:p/>
        </p:txBody>
      </p:sp>
      <p:pic>
        <p:nvPicPr>
          <p:cNvPr id="904" name="图片 90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57900" y="2181225"/>
            <a:ext cx="76200" cy="76200"/>
          </a:xfrm>
          <a:prstGeom prst="rect">
            <a:avLst/>
          </a:prstGeom>
        </p:spPr>
      </p:pic>
      <p:sp>
        <p:nvSpPr>
          <p:cNvPr id="905" name="圆角矩形 904"/>
          <p:cNvSpPr/>
          <p:nvPr/>
        </p:nvSpPr>
        <p:spPr>
          <a:xfrm>
            <a:off x="7867650" y="21431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12700">
            <a:solidFill>
              <a:srgbClr val="DBE4F5"/>
            </a:solidFill>
            <a:prstDash val="solid"/>
          </a:ln>
        </p:spPr>
        <p:txBody>
          <a:bodyPr/>
          <a:p/>
        </p:txBody>
      </p:sp>
      <p:pic>
        <p:nvPicPr>
          <p:cNvPr id="906" name="图片 90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5750" y="2181225"/>
            <a:ext cx="76200" cy="76200"/>
          </a:xfrm>
          <a:prstGeom prst="rect">
            <a:avLst/>
          </a:prstGeom>
        </p:spPr>
      </p:pic>
      <p:sp>
        <p:nvSpPr>
          <p:cNvPr id="907" name="圆角矩形 906"/>
          <p:cNvSpPr/>
          <p:nvPr/>
        </p:nvSpPr>
        <p:spPr>
          <a:xfrm>
            <a:off x="9715500" y="21431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6F8FB"/>
          </a:solidFill>
          <a:ln w="12700">
            <a:solidFill>
              <a:srgbClr val="DBE4F5"/>
            </a:solidFill>
            <a:prstDash val="solid"/>
          </a:ln>
        </p:spPr>
        <p:txBody>
          <a:bodyPr/>
          <a:p/>
        </p:txBody>
      </p:sp>
      <p:pic>
        <p:nvPicPr>
          <p:cNvPr id="908" name="图片 90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53600" y="2181225"/>
            <a:ext cx="76200" cy="76200"/>
          </a:xfrm>
          <a:prstGeom prst="rect">
            <a:avLst/>
          </a:prstGeom>
        </p:spPr>
      </p:pic>
      <p:sp>
        <p:nvSpPr>
          <p:cNvPr id="909" name="矩形 908"/>
          <p:cNvSpPr/>
          <p:nvPr/>
        </p:nvSpPr>
        <p:spPr>
          <a:xfrm>
            <a:off x="3314700" y="3095625"/>
            <a:ext cx="19050" cy="247650"/>
          </a:xfrm>
          <a:prstGeom prst="rect">
            <a:avLst/>
          </a:prstGeom>
          <a:solidFill>
            <a:srgbClr val="C7D7FA"/>
          </a:solidFill>
        </p:spPr>
        <p:txBody>
          <a:bodyPr/>
          <a:p/>
        </p:txBody>
      </p:sp>
      <p:sp>
        <p:nvSpPr>
          <p:cNvPr id="910" name="矩形 909"/>
          <p:cNvSpPr/>
          <p:nvPr/>
        </p:nvSpPr>
        <p:spPr>
          <a:xfrm>
            <a:off x="7010400" y="3095625"/>
            <a:ext cx="19050" cy="247650"/>
          </a:xfrm>
          <a:prstGeom prst="rect">
            <a:avLst/>
          </a:prstGeom>
          <a:solidFill>
            <a:srgbClr val="C7D7FA"/>
          </a:solidFill>
        </p:spPr>
        <p:txBody>
          <a:bodyPr/>
          <a:p/>
        </p:txBody>
      </p:sp>
      <p:sp>
        <p:nvSpPr>
          <p:cNvPr id="911" name="矩形 910"/>
          <p:cNvSpPr/>
          <p:nvPr/>
        </p:nvSpPr>
        <p:spPr>
          <a:xfrm>
            <a:off x="8858250" y="3095625"/>
            <a:ext cx="19050" cy="247650"/>
          </a:xfrm>
          <a:prstGeom prst="rect">
            <a:avLst/>
          </a:prstGeom>
          <a:solidFill>
            <a:srgbClr val="C7D7FA"/>
          </a:solidFill>
        </p:spPr>
        <p:txBody>
          <a:bodyPr/>
          <a:p/>
        </p:txBody>
      </p:sp>
      <p:sp>
        <p:nvSpPr>
          <p:cNvPr id="912" name="矩形 911"/>
          <p:cNvSpPr/>
          <p:nvPr/>
        </p:nvSpPr>
        <p:spPr>
          <a:xfrm>
            <a:off x="609600" y="3343275"/>
            <a:ext cx="10972800" cy="19050"/>
          </a:xfrm>
          <a:prstGeom prst="rect">
            <a:avLst/>
          </a:prstGeom>
          <a:solidFill>
            <a:srgbClr val="E6EAF1"/>
          </a:solidFill>
        </p:spPr>
        <p:txBody>
          <a:bodyPr/>
          <a:p/>
        </p:txBody>
      </p:sp>
      <p:sp>
        <p:nvSpPr>
          <p:cNvPr id="913" name="圆角矩形 912"/>
          <p:cNvSpPr/>
          <p:nvPr/>
        </p:nvSpPr>
        <p:spPr>
          <a:xfrm>
            <a:off x="2514600" y="3257550"/>
            <a:ext cx="1619250" cy="314325"/>
          </a:xfrm>
          <a:prstGeom prst="roundRect">
            <a:avLst>
              <a:gd name="adj" fmla="val 3027273"/>
            </a:avLst>
          </a:prstGeom>
          <a:gradFill>
            <a:gsLst>
              <a:gs pos="0">
                <a:srgbClr val="1D4ED8"/>
              </a:gs>
              <a:gs pos="100000">
                <a:srgbClr val="7C3AED"/>
              </a:gs>
            </a:gsLst>
            <a:lin ang="1800000" scaled="1"/>
          </a:gradFill>
          <a:effectLst>
            <a:outerShdw blurRad="133350" dist="38100" dir="5400000">
              <a:srgbClr val="2563EB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914" name="文本框 913" descr="{&quot;isTemplate&quot;:true,&quot;type&quot;:&quot;text&quot;}"/>
          <p:cNvSpPr txBox="1"/>
          <p:nvPr/>
        </p:nvSpPr>
        <p:spPr>
          <a:xfrm>
            <a:off x="2914650" y="3343275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审核</a:t>
            </a:r>
            <a:r>
              <a:rPr lang="en-US"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1 · </a:t>
            </a:r>
            <a:r>
              <a:rPr lang="zh-CN"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改脚本</a:t>
            </a:r>
            <a:endParaRPr lang="zh-CN" sz="9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5" name="圆角矩形 914"/>
          <p:cNvSpPr/>
          <p:nvPr/>
        </p:nvSpPr>
        <p:spPr>
          <a:xfrm>
            <a:off x="6210300" y="3257550"/>
            <a:ext cx="1619250" cy="314325"/>
          </a:xfrm>
          <a:prstGeom prst="roundRect">
            <a:avLst>
              <a:gd name="adj" fmla="val 3027273"/>
            </a:avLst>
          </a:prstGeom>
          <a:gradFill>
            <a:gsLst>
              <a:gs pos="0">
                <a:srgbClr val="1D4ED8"/>
              </a:gs>
              <a:gs pos="100000">
                <a:srgbClr val="7C3AED"/>
              </a:gs>
            </a:gsLst>
            <a:lin ang="1800000" scaled="1"/>
          </a:gradFill>
          <a:effectLst>
            <a:outerShdw blurRad="133350" dist="38100" dir="5400000">
              <a:srgbClr val="2563EB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916" name="文本框 915" descr="{&quot;isTemplate&quot;:true,&quot;type&quot;:&quot;text&quot;}"/>
          <p:cNvSpPr txBox="1"/>
          <p:nvPr/>
        </p:nvSpPr>
        <p:spPr>
          <a:xfrm>
            <a:off x="6543675" y="3343275"/>
            <a:ext cx="952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审核</a:t>
            </a:r>
            <a:r>
              <a:rPr lang="en-US"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2 · </a:t>
            </a:r>
            <a:r>
              <a:rPr lang="zh-CN"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挑关键帧</a:t>
            </a:r>
            <a:endParaRPr lang="zh-CN" sz="9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7" name="圆角矩形 916"/>
          <p:cNvSpPr/>
          <p:nvPr/>
        </p:nvSpPr>
        <p:spPr>
          <a:xfrm>
            <a:off x="8058150" y="3257550"/>
            <a:ext cx="1619250" cy="314325"/>
          </a:xfrm>
          <a:prstGeom prst="roundRect">
            <a:avLst>
              <a:gd name="adj" fmla="val 3027273"/>
            </a:avLst>
          </a:prstGeom>
          <a:gradFill>
            <a:gsLst>
              <a:gs pos="0">
                <a:srgbClr val="1D4ED8"/>
              </a:gs>
              <a:gs pos="100000">
                <a:srgbClr val="7C3AED"/>
              </a:gs>
            </a:gsLst>
            <a:lin ang="1800000" scaled="1"/>
          </a:gradFill>
          <a:effectLst>
            <a:outerShdw blurRad="133350" dist="38100" dir="5400000">
              <a:srgbClr val="2563EB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918" name="文本框 917" descr="{&quot;isTemplate&quot;:true,&quot;type&quot;:&quot;text&quot;}"/>
          <p:cNvSpPr txBox="1"/>
          <p:nvPr/>
        </p:nvSpPr>
        <p:spPr>
          <a:xfrm>
            <a:off x="8458200" y="3343275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审核</a:t>
            </a:r>
            <a:r>
              <a:rPr lang="en-US"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3 · </a:t>
            </a:r>
            <a:r>
              <a:rPr lang="zh-CN"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挑片段</a:t>
            </a:r>
            <a:endParaRPr lang="zh-CN" sz="9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9" name="圆角矩形 918"/>
          <p:cNvSpPr/>
          <p:nvPr/>
        </p:nvSpPr>
        <p:spPr>
          <a:xfrm>
            <a:off x="609600" y="3981450"/>
            <a:ext cx="10972800" cy="93345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0A1128"/>
              </a:gs>
              <a:gs pos="60000">
                <a:srgbClr val="16233F"/>
              </a:gs>
              <a:gs pos="100000">
                <a:srgbClr val="312E81"/>
              </a:gs>
            </a:gsLst>
            <a:lin ang="1800000" scaled="1"/>
          </a:gradFill>
          <a:effectLst>
            <a:outerShdw blurRad="285750" dist="95250" dir="5400000">
              <a:srgbClr val="0F172A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920" name="圆角矩形 919"/>
          <p:cNvSpPr/>
          <p:nvPr/>
        </p:nvSpPr>
        <p:spPr>
          <a:xfrm>
            <a:off x="876300" y="4229100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4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21" name="图片 9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0125" y="4352925"/>
            <a:ext cx="200025" cy="200025"/>
          </a:xfrm>
          <a:prstGeom prst="rect">
            <a:avLst/>
          </a:prstGeom>
        </p:spPr>
      </p:pic>
      <p:sp>
        <p:nvSpPr>
          <p:cNvPr id="922" name="文本框 921" descr="{&quot;isTemplate&quot;:true,&quot;type&quot;:&quot;text&quot;}"/>
          <p:cNvSpPr txBox="1"/>
          <p:nvPr/>
        </p:nvSpPr>
        <p:spPr>
          <a:xfrm>
            <a:off x="1543050" y="4191000"/>
            <a:ext cx="97726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设计理念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3" name="文本框 922" descr="{&quot;isTemplate&quot;:true,&quot;type&quot;:&quot;text&quot;}"/>
          <p:cNvSpPr txBox="1"/>
          <p:nvPr/>
        </p:nvSpPr>
        <p:spPr>
          <a:xfrm>
            <a:off x="1543050" y="4457700"/>
            <a:ext cx="97726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不确定性压在便宜的</a:t>
            </a:r>
            <a:r>
              <a:rPr lang="zh-CN" sz="1015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静帧阶段</a:t>
            </a:r>
            <a:r>
              <a:rPr lang="zh-CN" sz="101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，视频环节只让模型「动一下」，剪辑节奏交给合成。</a:t>
            </a:r>
            <a:endParaRPr lang="zh-CN" sz="101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4" name="圆角矩形 923"/>
          <p:cNvSpPr/>
          <p:nvPr/>
        </p:nvSpPr>
        <p:spPr>
          <a:xfrm>
            <a:off x="609600" y="5295900"/>
            <a:ext cx="3571875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925" name="文本框 924" descr="{&quot;isTemplate&quot;:true,&quot;type&quot;:&quot;text&quot;}"/>
          <p:cNvSpPr txBox="1"/>
          <p:nvPr/>
        </p:nvSpPr>
        <p:spPr>
          <a:xfrm>
            <a:off x="800100" y="5429250"/>
            <a:ext cx="1809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22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6" name="文本框 925" descr="{&quot;isTemplate&quot;:true,&quot;type&quot;:&quot;text&quot;}"/>
          <p:cNvSpPr txBox="1"/>
          <p:nvPr/>
        </p:nvSpPr>
        <p:spPr>
          <a:xfrm>
            <a:off x="1114425" y="5438775"/>
            <a:ext cx="2305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阶段</a:t>
            </a:r>
            <a:endParaRPr lang="zh-CN" sz="101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7" name="文本框 926" descr="{&quot;isTemplate&quot;:true,&quot;type&quot;:&quot;text&quot;}"/>
          <p:cNvSpPr txBox="1"/>
          <p:nvPr/>
        </p:nvSpPr>
        <p:spPr>
          <a:xfrm>
            <a:off x="1114425" y="5638800"/>
            <a:ext cx="23050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建期</a:t>
            </a:r>
            <a:r>
              <a:rPr lang="en-US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脚本</a:t>
            </a:r>
            <a:r>
              <a:rPr lang="en-US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资产</a:t>
            </a:r>
            <a:r>
              <a:rPr lang="en-US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关键帧</a:t>
            </a:r>
            <a:r>
              <a:rPr lang="en-US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视频</a:t>
            </a:r>
            <a:r>
              <a:rPr lang="en-US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合成</a:t>
            </a:r>
            <a:endParaRPr lang="zh-CN" sz="86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8" name="圆角矩形 927"/>
          <p:cNvSpPr/>
          <p:nvPr/>
        </p:nvSpPr>
        <p:spPr>
          <a:xfrm>
            <a:off x="4314825" y="5295900"/>
            <a:ext cx="356235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929" name="文本框 928" descr="{&quot;isTemplate&quot;:true,&quot;type&quot;:&quot;text&quot;}"/>
          <p:cNvSpPr txBox="1"/>
          <p:nvPr/>
        </p:nvSpPr>
        <p:spPr>
          <a:xfrm>
            <a:off x="4505325" y="5429250"/>
            <a:ext cx="1809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22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0" name="文本框 929" descr="{&quot;isTemplate&quot;:true,&quot;type&quot;:&quot;text&quot;}"/>
          <p:cNvSpPr txBox="1"/>
          <p:nvPr/>
        </p:nvSpPr>
        <p:spPr>
          <a:xfrm>
            <a:off x="4819650" y="5438775"/>
            <a:ext cx="1981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审核点</a:t>
            </a:r>
            <a:endParaRPr lang="zh-CN" sz="101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1" name="文本框 930" descr="{&quot;isTemplate&quot;:true,&quot;type&quot;:&quot;text&quot;}"/>
          <p:cNvSpPr txBox="1"/>
          <p:nvPr/>
        </p:nvSpPr>
        <p:spPr>
          <a:xfrm>
            <a:off x="4819650" y="5638800"/>
            <a:ext cx="19812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脚本</a:t>
            </a:r>
            <a:r>
              <a:rPr lang="en-US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关键帧</a:t>
            </a:r>
            <a:r>
              <a:rPr lang="en-US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片段，全部可改、可重跑</a:t>
            </a:r>
            <a:endParaRPr lang="zh-CN" sz="86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2" name="圆角矩形 931"/>
          <p:cNvSpPr/>
          <p:nvPr/>
        </p:nvSpPr>
        <p:spPr>
          <a:xfrm>
            <a:off x="8010525" y="5295900"/>
            <a:ext cx="3571875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933" name="文本框 932" descr="{&quot;isTemplate&quot;:true,&quot;type&quot;:&quot;text&quot;}"/>
          <p:cNvSpPr txBox="1"/>
          <p:nvPr/>
        </p:nvSpPr>
        <p:spPr>
          <a:xfrm>
            <a:off x="8201025" y="5429250"/>
            <a:ext cx="1809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22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4" name="文本框 933" descr="{&quot;isTemplate&quot;:true,&quot;type&quot;:&quot;text&quot;}"/>
          <p:cNvSpPr txBox="1"/>
          <p:nvPr/>
        </p:nvSpPr>
        <p:spPr>
          <a:xfrm>
            <a:off x="8515350" y="5438775"/>
            <a:ext cx="2314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秒一镜</a:t>
            </a:r>
            <a:endParaRPr lang="zh-CN" sz="101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5" name="文本框 934" descr="{&quot;isTemplate&quot;:true,&quot;type&quot;:&quot;text&quot;}"/>
          <p:cNvSpPr txBox="1"/>
          <p:nvPr/>
        </p:nvSpPr>
        <p:spPr>
          <a:xfrm>
            <a:off x="8515350" y="5638800"/>
            <a:ext cx="23145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片段全部通过后进入</a:t>
            </a:r>
            <a:r>
              <a:rPr lang="en-US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compose_ready </a:t>
            </a: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合成设置</a:t>
            </a:r>
            <a:endParaRPr lang="zh-CN" sz="86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6" name="圆角矩形 935"/>
          <p:cNvSpPr/>
          <p:nvPr/>
        </p:nvSpPr>
        <p:spPr>
          <a:xfrm>
            <a:off x="609600" y="6496050"/>
            <a:ext cx="171450" cy="171450"/>
          </a:xfrm>
          <a:prstGeom prst="roundRect">
            <a:avLst>
              <a:gd name="adj" fmla="val 27778"/>
            </a:avLst>
          </a:prstGeom>
          <a:gradFill>
            <a:gsLst>
              <a:gs pos="0">
                <a:srgbClr val="60A5FA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937" name="文本框 936" descr="{&quot;isTemplate&quot;:true,&quot;type&quot;:&quot;text&quot;}"/>
          <p:cNvSpPr txBox="1"/>
          <p:nvPr/>
        </p:nvSpPr>
        <p:spPr>
          <a:xfrm>
            <a:off x="647700" y="6524625"/>
            <a:ext cx="952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旅</a:t>
            </a:r>
            <a:endParaRPr lang="zh-CN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8" name="文本框 937" descr="{&quot;isTemplate&quot;:true,&quot;type&quot;:&quot;text&quot;}"/>
          <p:cNvSpPr txBox="1"/>
          <p:nvPr/>
        </p:nvSpPr>
        <p:spPr>
          <a:xfrm>
            <a:off x="857250" y="6515100"/>
            <a:ext cx="1990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Kelvoy · AI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9" name="文本框 938" descr="{&quot;isTemplate&quot;:true,&quot;type&quot;:&quot;text&quot;}"/>
          <p:cNvSpPr txBox="1"/>
          <p:nvPr/>
        </p:nvSpPr>
        <p:spPr>
          <a:xfrm>
            <a:off x="11191875" y="6515100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08 / 19</a:t>
            </a:r>
            <a:endParaRPr lang="en-US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0" name="" descr="&lt;Slide padding='0'&gt;&#10;    &lt;Box style={{ position: 'absolute', top: 0, left: 0, width: '1280px', height: '720px', background: '#F6F8FB' }} /&gt;&#10;    &lt;Box style={{ position: 'absolute', top: 0, left: 0, width: '1280px', height: '4px', background: 'linear-gradient(90deg,#2563EB 0%,#7C3AED 100%)' }} /&gt;&#10;&#10;    &lt;Box style={{ position: 'absolute', top: '42px', left: '64px', right: '64px', flexDirection: 'row', justifyContent: 'space-between', alignItems: 'center' }}&gt;&#10;        &lt;Text style={{ fontSize: '12px', fontWeight: '700', color: '#2563EB', letterSpacing: '2px' }}&gt;02 · 产品与体验&lt;/Text&gt;&#10;        &lt;Text style={{ fontSize: '11px', color: '#8A97AB', letterSpacing: '3px' }}&gt;TWO PATHS&lt;/Text&gt;&#10;    &lt;/Box&gt;&#10;    &lt;Text style={{ position: 'absolute', top: '68px', left: '64px', fontSize: '34px', fontWeight: 'bold', color: '#0B1220' }}&gt;&#10;        默认&lt;span style={{ color: '#2563EB' }}&gt;直出视频&lt;/span&gt;，需要精修再走关键帧&#10;    &lt;/Text&gt;&#10;    &lt;Box style={{ position: 'absolute', top: '116px', left: '64px', width: '44px', height: '4px', borderRadius: '2px', background: 'linear-gradient(90deg,#2563EB,#7C3AED)' }} /&gt;&#10;&#10;    &lt;Box style={{ position: 'absolute', top: '150px', left: '64px', right: '64px', flexDirection: 'row', gap: '24px' }}&gt;&#10;        {[&#10;            {&#10;                tag: '推荐', title: '直出视频（新项目默认）', code: 'video_source: references',&#10;                color: '#2563EB', bg: '#EFF4FE', bd: '#C7D7FA',&#10;                flow: ['脚本审核', '素材检查', '视频生成', '片段审核'],&#10;                bullets: [&#10;                    '角色第一张参考图 + 地标第一张实景图，按序送 MiniMax H3 双参考图生视频',&#10;                    '跳过图片候选与关键帧审核，不产生图片积分',&#10;                    '生成 3–5 秒素材，用户截取严格 1 秒',&#10;                ],&#10;                foot: '路径最短 · 成本最低 · 适合批量出片',&#10;            },&#10;            {&#10;                tag: '精修', title: '关键帧（传统路径）', code: 'video_source: keyframe',&#10;                color: '#F59E0B', bg: '#FEF6E7', bd: '#F5DFAE',&#10;                flow: ['脚本审核', '关键帧候选', '挑图', '视频', '片段审核'],&#10;                bullets: [&#10;                    '每镜 1–3 张候选（Qwen-Image 2.1，角色 / 地标双参考）',&#10;                    '人工逐镜挑图，可改 prompt 后重生成',&#10;                    '选定的关键帧作为首帧图生视频（MiniMax H3）',&#10;                ],&#10;                foot: '逐镜可控 · 画面可精修 · 适合重点一期',&#10;            },&#10;        ].map((c, i) =&gt; (&#10;            &lt;Box key={i} style={{ flex: 1, padding: '24px 26px', background: '#FFFFFF', borderRadius: '16px', border: '1px solid #E6EAF1', boxShadow: '0 4px 18px rgba(15,23,42,0.05)', flexDirection: 'column', gap: '16px' }}&gt;&#10;                &lt;Box style={{ flexDirection: 'row', alignItems: 'center', justifyContent: 'space-between' }}&gt;&#10;                    &lt;Box style={{ flexDirection: 'row', alignItems: 'center', gap: '10px' }}&gt;&#10;                        &lt;Box style={{ padding: '4px 12px', borderRadius: '999px', background: c.bg, border: `1px solid ${c.bd}` }}&gt;&#10;                            &lt;Text style={{ fontSize: '11.5px', fontWeight: 700, color: c.color, letterSpacing: '1px' }}&gt;{c.tag}&lt;/Text&gt;&#10;                        &lt;/Box&gt;&#10;                        &lt;Text style={{ fontSize: '19px', fontWeight: 'bold', color: '#0B1220' }}&gt;{c.title}&lt;/Text&gt;&#10;                    &lt;/Box&gt;&#10;                &lt;/Box&gt;&#10;                &lt;Box style={{ flexDirection: 'row', alignItems: 'center', gap: '8px' }}&gt;&#10;                    &lt;Box style={{ padding: '4px 10px', borderRadius: '6px', background: '#0B1220' }}&gt;&#10;                        &lt;Text style={{ fontSize: '11px', fontWeight: 600, color: '#93C5FD', letterSpacing: '0.5px' }}&gt;{c.code}&lt;/Text&gt;&#10;                    &lt;/Box&gt;&#10;                &lt;/Box&gt;&#10;                &lt;Box style={{ flexDirection: 'row', alignItems: 'center', gap: '6px', flexWrap: 'wrap' }}&gt;&#10;                    {c.flow.map((f, j) =&gt; (&#10;                        &lt;Box key={j} style={{ flexDirection: 'row', alignItems: 'center', gap: '6px' }}&gt;&#10;                            &lt;Box style={{ padding: '6px 12px', borderRadius: '8px', background: c.bg }}&gt;&#10;                                &lt;Text style={{ fontSize: '12px', fontWeight: 600, color: c.color }}&gt;{f}&lt;/Text&gt;&#10;                            &lt;/Box&gt;&#10;                            {j &lt; c.flow.length - 1 &amp;&amp; (&#10;                                &lt;FAIcon name='chevron-right' style={{ fill: '#94A3B8', width: '10px', height: '10px' }} /&gt;&#10;                            )}&#10;                        &lt;/Box&gt;&#10;                    ))}&#10;                &lt;/Box&gt;&#10;                &lt;Box style={{ width: '100%', height: '1px', background: '#EEF2F8' }} /&gt;&#10;                {c.bullets.map((b, j) =&gt; (&#10;                    &lt;Box key={j} style={{ flexDirection: 'row', alignItems: 'flex-start', gap: '10px' }}&gt;&#10;                        &lt;Box style={{ width: '20px', height: '20px', borderRadius: '6px', background: c.bg, justifyContent: 'center', alignItems: 'center', marginTop: '1px' }}&gt;&#10;                            &lt;Text style={{ fontSize: '11px', fontWeight: 700, color: c.color }}&gt;{j + 1}&lt;/Text&gt;&#10;                        &lt;/Box&gt;&#10;                        &lt;Text style={{ flex: 1, fontSize: '13px', color: '#42536B', lineHeight: 1.6 }}&gt;{b}&lt;/Text&gt;&#10;                    &lt;/Box&gt;&#10;                ))}&#10;                &lt;Box style={{ flexDirection: 'row', alignItems: 'center', gap: '8px', padding: '10px 14px', borderRadius: '9px', background: '#F6F8FB' }}&gt;&#10;                    &lt;FAIcon name={i === 0 ? 'bolt' : 'crosshairs'} style={{ fill: c.color, width: '13px', height: '13px' }} /&gt;&#10;                    &lt;Text style={{ fontSize: '12px', fontWeight: 600, color: '#5B6B84' }}&gt;{c.foot}&lt;/Text&gt;&#10;                &lt;/Box&gt;&#10;            &lt;/Box&gt;&#10;        ))}&#10;    &lt;/Box&gt;&#10;&#10;    &lt;Box style={{ position: 'absolute', top: '622px', left: '64px', right: '64px', flexDirection: 'row', alignItems: 'center', gap: '10px', padding: '13px 20px', borderRadius: '11px', background: '#FFFFFF', border: '1px solid #E6EAF1' }}&gt;&#10;        &lt;FAIcon name='clock-rotate-left' style={{ fill: '#8A97AB', width: '14px', height: '14px' }} /&gt;&#10;        &lt;Text style={{ fontSize: '12.5px', color: '#5B6B84' }}&gt;旧项目按原流程运行、不自动转换；旧逐镜项目可显式迁移为「新版剪辑」&lt;/Text&gt;&#10;    &lt;/Box&gt;&#10;&#10;    &lt;Box style={{ position: 'absolute', bottom: '20px', left: '64px', right: '64px', flexDirection: 'row', justifyContent: 'space-between', alignItems: 'center' }}&gt;&#10;        &lt;Box style={{ flexDirection: 'row', alignItems: 'center', gap: '8px' }}&gt;&#10;            &lt;Box style={{ width: '18px', height: '18px', borderRadius: '5px', background: 'linear-gradient(135deg,#60A5FA,#2563EB)', justifyContent: 'center', alignItems: 'center' }}&gt;&#10;                &lt;Text style={{ fontSize: '10px', fontWeight: 'bold', color: '#FFFFFF' }}&gt;旅&lt;/Text&gt;&#10;            &lt;/Box&gt;&#10;            &lt;Text style={{ fontSize: '12px', color: '#8A97AB' }}&gt;可旅 Kelvoy · AI 旅行 Vlog 生产工作台&lt;/Text&gt;&#10;        &lt;/Box&gt;&#10;        &lt;Text style={{ fontSize: '12px', color: '#8A97AB' }}&gt;09 / 1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矩形 9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</p:spPr>
        <p:txBody>
          <a:bodyPr/>
          <a:p/>
        </p:txBody>
      </p:sp>
      <p:sp>
        <p:nvSpPr>
          <p:cNvPr id="942" name="矩形 94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943" name="文本框 942" descr="{&quot;isTemplate&quot;:true,&quot;type&quot;:&quot;text&quot;}"/>
          <p:cNvSpPr txBox="1"/>
          <p:nvPr/>
        </p:nvSpPr>
        <p:spPr>
          <a:xfrm>
            <a:off x="609600" y="400050"/>
            <a:ext cx="1028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02 · </a:t>
            </a:r>
            <a:r>
              <a:rPr lang="zh-CN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产品与体验</a:t>
            </a:r>
            <a:endParaRPr lang="zh-CN" sz="900" b="1" spc="1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4" name="文本框 943" descr="{&quot;isTemplate&quot;:true,&quot;type&quot;:&quot;text&quot;}"/>
          <p:cNvSpPr txBox="1"/>
          <p:nvPr/>
        </p:nvSpPr>
        <p:spPr>
          <a:xfrm>
            <a:off x="10696575" y="409575"/>
            <a:ext cx="8858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22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TWO PATHS</a:t>
            </a:r>
            <a:endParaRPr lang="en-US" sz="825" spc="22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5" name="文本框 944" descr="{&quot;isTemplate&quot;:true,&quot;type&quot;:&quot;text&quot;}"/>
          <p:cNvSpPr txBox="1"/>
          <p:nvPr/>
        </p:nvSpPr>
        <p:spPr>
          <a:xfrm>
            <a:off x="609600" y="647700"/>
            <a:ext cx="51816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zh-CN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直出视频</a:t>
            </a:r>
            <a:r>
              <a:rPr lang="zh-CN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，需要精修再走关键帧</a:t>
            </a:r>
            <a:endParaRPr lang="zh-CN" sz="255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6" name="圆角矩形 945"/>
          <p:cNvSpPr/>
          <p:nvPr/>
        </p:nvSpPr>
        <p:spPr>
          <a:xfrm>
            <a:off x="609600" y="1104900"/>
            <a:ext cx="4191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947" name="圆角矩形 946"/>
          <p:cNvSpPr/>
          <p:nvPr/>
        </p:nvSpPr>
        <p:spPr>
          <a:xfrm>
            <a:off x="609600" y="1428750"/>
            <a:ext cx="5372100" cy="3267075"/>
          </a:xfrm>
          <a:prstGeom prst="roundRect">
            <a:avLst>
              <a:gd name="adj" fmla="val 466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71450" dist="3810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948" name="圆角矩形 947"/>
          <p:cNvSpPr/>
          <p:nvPr/>
        </p:nvSpPr>
        <p:spPr>
          <a:xfrm>
            <a:off x="857250" y="1666875"/>
            <a:ext cx="466725" cy="209550"/>
          </a:xfrm>
          <a:prstGeom prst="roundRect">
            <a:avLst>
              <a:gd name="adj" fmla="val 4540909"/>
            </a:avLst>
          </a:prstGeom>
          <a:solidFill>
            <a:srgbClr val="EFF4FE"/>
          </a:solidFill>
          <a:ln w="12700">
            <a:solidFill>
              <a:srgbClr val="C7D7FA"/>
            </a:solidFill>
            <a:prstDash val="solid"/>
          </a:ln>
        </p:spPr>
        <p:txBody>
          <a:bodyPr/>
          <a:p/>
        </p:txBody>
      </p:sp>
      <p:sp>
        <p:nvSpPr>
          <p:cNvPr id="949" name="文本框 948" descr="{&quot;isTemplate&quot;:true,&quot;type&quot;:&quot;text&quot;}"/>
          <p:cNvSpPr txBox="1"/>
          <p:nvPr/>
        </p:nvSpPr>
        <p:spPr>
          <a:xfrm>
            <a:off x="971550" y="1704975"/>
            <a:ext cx="2381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 b="1" spc="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推荐</a:t>
            </a:r>
            <a:endParaRPr lang="zh-CN" sz="865" b="1" spc="75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0" name="文本框 949" descr="{&quot;isTemplate&quot;:true,&quot;type&quot;:&quot;text&quot;}"/>
          <p:cNvSpPr txBox="1"/>
          <p:nvPr/>
        </p:nvSpPr>
        <p:spPr>
          <a:xfrm>
            <a:off x="1419225" y="1657350"/>
            <a:ext cx="19907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直出视频（新项目默认）</a:t>
            </a:r>
            <a:endParaRPr lang="zh-CN" sz="142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1" name="圆角矩形 950"/>
          <p:cNvSpPr/>
          <p:nvPr/>
        </p:nvSpPr>
        <p:spPr>
          <a:xfrm>
            <a:off x="857250" y="2028825"/>
            <a:ext cx="1609725" cy="209550"/>
          </a:xfrm>
          <a:prstGeom prst="roundRect">
            <a:avLst>
              <a:gd name="adj" fmla="val 27273"/>
            </a:avLst>
          </a:prstGeom>
          <a:solidFill>
            <a:srgbClr val="0B1220"/>
          </a:solidFill>
        </p:spPr>
        <p:txBody>
          <a:bodyPr/>
          <a:p/>
        </p:txBody>
      </p:sp>
      <p:sp>
        <p:nvSpPr>
          <p:cNvPr id="952" name="文本框 951" descr="{&quot;isTemplate&quot;:true,&quot;type&quot;:&quot;text&quot;}"/>
          <p:cNvSpPr txBox="1"/>
          <p:nvPr/>
        </p:nvSpPr>
        <p:spPr>
          <a:xfrm>
            <a:off x="952500" y="2066925"/>
            <a:ext cx="14192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38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video_source: references</a:t>
            </a:r>
            <a:endParaRPr lang="en-US" sz="825" b="1" spc="38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3" name="圆角矩形 952"/>
          <p:cNvSpPr/>
          <p:nvPr/>
        </p:nvSpPr>
        <p:spPr>
          <a:xfrm>
            <a:off x="857250" y="2390775"/>
            <a:ext cx="685800" cy="257175"/>
          </a:xfrm>
          <a:prstGeom prst="roundRect">
            <a:avLst>
              <a:gd name="adj" fmla="val 29630"/>
            </a:avLst>
          </a:prstGeom>
          <a:solidFill>
            <a:srgbClr val="EFF4FE"/>
          </a:solidFill>
        </p:spPr>
        <p:txBody>
          <a:bodyPr/>
          <a:p/>
        </p:txBody>
      </p:sp>
      <p:sp>
        <p:nvSpPr>
          <p:cNvPr id="954" name="文本框 953" descr="{&quot;isTemplate&quot;:true,&quot;type&quot;:&quot;text&quot;}"/>
          <p:cNvSpPr txBox="1"/>
          <p:nvPr/>
        </p:nvSpPr>
        <p:spPr>
          <a:xfrm>
            <a:off x="971550" y="244792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脚本审核</a:t>
            </a:r>
            <a:endParaRPr lang="zh-CN" sz="9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55" name="图片 95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0200" y="2476500"/>
            <a:ext cx="95250" cy="95250"/>
          </a:xfrm>
          <a:prstGeom prst="rect">
            <a:avLst/>
          </a:prstGeom>
        </p:spPr>
      </p:pic>
      <p:sp>
        <p:nvSpPr>
          <p:cNvPr id="956" name="圆角矩形 955"/>
          <p:cNvSpPr/>
          <p:nvPr/>
        </p:nvSpPr>
        <p:spPr>
          <a:xfrm>
            <a:off x="1752600" y="2390775"/>
            <a:ext cx="685800" cy="257175"/>
          </a:xfrm>
          <a:prstGeom prst="roundRect">
            <a:avLst>
              <a:gd name="adj" fmla="val 29630"/>
            </a:avLst>
          </a:prstGeom>
          <a:solidFill>
            <a:srgbClr val="EFF4FE"/>
          </a:solidFill>
        </p:spPr>
        <p:txBody>
          <a:bodyPr/>
          <a:p/>
        </p:txBody>
      </p:sp>
      <p:sp>
        <p:nvSpPr>
          <p:cNvPr id="957" name="文本框 956" descr="{&quot;isTemplate&quot;:true,&quot;type&quot;:&quot;text&quot;}"/>
          <p:cNvSpPr txBox="1"/>
          <p:nvPr/>
        </p:nvSpPr>
        <p:spPr>
          <a:xfrm>
            <a:off x="1866900" y="244792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素材检查</a:t>
            </a:r>
            <a:endParaRPr lang="zh-CN" sz="9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58" name="图片 95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95550" y="2476500"/>
            <a:ext cx="95250" cy="95250"/>
          </a:xfrm>
          <a:prstGeom prst="rect">
            <a:avLst/>
          </a:prstGeom>
        </p:spPr>
      </p:pic>
      <p:sp>
        <p:nvSpPr>
          <p:cNvPr id="959" name="圆角矩形 958"/>
          <p:cNvSpPr/>
          <p:nvPr/>
        </p:nvSpPr>
        <p:spPr>
          <a:xfrm>
            <a:off x="2647950" y="2390775"/>
            <a:ext cx="685800" cy="257175"/>
          </a:xfrm>
          <a:prstGeom prst="roundRect">
            <a:avLst>
              <a:gd name="adj" fmla="val 29630"/>
            </a:avLst>
          </a:prstGeom>
          <a:solidFill>
            <a:srgbClr val="EFF4FE"/>
          </a:solidFill>
        </p:spPr>
        <p:txBody>
          <a:bodyPr/>
          <a:p/>
        </p:txBody>
      </p:sp>
      <p:sp>
        <p:nvSpPr>
          <p:cNvPr id="960" name="文本框 959" descr="{&quot;isTemplate&quot;:true,&quot;type&quot;:&quot;text&quot;}"/>
          <p:cNvSpPr txBox="1"/>
          <p:nvPr/>
        </p:nvSpPr>
        <p:spPr>
          <a:xfrm>
            <a:off x="2762250" y="244792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视频生成</a:t>
            </a:r>
            <a:endParaRPr lang="zh-CN" sz="9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61" name="图片 96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90900" y="2476500"/>
            <a:ext cx="95250" cy="95250"/>
          </a:xfrm>
          <a:prstGeom prst="rect">
            <a:avLst/>
          </a:prstGeom>
        </p:spPr>
      </p:pic>
      <p:sp>
        <p:nvSpPr>
          <p:cNvPr id="962" name="圆角矩形 961"/>
          <p:cNvSpPr/>
          <p:nvPr/>
        </p:nvSpPr>
        <p:spPr>
          <a:xfrm>
            <a:off x="3543300" y="2390775"/>
            <a:ext cx="685800" cy="257175"/>
          </a:xfrm>
          <a:prstGeom prst="roundRect">
            <a:avLst>
              <a:gd name="adj" fmla="val 29630"/>
            </a:avLst>
          </a:prstGeom>
          <a:solidFill>
            <a:srgbClr val="EFF4FE"/>
          </a:solidFill>
        </p:spPr>
        <p:txBody>
          <a:bodyPr/>
          <a:p/>
        </p:txBody>
      </p:sp>
      <p:sp>
        <p:nvSpPr>
          <p:cNvPr id="963" name="文本框 962" descr="{&quot;isTemplate&quot;:true,&quot;type&quot;:&quot;text&quot;}"/>
          <p:cNvSpPr txBox="1"/>
          <p:nvPr/>
        </p:nvSpPr>
        <p:spPr>
          <a:xfrm>
            <a:off x="3657600" y="244792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片段审核</a:t>
            </a:r>
            <a:endParaRPr lang="zh-CN" sz="9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4" name="矩形 963"/>
          <p:cNvSpPr/>
          <p:nvPr/>
        </p:nvSpPr>
        <p:spPr>
          <a:xfrm>
            <a:off x="857250" y="2800350"/>
            <a:ext cx="4876800" cy="9525"/>
          </a:xfrm>
          <a:prstGeom prst="rect">
            <a:avLst/>
          </a:prstGeom>
          <a:solidFill>
            <a:srgbClr val="EEF2F8"/>
          </a:solidFill>
        </p:spPr>
        <p:txBody>
          <a:bodyPr/>
          <a:p/>
        </p:txBody>
      </p:sp>
      <p:sp>
        <p:nvSpPr>
          <p:cNvPr id="965" name="圆角矩形 964"/>
          <p:cNvSpPr/>
          <p:nvPr/>
        </p:nvSpPr>
        <p:spPr>
          <a:xfrm>
            <a:off x="857250" y="297180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EFF4FE"/>
          </a:solidFill>
        </p:spPr>
        <p:txBody>
          <a:bodyPr/>
          <a:p/>
        </p:txBody>
      </p:sp>
      <p:sp>
        <p:nvSpPr>
          <p:cNvPr id="966" name="文本框 965" descr="{&quot;isTemplate&quot;:true,&quot;type&quot;:&quot;text&quot;}"/>
          <p:cNvSpPr txBox="1"/>
          <p:nvPr/>
        </p:nvSpPr>
        <p:spPr>
          <a:xfrm>
            <a:off x="923925" y="3000375"/>
            <a:ext cx="666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8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7" name="文本框 966" descr="{&quot;isTemplate&quot;:true,&quot;type&quot;:&quot;text&quot;}"/>
          <p:cNvSpPr txBox="1"/>
          <p:nvPr/>
        </p:nvSpPr>
        <p:spPr>
          <a:xfrm>
            <a:off x="1143000" y="2962275"/>
            <a:ext cx="45910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角色第一张参考图</a:t>
            </a:r>
            <a:r>
              <a:rPr lang="en-US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地标第一张实景图，按序送</a:t>
            </a:r>
            <a:r>
              <a:rPr lang="en-US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 MiniMax H3 </a:t>
            </a:r>
            <a:r>
              <a:rPr lang="zh-CN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双参考图生视频</a:t>
            </a:r>
            <a:endParaRPr lang="zh-CN" sz="975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8" name="圆角矩形 967"/>
          <p:cNvSpPr/>
          <p:nvPr/>
        </p:nvSpPr>
        <p:spPr>
          <a:xfrm>
            <a:off x="857250" y="3362325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EFF4FE"/>
          </a:solidFill>
        </p:spPr>
        <p:txBody>
          <a:bodyPr/>
          <a:p/>
        </p:txBody>
      </p:sp>
      <p:sp>
        <p:nvSpPr>
          <p:cNvPr id="969" name="文本框 968" descr="{&quot;isTemplate&quot;:true,&quot;type&quot;:&quot;text&quot;}"/>
          <p:cNvSpPr txBox="1"/>
          <p:nvPr/>
        </p:nvSpPr>
        <p:spPr>
          <a:xfrm>
            <a:off x="923925" y="3390900"/>
            <a:ext cx="666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8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0" name="文本框 969" descr="{&quot;isTemplate&quot;:true,&quot;type&quot;:&quot;text&quot;}"/>
          <p:cNvSpPr txBox="1"/>
          <p:nvPr/>
        </p:nvSpPr>
        <p:spPr>
          <a:xfrm>
            <a:off x="1143000" y="3352800"/>
            <a:ext cx="45910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跳过图片候选与关键帧审核，不产生图片积分</a:t>
            </a:r>
            <a:endParaRPr lang="zh-CN" sz="975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1" name="圆角矩形 970"/>
          <p:cNvSpPr/>
          <p:nvPr/>
        </p:nvSpPr>
        <p:spPr>
          <a:xfrm>
            <a:off x="857250" y="375285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EFF4FE"/>
          </a:solidFill>
        </p:spPr>
        <p:txBody>
          <a:bodyPr/>
          <a:p/>
        </p:txBody>
      </p:sp>
      <p:sp>
        <p:nvSpPr>
          <p:cNvPr id="972" name="文本框 971" descr="{&quot;isTemplate&quot;:true,&quot;type&quot;:&quot;text&quot;}"/>
          <p:cNvSpPr txBox="1"/>
          <p:nvPr/>
        </p:nvSpPr>
        <p:spPr>
          <a:xfrm>
            <a:off x="923925" y="3781425"/>
            <a:ext cx="666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8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3" name="文本框 972" descr="{&quot;isTemplate&quot;:true,&quot;type&quot;:&quot;text&quot;}"/>
          <p:cNvSpPr txBox="1"/>
          <p:nvPr/>
        </p:nvSpPr>
        <p:spPr>
          <a:xfrm>
            <a:off x="1143000" y="3743325"/>
            <a:ext cx="45910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生成</a:t>
            </a:r>
            <a:r>
              <a:rPr lang="en-US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 3–4 </a:t>
            </a:r>
            <a:r>
              <a:rPr lang="zh-CN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秒素材，用户截取</a:t>
            </a:r>
            <a:endParaRPr lang="zh-CN" sz="975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4" name="圆角矩形 973"/>
          <p:cNvSpPr/>
          <p:nvPr/>
        </p:nvSpPr>
        <p:spPr>
          <a:xfrm>
            <a:off x="857250" y="4133850"/>
            <a:ext cx="4876800" cy="333375"/>
          </a:xfrm>
          <a:prstGeom prst="roundRect">
            <a:avLst>
              <a:gd name="adj" fmla="val 25714"/>
            </a:avLst>
          </a:prstGeom>
          <a:solidFill>
            <a:srgbClr val="F6F8FB"/>
          </a:solidFill>
        </p:spPr>
        <p:txBody>
          <a:bodyPr/>
          <a:p/>
        </p:txBody>
      </p:sp>
      <p:pic>
        <p:nvPicPr>
          <p:cNvPr id="975" name="图片 97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600" y="4238625"/>
            <a:ext cx="123825" cy="123825"/>
          </a:xfrm>
          <a:prstGeom prst="rect">
            <a:avLst/>
          </a:prstGeom>
        </p:spPr>
      </p:pic>
      <p:sp>
        <p:nvSpPr>
          <p:cNvPr id="976" name="文本框 975" descr="{&quot;isTemplate&quot;:true,&quot;type&quot;:&quot;text&quot;}"/>
          <p:cNvSpPr txBox="1"/>
          <p:nvPr/>
        </p:nvSpPr>
        <p:spPr>
          <a:xfrm>
            <a:off x="1190625" y="4229100"/>
            <a:ext cx="18383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路径最短</a:t>
            </a:r>
            <a:r>
              <a:rPr lang="en-US" sz="900" b="1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b="1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成本最低</a:t>
            </a:r>
            <a:r>
              <a:rPr lang="en-US" sz="900" b="1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b="1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适合批量出片</a:t>
            </a:r>
            <a:endParaRPr lang="zh-CN" sz="900" b="1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7" name="圆角矩形 976"/>
          <p:cNvSpPr/>
          <p:nvPr/>
        </p:nvSpPr>
        <p:spPr>
          <a:xfrm>
            <a:off x="6210300" y="1428750"/>
            <a:ext cx="5372100" cy="3267075"/>
          </a:xfrm>
          <a:prstGeom prst="roundRect">
            <a:avLst>
              <a:gd name="adj" fmla="val 466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71450" dist="3810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978" name="圆角矩形 977"/>
          <p:cNvSpPr/>
          <p:nvPr/>
        </p:nvSpPr>
        <p:spPr>
          <a:xfrm>
            <a:off x="6457950" y="1666875"/>
            <a:ext cx="466725" cy="209550"/>
          </a:xfrm>
          <a:prstGeom prst="roundRect">
            <a:avLst>
              <a:gd name="adj" fmla="val 4540909"/>
            </a:avLst>
          </a:prstGeom>
          <a:solidFill>
            <a:srgbClr val="FEF6E7"/>
          </a:solidFill>
          <a:ln w="12700">
            <a:solidFill>
              <a:srgbClr val="F5DFAE"/>
            </a:solidFill>
            <a:prstDash val="solid"/>
          </a:ln>
        </p:spPr>
        <p:txBody>
          <a:bodyPr/>
          <a:p/>
        </p:txBody>
      </p:sp>
      <p:sp>
        <p:nvSpPr>
          <p:cNvPr id="979" name="文本框 978" descr="{&quot;isTemplate&quot;:true,&quot;type&quot;:&quot;text&quot;}"/>
          <p:cNvSpPr txBox="1"/>
          <p:nvPr/>
        </p:nvSpPr>
        <p:spPr>
          <a:xfrm>
            <a:off x="6572250" y="1704975"/>
            <a:ext cx="2381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 b="1" spc="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精修</a:t>
            </a:r>
            <a:endParaRPr lang="zh-CN" sz="865" b="1" spc="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0" name="文本框 979" descr="{&quot;isTemplate&quot;:true,&quot;type&quot;:&quot;text&quot;}"/>
          <p:cNvSpPr txBox="1"/>
          <p:nvPr/>
        </p:nvSpPr>
        <p:spPr>
          <a:xfrm>
            <a:off x="7019925" y="1657350"/>
            <a:ext cx="16287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关键帧（传统路径）</a:t>
            </a:r>
            <a:endParaRPr lang="zh-CN" sz="142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1" name="圆角矩形 980"/>
          <p:cNvSpPr/>
          <p:nvPr/>
        </p:nvSpPr>
        <p:spPr>
          <a:xfrm>
            <a:off x="6457950" y="2028825"/>
            <a:ext cx="1543050" cy="209550"/>
          </a:xfrm>
          <a:prstGeom prst="roundRect">
            <a:avLst>
              <a:gd name="adj" fmla="val 27273"/>
            </a:avLst>
          </a:prstGeom>
          <a:solidFill>
            <a:srgbClr val="0B1220"/>
          </a:solidFill>
        </p:spPr>
        <p:txBody>
          <a:bodyPr/>
          <a:p/>
        </p:txBody>
      </p:sp>
      <p:sp>
        <p:nvSpPr>
          <p:cNvPr id="982" name="文本框 981" descr="{&quot;isTemplate&quot;:true,&quot;type&quot;:&quot;text&quot;}"/>
          <p:cNvSpPr txBox="1"/>
          <p:nvPr/>
        </p:nvSpPr>
        <p:spPr>
          <a:xfrm>
            <a:off x="6553200" y="2066925"/>
            <a:ext cx="13525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38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video_source: keyframe</a:t>
            </a:r>
            <a:endParaRPr lang="en-US" sz="825" b="1" spc="38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3" name="圆角矩形 982"/>
          <p:cNvSpPr/>
          <p:nvPr/>
        </p:nvSpPr>
        <p:spPr>
          <a:xfrm>
            <a:off x="6457950" y="2390775"/>
            <a:ext cx="685800" cy="257175"/>
          </a:xfrm>
          <a:prstGeom prst="roundRect">
            <a:avLst>
              <a:gd name="adj" fmla="val 29630"/>
            </a:avLst>
          </a:prstGeom>
          <a:solidFill>
            <a:srgbClr val="FEF6E7"/>
          </a:solidFill>
        </p:spPr>
        <p:txBody>
          <a:bodyPr/>
          <a:p/>
        </p:txBody>
      </p:sp>
      <p:sp>
        <p:nvSpPr>
          <p:cNvPr id="984" name="文本框 983" descr="{&quot;isTemplate&quot;:true,&quot;type&quot;:&quot;text&quot;}"/>
          <p:cNvSpPr txBox="1"/>
          <p:nvPr/>
        </p:nvSpPr>
        <p:spPr>
          <a:xfrm>
            <a:off x="6572250" y="244792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脚本审核</a:t>
            </a:r>
            <a:endParaRPr lang="zh-CN" sz="9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85" name="图片 98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900" y="2476500"/>
            <a:ext cx="95250" cy="95250"/>
          </a:xfrm>
          <a:prstGeom prst="rect">
            <a:avLst/>
          </a:prstGeom>
        </p:spPr>
      </p:pic>
      <p:sp>
        <p:nvSpPr>
          <p:cNvPr id="986" name="圆角矩形 985"/>
          <p:cNvSpPr/>
          <p:nvPr/>
        </p:nvSpPr>
        <p:spPr>
          <a:xfrm>
            <a:off x="7353300" y="2390775"/>
            <a:ext cx="800100" cy="257175"/>
          </a:xfrm>
          <a:prstGeom prst="roundRect">
            <a:avLst>
              <a:gd name="adj" fmla="val 29630"/>
            </a:avLst>
          </a:prstGeom>
          <a:solidFill>
            <a:srgbClr val="FEF6E7"/>
          </a:solidFill>
        </p:spPr>
        <p:txBody>
          <a:bodyPr/>
          <a:p/>
        </p:txBody>
      </p:sp>
      <p:sp>
        <p:nvSpPr>
          <p:cNvPr id="987" name="文本框 986" descr="{&quot;isTemplate&quot;:true,&quot;type&quot;:&quot;text&quot;}"/>
          <p:cNvSpPr txBox="1"/>
          <p:nvPr/>
        </p:nvSpPr>
        <p:spPr>
          <a:xfrm>
            <a:off x="7467600" y="2447925"/>
            <a:ext cx="571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关键帧候选</a:t>
            </a:r>
            <a:endParaRPr lang="zh-CN" sz="9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88" name="图片 98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10550" y="2476500"/>
            <a:ext cx="95250" cy="95250"/>
          </a:xfrm>
          <a:prstGeom prst="rect">
            <a:avLst/>
          </a:prstGeom>
        </p:spPr>
      </p:pic>
      <p:sp>
        <p:nvSpPr>
          <p:cNvPr id="989" name="圆角矩形 988"/>
          <p:cNvSpPr/>
          <p:nvPr/>
        </p:nvSpPr>
        <p:spPr>
          <a:xfrm>
            <a:off x="8362950" y="2390775"/>
            <a:ext cx="457200" cy="257175"/>
          </a:xfrm>
          <a:prstGeom prst="roundRect">
            <a:avLst>
              <a:gd name="adj" fmla="val 29630"/>
            </a:avLst>
          </a:prstGeom>
          <a:solidFill>
            <a:srgbClr val="FEF6E7"/>
          </a:solidFill>
        </p:spPr>
        <p:txBody>
          <a:bodyPr/>
          <a:p/>
        </p:txBody>
      </p:sp>
      <p:sp>
        <p:nvSpPr>
          <p:cNvPr id="990" name="文本框 989" descr="{&quot;isTemplate&quot;:true,&quot;type&quot;:&quot;text&quot;}"/>
          <p:cNvSpPr txBox="1"/>
          <p:nvPr/>
        </p:nvSpPr>
        <p:spPr>
          <a:xfrm>
            <a:off x="8477250" y="2447925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挑图</a:t>
            </a:r>
            <a:endParaRPr lang="zh-CN" sz="9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91" name="图片 99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77300" y="2476500"/>
            <a:ext cx="95250" cy="95250"/>
          </a:xfrm>
          <a:prstGeom prst="rect">
            <a:avLst/>
          </a:prstGeom>
        </p:spPr>
      </p:pic>
      <p:sp>
        <p:nvSpPr>
          <p:cNvPr id="992" name="圆角矩形 991"/>
          <p:cNvSpPr/>
          <p:nvPr/>
        </p:nvSpPr>
        <p:spPr>
          <a:xfrm>
            <a:off x="9029700" y="2390775"/>
            <a:ext cx="457200" cy="257175"/>
          </a:xfrm>
          <a:prstGeom prst="roundRect">
            <a:avLst>
              <a:gd name="adj" fmla="val 29630"/>
            </a:avLst>
          </a:prstGeom>
          <a:solidFill>
            <a:srgbClr val="FEF6E7"/>
          </a:solidFill>
        </p:spPr>
        <p:txBody>
          <a:bodyPr/>
          <a:p/>
        </p:txBody>
      </p:sp>
      <p:sp>
        <p:nvSpPr>
          <p:cNvPr id="993" name="文本框 992" descr="{&quot;isTemplate&quot;:true,&quot;type&quot;:&quot;text&quot;}"/>
          <p:cNvSpPr txBox="1"/>
          <p:nvPr/>
        </p:nvSpPr>
        <p:spPr>
          <a:xfrm>
            <a:off x="9144000" y="2447925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视频</a:t>
            </a:r>
            <a:endParaRPr lang="zh-CN" sz="9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94" name="图片 99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4050" y="2476500"/>
            <a:ext cx="95250" cy="95250"/>
          </a:xfrm>
          <a:prstGeom prst="rect">
            <a:avLst/>
          </a:prstGeom>
        </p:spPr>
      </p:pic>
      <p:sp>
        <p:nvSpPr>
          <p:cNvPr id="995" name="圆角矩形 994"/>
          <p:cNvSpPr/>
          <p:nvPr/>
        </p:nvSpPr>
        <p:spPr>
          <a:xfrm>
            <a:off x="9696450" y="2390775"/>
            <a:ext cx="685800" cy="257175"/>
          </a:xfrm>
          <a:prstGeom prst="roundRect">
            <a:avLst>
              <a:gd name="adj" fmla="val 29630"/>
            </a:avLst>
          </a:prstGeom>
          <a:solidFill>
            <a:srgbClr val="FEF6E7"/>
          </a:solidFill>
        </p:spPr>
        <p:txBody>
          <a:bodyPr/>
          <a:p/>
        </p:txBody>
      </p:sp>
      <p:sp>
        <p:nvSpPr>
          <p:cNvPr id="996" name="文本框 995" descr="{&quot;isTemplate&quot;:true,&quot;type&quot;:&quot;text&quot;}"/>
          <p:cNvSpPr txBox="1"/>
          <p:nvPr/>
        </p:nvSpPr>
        <p:spPr>
          <a:xfrm>
            <a:off x="9810750" y="244792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片段审核</a:t>
            </a:r>
            <a:endParaRPr lang="zh-CN" sz="9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7" name="矩形 996"/>
          <p:cNvSpPr/>
          <p:nvPr/>
        </p:nvSpPr>
        <p:spPr>
          <a:xfrm>
            <a:off x="6457950" y="2800350"/>
            <a:ext cx="4876800" cy="9525"/>
          </a:xfrm>
          <a:prstGeom prst="rect">
            <a:avLst/>
          </a:prstGeom>
          <a:solidFill>
            <a:srgbClr val="EEF2F8"/>
          </a:solidFill>
        </p:spPr>
        <p:txBody>
          <a:bodyPr/>
          <a:p/>
        </p:txBody>
      </p:sp>
      <p:sp>
        <p:nvSpPr>
          <p:cNvPr id="998" name="圆角矩形 997"/>
          <p:cNvSpPr/>
          <p:nvPr/>
        </p:nvSpPr>
        <p:spPr>
          <a:xfrm>
            <a:off x="6457950" y="297180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EF6E7"/>
          </a:solidFill>
        </p:spPr>
        <p:txBody>
          <a:bodyPr/>
          <a:p/>
        </p:txBody>
      </p:sp>
      <p:sp>
        <p:nvSpPr>
          <p:cNvPr id="999" name="文本框 998" descr="{&quot;isTemplate&quot;:true,&quot;type&quot;:&quot;text&quot;}"/>
          <p:cNvSpPr txBox="1"/>
          <p:nvPr/>
        </p:nvSpPr>
        <p:spPr>
          <a:xfrm>
            <a:off x="6524625" y="3000375"/>
            <a:ext cx="666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8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" name="文本框 999" descr="{&quot;isTemplate&quot;:true,&quot;type&quot;:&quot;text&quot;}"/>
          <p:cNvSpPr txBox="1"/>
          <p:nvPr/>
        </p:nvSpPr>
        <p:spPr>
          <a:xfrm>
            <a:off x="6743700" y="2962275"/>
            <a:ext cx="45910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每镜</a:t>
            </a:r>
            <a:r>
              <a:rPr lang="en-US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 1–3 </a:t>
            </a:r>
            <a:r>
              <a:rPr lang="zh-CN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张候选（</a:t>
            </a:r>
            <a:r>
              <a:rPr lang="en-US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Qwen-Image 2.1</a:t>
            </a:r>
            <a:r>
              <a:rPr lang="zh-CN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，角色</a:t>
            </a:r>
            <a:r>
              <a:rPr lang="en-US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地标双参考）</a:t>
            </a:r>
            <a:endParaRPr lang="zh-CN" sz="975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1" name="圆角矩形 1000"/>
          <p:cNvSpPr/>
          <p:nvPr/>
        </p:nvSpPr>
        <p:spPr>
          <a:xfrm>
            <a:off x="6457950" y="3362325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EF6E7"/>
          </a:solidFill>
        </p:spPr>
        <p:txBody>
          <a:bodyPr/>
          <a:p/>
        </p:txBody>
      </p:sp>
      <p:sp>
        <p:nvSpPr>
          <p:cNvPr id="1002" name="文本框 1001" descr="{&quot;isTemplate&quot;:true,&quot;type&quot;:&quot;text&quot;}"/>
          <p:cNvSpPr txBox="1"/>
          <p:nvPr/>
        </p:nvSpPr>
        <p:spPr>
          <a:xfrm>
            <a:off x="6524625" y="3390900"/>
            <a:ext cx="666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8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3" name="文本框 1002" descr="{&quot;isTemplate&quot;:true,&quot;type&quot;:&quot;text&quot;}"/>
          <p:cNvSpPr txBox="1"/>
          <p:nvPr/>
        </p:nvSpPr>
        <p:spPr>
          <a:xfrm>
            <a:off x="6743700" y="3352800"/>
            <a:ext cx="45910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人工逐镜挑图，可改</a:t>
            </a:r>
            <a:r>
              <a:rPr lang="en-US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 prompt </a:t>
            </a:r>
            <a:r>
              <a:rPr lang="zh-CN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后重生成</a:t>
            </a:r>
            <a:endParaRPr lang="zh-CN" sz="975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4" name="圆角矩形 1003"/>
          <p:cNvSpPr/>
          <p:nvPr/>
        </p:nvSpPr>
        <p:spPr>
          <a:xfrm>
            <a:off x="6457950" y="375285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EF6E7"/>
          </a:solidFill>
        </p:spPr>
        <p:txBody>
          <a:bodyPr/>
          <a:p/>
        </p:txBody>
      </p:sp>
      <p:sp>
        <p:nvSpPr>
          <p:cNvPr id="1005" name="文本框 1004" descr="{&quot;isTemplate&quot;:true,&quot;type&quot;:&quot;text&quot;}"/>
          <p:cNvSpPr txBox="1"/>
          <p:nvPr/>
        </p:nvSpPr>
        <p:spPr>
          <a:xfrm>
            <a:off x="6524625" y="3781425"/>
            <a:ext cx="666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8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6" name="文本框 1005" descr="{&quot;isTemplate&quot;:true,&quot;type&quot;:&quot;text&quot;}"/>
          <p:cNvSpPr txBox="1"/>
          <p:nvPr/>
        </p:nvSpPr>
        <p:spPr>
          <a:xfrm>
            <a:off x="6743700" y="3743325"/>
            <a:ext cx="45910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选定的关键帧作为首帧图生视频（</a:t>
            </a:r>
            <a:r>
              <a:rPr lang="en-US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MiniMax H3</a:t>
            </a:r>
            <a:r>
              <a:rPr lang="zh-CN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7" name="圆角矩形 1006"/>
          <p:cNvSpPr/>
          <p:nvPr/>
        </p:nvSpPr>
        <p:spPr>
          <a:xfrm>
            <a:off x="6457950" y="4133850"/>
            <a:ext cx="4876800" cy="333375"/>
          </a:xfrm>
          <a:prstGeom prst="roundRect">
            <a:avLst>
              <a:gd name="adj" fmla="val 25714"/>
            </a:avLst>
          </a:prstGeom>
          <a:solidFill>
            <a:srgbClr val="F6F8FB"/>
          </a:solidFill>
        </p:spPr>
        <p:txBody>
          <a:bodyPr/>
          <a:p/>
        </p:txBody>
      </p:sp>
      <p:pic>
        <p:nvPicPr>
          <p:cNvPr id="1008" name="图片 100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91300" y="4238625"/>
            <a:ext cx="123825" cy="123825"/>
          </a:xfrm>
          <a:prstGeom prst="rect">
            <a:avLst/>
          </a:prstGeom>
        </p:spPr>
      </p:pic>
      <p:sp>
        <p:nvSpPr>
          <p:cNvPr id="1009" name="文本框 1008" descr="{&quot;isTemplate&quot;:true,&quot;type&quot;:&quot;text&quot;}"/>
          <p:cNvSpPr txBox="1"/>
          <p:nvPr/>
        </p:nvSpPr>
        <p:spPr>
          <a:xfrm>
            <a:off x="6791325" y="4229100"/>
            <a:ext cx="19526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逐镜可控</a:t>
            </a:r>
            <a:r>
              <a:rPr lang="en-US" sz="900" b="1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b="1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画面可精修</a:t>
            </a:r>
            <a:r>
              <a:rPr lang="en-US" sz="900" b="1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b="1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适合重点一期</a:t>
            </a:r>
            <a:endParaRPr lang="zh-CN" sz="900" b="1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0" name="圆角矩形 1009"/>
          <p:cNvSpPr/>
          <p:nvPr/>
        </p:nvSpPr>
        <p:spPr>
          <a:xfrm>
            <a:off x="609600" y="5924550"/>
            <a:ext cx="10972800" cy="390525"/>
          </a:xfrm>
          <a:prstGeom prst="roundRect">
            <a:avLst>
              <a:gd name="adj" fmla="val 26829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pic>
        <p:nvPicPr>
          <p:cNvPr id="1011" name="图片 101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0100" y="6057900"/>
            <a:ext cx="133350" cy="133350"/>
          </a:xfrm>
          <a:prstGeom prst="rect">
            <a:avLst/>
          </a:prstGeom>
        </p:spPr>
      </p:pic>
      <p:sp>
        <p:nvSpPr>
          <p:cNvPr id="1012" name="文本框 1011" descr="{&quot;isTemplate&quot;:true,&quot;type&quot;:&quot;text&quot;}"/>
          <p:cNvSpPr txBox="1"/>
          <p:nvPr/>
        </p:nvSpPr>
        <p:spPr>
          <a:xfrm>
            <a:off x="1028700" y="6048375"/>
            <a:ext cx="3933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旧项目按原流程运行、不自动转换；旧逐镜项目可显式迁移为「新版剪辑」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3" name="圆角矩形 1012"/>
          <p:cNvSpPr/>
          <p:nvPr/>
        </p:nvSpPr>
        <p:spPr>
          <a:xfrm>
            <a:off x="609600" y="6496050"/>
            <a:ext cx="171450" cy="171450"/>
          </a:xfrm>
          <a:prstGeom prst="roundRect">
            <a:avLst>
              <a:gd name="adj" fmla="val 27778"/>
            </a:avLst>
          </a:prstGeom>
          <a:gradFill>
            <a:gsLst>
              <a:gs pos="0">
                <a:srgbClr val="60A5FA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014" name="文本框 1013" descr="{&quot;isTemplate&quot;:true,&quot;type&quot;:&quot;text&quot;}"/>
          <p:cNvSpPr txBox="1"/>
          <p:nvPr/>
        </p:nvSpPr>
        <p:spPr>
          <a:xfrm>
            <a:off x="647700" y="6524625"/>
            <a:ext cx="952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旅</a:t>
            </a:r>
            <a:endParaRPr lang="zh-CN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5" name="文本框 1014" descr="{&quot;isTemplate&quot;:true,&quot;type&quot;:&quot;text&quot;}"/>
          <p:cNvSpPr txBox="1"/>
          <p:nvPr/>
        </p:nvSpPr>
        <p:spPr>
          <a:xfrm>
            <a:off x="857250" y="6515100"/>
            <a:ext cx="1990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Kelvoy · AI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6" name="文本框 1015" descr="{&quot;isTemplate&quot;:true,&quot;type&quot;:&quot;text&quot;}"/>
          <p:cNvSpPr txBox="1"/>
          <p:nvPr/>
        </p:nvSpPr>
        <p:spPr>
          <a:xfrm>
            <a:off x="11191875" y="6515100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09 / 19</a:t>
            </a:r>
            <a:endParaRPr lang="en-US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 descr="&lt;Slide padding='0'&gt;&#10;    &lt;Box style={{ position: 'absolute', top: 0, left: 0, width: '1280px', height: '720px', background: '#F6F8FB' }} /&gt;&#10;    &lt;Box style={{ position: 'absolute', top: 0, left: 0, width: '1280px', height: '4px', background: 'linear-gradient(90deg,#2563EB 0%,#7C3AED 100%)' }} /&gt;&#10;&#10;    &lt;Box style={{ position: 'absolute', top: '42px', left: '64px', right: '64px', flexDirection: 'row', justifyContent: 'space-between', alignItems: 'center' }}&gt;&#10;        &lt;Text style={{ fontSize: '12px', fontWeight: '700', color: '#2563EB', letterSpacing: '2px' }}&gt;02 · 产品与体验&lt;/Text&gt;&#10;        &lt;Text style={{ fontSize: '11px', color: '#8A97AB', letterSpacing: '3px' }}&gt;EDITING RULES&lt;/Text&gt;&#10;    &lt;/Box&gt;&#10;    &lt;Text style={{ position: 'absolute', top: '68px', left: '64px', fontSize: '34px', fontWeight: 'bold', color: '#0B1220' }}&gt;&#10;        每镜严格 1 秒：&lt;span style={{ color: '#2563EB' }}&gt;30 帧 @30fps&lt;/span&gt;&#10;    &lt;/Text&gt;&#10;    &lt;Box style={{ position: 'absolute', top: '116px', left: '64px', width: '44px', height: '4px', borderRadius: '2px', background: 'linear-gradient(90deg,#2563EB,#7C3AED)' }} /&gt;&#10;&#10;    &lt;Box style={{ position: 'absolute', top: '150px', left: '64px', right: '64px', height: '170px', background: '#FFFFFF', borderRadius: '14px', border: '1px solid #E6EAF1', boxShadow: '0 2px 12px rgba(15,23,42,0.04)', flexDirection: 'column', padding: '18px 24px 14px 24px' }}&gt;&#10;        &lt;Box style={{ flexDirection: 'row', justifyContent: 'space-between', alignItems: 'center' }}&gt;&#10;            &lt;Text style={{ fontSize: '13px', fontWeight: 700, color: '#0B1220' }}&gt;时间轴 · 一期成片片段示意&lt;/Text&gt;&#10;            &lt;Text style={{ fontSize: '11.5px', color: '#8A97AB' }}&gt;绿色竖线 = 切点；相邻镜头前后各 2 帧片内淡入淡出&lt;/Text&gt;&#10;        &lt;/Box&gt;&#10;&#10;        &lt;Box style={{ position: 'relative', top: '0px', flexDirection: 'row', marginTop: '14px' }}&gt;&#10;            {['0s', '1s', '2s', '3s', '4s', '5s', '6s'].map((t, i) =&gt; (&#10;                &lt;Text key={i} style={{ position: 'absolute', left: `${16 + i * 186}px`, top: '0px', fontSize: '11px', color: '#94A3B8' }}&gt;{t}&lt;/Text&gt;&#10;            ))}&#10;            &lt;Box style={{ position: 'absolute', top: '20px', left: '24px', width: '1104px', height: '2px', background: '#E6EAF1' }} /&gt;&#10;        &lt;/Box&gt;&#10;&#10;        &lt;Box style={{ position: 'absolute', top: '72px', left: '24px', flexDirection: 'row', gap: '12px' }}&gt;&#10;            {[1, 2, 3, 4, 5, 6].map((n) =&gt; (&#10;                &lt;Box key={n} style={{ width: '174px', flexDirection: 'column', gap: '5px' }}&gt;&#10;                    &lt;Box style={{ width: '100%', height: '62px', borderRadius: '9px', background: 'linear-gradient(135deg,#EFF4FE 0%,#F5F1FE 100%)', border: '1px solid #DBE4F5', justifyContent: 'center', alignItems: 'center', flexDirection: 'column', gap: '2px' }}&gt;&#10;                        &lt;Text style={{ fontSize: '13px', fontWeight: 700, color: '#1D4ED8' }}&gt;镜头 {n}&lt;/Text&gt;&#10;                        &lt;Text style={{ fontSize: '10.5px', color: '#5B6B84' }}&gt;1.0s · 30 帧&lt;/Text&gt;&#10;                    &lt;/Box&gt;&#10;                    &lt;Box style={{ width: '100%', padding: '3px 0', borderRadius: '6px', background: '#F1F5F9', justifyContent: 'center', alignItems: 'center' }}&gt;&#10;                        &lt;Text style={{ fontSize: '9.5px', color: '#8A97AB' }}&gt;字幕烧录&lt;/Text&gt;&#10;                    &lt;/Box&gt;&#10;                &lt;/Box&gt;&#10;            ))}&#10;        &lt;/Box&gt;&#10;        {[203, 389, 575, 761, 947].map((x, i) =&gt; (&#10;            &lt;Box key={i} style={{ position: 'absolute', top: '72px', left: `${x}px`, width: '3px', height: '62px', borderRadius: '1px', background: '#10B981' }} /&gt;&#10;        ))}&#10;    &lt;/Box&gt;&#10;&#10;    &lt;Box style={{ position: 'absolute', top: '348px', left: '64px', right: '64px', flexDirection: 'row', gap: '20px' }}&gt;&#10;        {[&#10;            { icon: 'magnet', t: '整数帧窗口', d: '起点按 1/30 秒吸附，Worker 校验选段不越片尾' },&#10;            { icon: 'closed-captioning', t: '字幕默认开启', d: '每镜一秒窗口烧录 Shot.caption，片头偏移由拼接自然带入' },&#10;        ].map((c, i) =&gt; (&#10;            &lt;Box key={i} style={{ flex: 1, padding: '20px 24px', background: '#FFFFFF', borderRadius: '13px', border: '1px solid #E6EAF1', flexDirection: 'column', gap: '9px' }}&gt;&#10;                &lt;Box style={{ flexDirection: 'row', alignItems: 'center', gap: '11px' }}&gt;&#10;                    &lt;Box style={{ width: '34px', height: '34px', borderRadius: '10px', background: '#EFF4FE', justifyContent: 'center', alignItems: 'center' }}&gt;&#10;                        &lt;FAIcon name={c.icon} style={{ fill: '#2563EB', width: '16px', height: '16px' }} /&gt;&#10;                    &lt;/Box&gt;&#10;                    &lt;Text style={{ fontSize: '16px', fontWeight: 'bold', color: '#0B1220' }}&gt;{c.t}&lt;/Text&gt;&#10;                &lt;/Box&gt;&#10;                &lt;Text style={{ fontSize: '12.5px', color: '#5B6B84', lineHeight: 1.6 }}&gt;{c.d}&lt;/Text&gt;&#10;            &lt;/Box&gt;&#10;        ))}&#10;    &lt;/Box&gt;&#10;&#10;    &lt;Box style={{ position: 'absolute', top: '496px', left: '64px', right: '64px', flexDirection: 'row', gap: '20px' }}&gt;&#10;        {[&#10;            { icon: 'scissors', t: '片头片尾默认关闭', d: '合成设置里可选用已交付素材；配乐只覆盖全片、不移动切点' },&#10;            { icon: 'certificate', t: 'AI 标识', d: '右下角半透明水印 + 文件元数据，符合 2025-09 施行标识办法' },&#10;        ].map((c, i) =&gt; (&#10;            &lt;Box key={i} style={{ flex: 1, padding: '20px 24px', background: '#FFFFFF', borderRadius: '13px', border: '1px solid #E6EAF1', flexDirection: 'column', gap: '9px' }}&gt;&#10;                &lt;Box style={{ flexDirection: 'row', alignItems: 'center', gap: '11px' }}&gt;&#10;                    &lt;Box style={{ width: '34px', height: '34px', borderRadius: '10px', background: '#F5F1FE', justifyContent: 'center', alignItems: 'center' }}&gt;&#10;                        &lt;FAIcon name={c.icon} style={{ fill: '#7C3AED', width: '16px', height: '16px' }} /&gt;&#10;                    &lt;/Box&gt;&#10;                    &lt;Text style={{ fontSize: '16px', fontWeight: 'bold', color: '#0B1220' }}&gt;{c.t}&lt;/Text&gt;&#10;                &lt;/Box&gt;&#10;                &lt;Text style={{ fontSize: '12.5px', color: '#5B6B84', lineHeight: 1.6 }}&gt;{c.d}&lt;/Text&gt;&#10;            &lt;/Box&gt;&#10;        ))}&#10;    &lt;/Box&gt;&#10;&#10;    &lt;Box style={{ position: 'absolute', top: '622px', left: '64px', right: '64px', padding: '13px 20px', borderRadius: '11px', background: 'linear-gradient(120deg,#0A1128 0%,#16233F 60%,#312E81 100%)', flexDirection: 'row', alignItems: 'center', gap: '12px' }}&gt;&#10;        &lt;FAIcon name='stopwatch' style={{ fill: '#93C5FD', width: '15px', height: '15px' }} /&gt;&#10;        &lt;Text style={{ fontSize: '12.5px', color: 'rgba(255,255,255,0.88)' }}&gt;1 秒一镜 · 30 帧 · 字幕烧录 · 绿线切点 —— 节奏明快，适配 9:16 信息流观看习惯&lt;/Text&gt;&#10;    &lt;/Box&gt;&#10;&#10;    &lt;Box style={{ position: 'absolute', bottom: '20px', left: '64px', right: '64px', flexDirection: 'row', justifyContent: 'space-between', alignItems: 'center' }}&gt;&#10;        &lt;Box style={{ flexDirection: 'row', alignItems: 'center', gap: '8px' }}&gt;&#10;            &lt;Box style={{ width: '18px', height: '18px', borderRadius: '5px', background: 'linear-gradient(135deg,#60A5FA,#2563EB)', justifyContent: 'center', alignItems: 'center' }}&gt;&#10;                &lt;Text style={{ fontSize: '10px', fontWeight: 'bold', color: '#FFFFFF' }}&gt;旅&lt;/Text&gt;&#10;            &lt;/Box&gt;&#10;            &lt;Text style={{ fontSize: '12px', color: '#8A97AB' }}&gt;可旅 Kelvoy · AI 旅行 Vlog 生产工作台&lt;/Text&gt;&#10;        &lt;/Box&gt;&#10;        &lt;Text style={{ fontSize: '12px', color: '#8A97AB' }}&gt;10 / 1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</p:spPr>
        <p:txBody>
          <a:bodyPr/>
          <a:p/>
        </p:txBody>
      </p:sp>
      <p:sp>
        <p:nvSpPr>
          <p:cNvPr id="29" name="矩形 28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609600" y="400050"/>
            <a:ext cx="1028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02 · </a:t>
            </a:r>
            <a:r>
              <a:rPr lang="zh-CN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产品与体验</a:t>
            </a:r>
            <a:endParaRPr lang="zh-CN" sz="900" b="1" spc="1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10429875" y="409575"/>
            <a:ext cx="11525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22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EDITING RULES</a:t>
            </a:r>
            <a:endParaRPr lang="en-US" sz="825" spc="22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609600" y="647700"/>
            <a:ext cx="44958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每镜严格</a:t>
            </a:r>
            <a:r>
              <a:rPr lang="en-US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秒：</a:t>
            </a:r>
            <a:r>
              <a:rPr lang="en-US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30 </a:t>
            </a:r>
            <a:r>
              <a:rPr lang="zh-CN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帧</a:t>
            </a:r>
            <a:r>
              <a:rPr lang="en-US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 @30fps</a:t>
            </a:r>
            <a:endParaRPr lang="en-US" sz="25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609600" y="1104900"/>
            <a:ext cx="4191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34" name="圆角矩形 33"/>
          <p:cNvSpPr/>
          <p:nvPr/>
        </p:nvSpPr>
        <p:spPr>
          <a:xfrm>
            <a:off x="609600" y="1428750"/>
            <a:ext cx="10972800" cy="161925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838200" y="1600200"/>
            <a:ext cx="1495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时间轴</a:t>
            </a:r>
            <a:r>
              <a:rPr lang="en-US" sz="97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一期成片片段示意</a:t>
            </a:r>
            <a:endParaRPr lang="zh-CN" sz="97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8772525" y="1609725"/>
            <a:ext cx="25812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绿色竖线</a:t>
            </a:r>
            <a:r>
              <a:rPr lang="en-US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切点；相邻镜头前后各</a:t>
            </a:r>
            <a:r>
              <a:rPr lang="en-US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帧片内淡入淡出</a:t>
            </a:r>
            <a:endParaRPr lang="zh-CN" sz="86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990600" y="1885950"/>
            <a:ext cx="1143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0s</a:t>
            </a:r>
            <a:endParaRPr lang="en-US" sz="8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2762250" y="1885950"/>
            <a:ext cx="1143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1s</a:t>
            </a:r>
            <a:endParaRPr lang="en-US" sz="8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4533900" y="1885950"/>
            <a:ext cx="1143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2s</a:t>
            </a:r>
            <a:endParaRPr lang="en-US" sz="8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6305550" y="1885950"/>
            <a:ext cx="1143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3s</a:t>
            </a:r>
            <a:endParaRPr lang="en-US" sz="8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8077200" y="1885950"/>
            <a:ext cx="1143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4s</a:t>
            </a:r>
            <a:endParaRPr lang="en-US" sz="8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9848850" y="1885950"/>
            <a:ext cx="1143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5s</a:t>
            </a:r>
            <a:endParaRPr lang="en-US" sz="8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11620500" y="1885950"/>
            <a:ext cx="1143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6s</a:t>
            </a:r>
            <a:endParaRPr lang="en-US" sz="8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66800" y="2076450"/>
            <a:ext cx="10515600" cy="19050"/>
          </a:xfrm>
          <a:prstGeom prst="rect">
            <a:avLst/>
          </a:prstGeom>
          <a:solidFill>
            <a:srgbClr val="E6EAF1"/>
          </a:solidFill>
        </p:spPr>
        <p:txBody>
          <a:bodyPr/>
          <a:p/>
        </p:txBody>
      </p:sp>
      <p:sp>
        <p:nvSpPr>
          <p:cNvPr id="45" name="圆角矩形 44"/>
          <p:cNvSpPr/>
          <p:nvPr/>
        </p:nvSpPr>
        <p:spPr>
          <a:xfrm>
            <a:off x="838200" y="2114550"/>
            <a:ext cx="1657350" cy="590550"/>
          </a:xfrm>
          <a:prstGeom prst="roundRect">
            <a:avLst>
              <a:gd name="adj" fmla="val 14516"/>
            </a:avLst>
          </a:prstGeom>
          <a:gradFill>
            <a:gsLst>
              <a:gs pos="0">
                <a:srgbClr val="EFF4FE"/>
              </a:gs>
              <a:gs pos="100000">
                <a:srgbClr val="F5F1FE"/>
              </a:gs>
            </a:gsLst>
            <a:lin ang="2700000" scaled="1"/>
          </a:gradFill>
          <a:ln w="12700">
            <a:solidFill>
              <a:srgbClr val="DBE4F5"/>
            </a:solidFill>
            <a:prstDash val="solid"/>
          </a:ln>
        </p:spPr>
        <p:txBody>
          <a:bodyPr/>
          <a:p/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1485900" y="2266950"/>
            <a:ext cx="361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镜头</a:t>
            </a:r>
            <a:r>
              <a:rPr lang="en-US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975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1409700" y="2438400"/>
            <a:ext cx="523875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9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1.0s · 30 </a:t>
            </a:r>
            <a:r>
              <a:rPr lang="zh-CN" sz="79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帧</a:t>
            </a:r>
            <a:endParaRPr lang="zh-CN" sz="79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838200" y="2752725"/>
            <a:ext cx="1657350" cy="171450"/>
          </a:xfrm>
          <a:prstGeom prst="roundRect">
            <a:avLst>
              <a:gd name="adj" fmla="val 33333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1485900" y="2781300"/>
            <a:ext cx="3619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字幕烧录</a:t>
            </a:r>
            <a:endParaRPr lang="zh-CN" sz="71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2609850" y="2114550"/>
            <a:ext cx="1657350" cy="590550"/>
          </a:xfrm>
          <a:prstGeom prst="roundRect">
            <a:avLst>
              <a:gd name="adj" fmla="val 14516"/>
            </a:avLst>
          </a:prstGeom>
          <a:gradFill>
            <a:gsLst>
              <a:gs pos="0">
                <a:srgbClr val="EFF4FE"/>
              </a:gs>
              <a:gs pos="100000">
                <a:srgbClr val="F5F1FE"/>
              </a:gs>
            </a:gsLst>
            <a:lin ang="2700000" scaled="1"/>
          </a:gradFill>
          <a:ln w="12700">
            <a:solidFill>
              <a:srgbClr val="DBE4F5"/>
            </a:solidFill>
            <a:prstDash val="solid"/>
          </a:ln>
        </p:spPr>
        <p:txBody>
          <a:bodyPr/>
          <a:p/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3257550" y="2266950"/>
            <a:ext cx="361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镜头</a:t>
            </a:r>
            <a:r>
              <a:rPr lang="en-US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975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3181350" y="2438400"/>
            <a:ext cx="523875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9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1.0s · 30 </a:t>
            </a:r>
            <a:r>
              <a:rPr lang="zh-CN" sz="79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帧</a:t>
            </a:r>
            <a:endParaRPr lang="zh-CN" sz="79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2609850" y="2752725"/>
            <a:ext cx="1657350" cy="171450"/>
          </a:xfrm>
          <a:prstGeom prst="roundRect">
            <a:avLst>
              <a:gd name="adj" fmla="val 33333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3257550" y="2781300"/>
            <a:ext cx="3619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字幕烧录</a:t>
            </a:r>
            <a:endParaRPr lang="zh-CN" sz="71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4381500" y="2114550"/>
            <a:ext cx="1657350" cy="590550"/>
          </a:xfrm>
          <a:prstGeom prst="roundRect">
            <a:avLst>
              <a:gd name="adj" fmla="val 14516"/>
            </a:avLst>
          </a:prstGeom>
          <a:gradFill>
            <a:gsLst>
              <a:gs pos="0">
                <a:srgbClr val="EFF4FE"/>
              </a:gs>
              <a:gs pos="100000">
                <a:srgbClr val="F5F1FE"/>
              </a:gs>
            </a:gsLst>
            <a:lin ang="2700000" scaled="1"/>
          </a:gradFill>
          <a:ln w="12700">
            <a:solidFill>
              <a:srgbClr val="DBE4F5"/>
            </a:solidFill>
            <a:prstDash val="solid"/>
          </a:ln>
        </p:spPr>
        <p:txBody>
          <a:bodyPr/>
          <a:p/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5029200" y="2266950"/>
            <a:ext cx="361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镜头</a:t>
            </a:r>
            <a:r>
              <a:rPr lang="en-US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975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4953000" y="2438400"/>
            <a:ext cx="523875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9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1.0s · 30 </a:t>
            </a:r>
            <a:r>
              <a:rPr lang="zh-CN" sz="79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帧</a:t>
            </a:r>
            <a:endParaRPr lang="zh-CN" sz="79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4381500" y="2752725"/>
            <a:ext cx="1657350" cy="171450"/>
          </a:xfrm>
          <a:prstGeom prst="roundRect">
            <a:avLst>
              <a:gd name="adj" fmla="val 33333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5029200" y="2781300"/>
            <a:ext cx="3619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字幕烧录</a:t>
            </a:r>
            <a:endParaRPr lang="zh-CN" sz="71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6153150" y="2114550"/>
            <a:ext cx="1657350" cy="590550"/>
          </a:xfrm>
          <a:prstGeom prst="roundRect">
            <a:avLst>
              <a:gd name="adj" fmla="val 14516"/>
            </a:avLst>
          </a:prstGeom>
          <a:gradFill>
            <a:gsLst>
              <a:gs pos="0">
                <a:srgbClr val="EFF4FE"/>
              </a:gs>
              <a:gs pos="100000">
                <a:srgbClr val="F5F1FE"/>
              </a:gs>
            </a:gsLst>
            <a:lin ang="2700000" scaled="1"/>
          </a:gradFill>
          <a:ln w="12700">
            <a:solidFill>
              <a:srgbClr val="DBE4F5"/>
            </a:solidFill>
            <a:prstDash val="solid"/>
          </a:ln>
        </p:spPr>
        <p:txBody>
          <a:bodyPr/>
          <a:p/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6800850" y="2266950"/>
            <a:ext cx="361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镜头</a:t>
            </a:r>
            <a:r>
              <a:rPr lang="en-US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975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6724650" y="2438400"/>
            <a:ext cx="523875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9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1.0s · 30 </a:t>
            </a:r>
            <a:r>
              <a:rPr lang="zh-CN" sz="79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帧</a:t>
            </a:r>
            <a:endParaRPr lang="zh-CN" sz="79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6153150" y="2752725"/>
            <a:ext cx="1657350" cy="171450"/>
          </a:xfrm>
          <a:prstGeom prst="roundRect">
            <a:avLst>
              <a:gd name="adj" fmla="val 33333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6800850" y="2781300"/>
            <a:ext cx="3619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字幕烧录</a:t>
            </a:r>
            <a:endParaRPr lang="zh-CN" sz="71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7924800" y="2114550"/>
            <a:ext cx="1657350" cy="590550"/>
          </a:xfrm>
          <a:prstGeom prst="roundRect">
            <a:avLst>
              <a:gd name="adj" fmla="val 14516"/>
            </a:avLst>
          </a:prstGeom>
          <a:gradFill>
            <a:gsLst>
              <a:gs pos="0">
                <a:srgbClr val="EFF4FE"/>
              </a:gs>
              <a:gs pos="100000">
                <a:srgbClr val="F5F1FE"/>
              </a:gs>
            </a:gsLst>
            <a:lin ang="2700000" scaled="1"/>
          </a:gradFill>
          <a:ln w="12700">
            <a:solidFill>
              <a:srgbClr val="DBE4F5"/>
            </a:solidFill>
            <a:prstDash val="solid"/>
          </a:ln>
        </p:spPr>
        <p:txBody>
          <a:bodyPr/>
          <a:p/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8572500" y="2266950"/>
            <a:ext cx="361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镜头</a:t>
            </a:r>
            <a:r>
              <a:rPr lang="en-US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975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8496300" y="2438400"/>
            <a:ext cx="523875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9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1.0s · 30 </a:t>
            </a:r>
            <a:r>
              <a:rPr lang="zh-CN" sz="79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帧</a:t>
            </a:r>
            <a:endParaRPr lang="zh-CN" sz="79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7924800" y="2752725"/>
            <a:ext cx="1657350" cy="171450"/>
          </a:xfrm>
          <a:prstGeom prst="roundRect">
            <a:avLst>
              <a:gd name="adj" fmla="val 33333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8572500" y="2781300"/>
            <a:ext cx="3619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字幕烧录</a:t>
            </a:r>
            <a:endParaRPr lang="zh-CN" sz="71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9696450" y="2114550"/>
            <a:ext cx="1657350" cy="590550"/>
          </a:xfrm>
          <a:prstGeom prst="roundRect">
            <a:avLst>
              <a:gd name="adj" fmla="val 14516"/>
            </a:avLst>
          </a:prstGeom>
          <a:gradFill>
            <a:gsLst>
              <a:gs pos="0">
                <a:srgbClr val="EFF4FE"/>
              </a:gs>
              <a:gs pos="100000">
                <a:srgbClr val="F5F1FE"/>
              </a:gs>
            </a:gsLst>
            <a:lin ang="2700000" scaled="1"/>
          </a:gradFill>
          <a:ln w="12700">
            <a:solidFill>
              <a:srgbClr val="DBE4F5"/>
            </a:solidFill>
            <a:prstDash val="solid"/>
          </a:ln>
        </p:spPr>
        <p:txBody>
          <a:bodyPr/>
          <a:p/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10344150" y="2266950"/>
            <a:ext cx="361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镜头</a:t>
            </a:r>
            <a:r>
              <a:rPr lang="en-US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975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10267950" y="2438400"/>
            <a:ext cx="523875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9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1.0s · 30 </a:t>
            </a:r>
            <a:r>
              <a:rPr lang="zh-CN" sz="79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帧</a:t>
            </a:r>
            <a:endParaRPr lang="zh-CN" sz="79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9696450" y="2752725"/>
            <a:ext cx="1657350" cy="171450"/>
          </a:xfrm>
          <a:prstGeom prst="roundRect">
            <a:avLst>
              <a:gd name="adj" fmla="val 33333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10344150" y="2781300"/>
            <a:ext cx="3619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字幕烧录</a:t>
            </a:r>
            <a:endParaRPr lang="zh-CN" sz="71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2543175" y="2114550"/>
            <a:ext cx="28575" cy="590550"/>
          </a:xfrm>
          <a:prstGeom prst="roundRect">
            <a:avLst>
              <a:gd name="adj" fmla="val 33333"/>
            </a:avLst>
          </a:prstGeom>
          <a:solidFill>
            <a:srgbClr val="10B981"/>
          </a:solidFill>
        </p:spPr>
        <p:txBody>
          <a:bodyPr/>
          <a:p/>
        </p:txBody>
      </p:sp>
      <p:sp>
        <p:nvSpPr>
          <p:cNvPr id="76" name="圆角矩形 75"/>
          <p:cNvSpPr/>
          <p:nvPr/>
        </p:nvSpPr>
        <p:spPr>
          <a:xfrm>
            <a:off x="4314825" y="2114550"/>
            <a:ext cx="28575" cy="590550"/>
          </a:xfrm>
          <a:prstGeom prst="roundRect">
            <a:avLst>
              <a:gd name="adj" fmla="val 33333"/>
            </a:avLst>
          </a:prstGeom>
          <a:solidFill>
            <a:srgbClr val="10B981"/>
          </a:solidFill>
        </p:spPr>
        <p:txBody>
          <a:bodyPr/>
          <a:p/>
        </p:txBody>
      </p:sp>
      <p:sp>
        <p:nvSpPr>
          <p:cNvPr id="77" name="圆角矩形 76"/>
          <p:cNvSpPr/>
          <p:nvPr/>
        </p:nvSpPr>
        <p:spPr>
          <a:xfrm>
            <a:off x="6086475" y="2114550"/>
            <a:ext cx="28575" cy="590550"/>
          </a:xfrm>
          <a:prstGeom prst="roundRect">
            <a:avLst>
              <a:gd name="adj" fmla="val 33333"/>
            </a:avLst>
          </a:prstGeom>
          <a:solidFill>
            <a:srgbClr val="10B981"/>
          </a:solidFill>
        </p:spPr>
        <p:txBody>
          <a:bodyPr/>
          <a:p/>
        </p:txBody>
      </p:sp>
      <p:sp>
        <p:nvSpPr>
          <p:cNvPr id="78" name="圆角矩形 77"/>
          <p:cNvSpPr/>
          <p:nvPr/>
        </p:nvSpPr>
        <p:spPr>
          <a:xfrm>
            <a:off x="7858125" y="2114550"/>
            <a:ext cx="28575" cy="590550"/>
          </a:xfrm>
          <a:prstGeom prst="roundRect">
            <a:avLst>
              <a:gd name="adj" fmla="val 33333"/>
            </a:avLst>
          </a:prstGeom>
          <a:solidFill>
            <a:srgbClr val="10B981"/>
          </a:solidFill>
        </p:spPr>
        <p:txBody>
          <a:bodyPr/>
          <a:p/>
        </p:txBody>
      </p:sp>
      <p:sp>
        <p:nvSpPr>
          <p:cNvPr id="79" name="圆角矩形 78"/>
          <p:cNvSpPr/>
          <p:nvPr/>
        </p:nvSpPr>
        <p:spPr>
          <a:xfrm>
            <a:off x="9629775" y="2114550"/>
            <a:ext cx="28575" cy="590550"/>
          </a:xfrm>
          <a:prstGeom prst="roundRect">
            <a:avLst>
              <a:gd name="adj" fmla="val 33333"/>
            </a:avLst>
          </a:prstGeom>
          <a:solidFill>
            <a:srgbClr val="10B981"/>
          </a:solidFill>
        </p:spPr>
        <p:txBody>
          <a:bodyPr/>
          <a:p/>
        </p:txBody>
      </p:sp>
      <p:sp>
        <p:nvSpPr>
          <p:cNvPr id="80" name="圆角矩形 79"/>
          <p:cNvSpPr/>
          <p:nvPr/>
        </p:nvSpPr>
        <p:spPr>
          <a:xfrm>
            <a:off x="609600" y="3314700"/>
            <a:ext cx="5391150" cy="1019175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81" name="圆角矩形 80"/>
          <p:cNvSpPr/>
          <p:nvPr/>
        </p:nvSpPr>
        <p:spPr>
          <a:xfrm>
            <a:off x="838200" y="35052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EFF4FE"/>
          </a:solidFill>
        </p:spPr>
        <p:txBody>
          <a:bodyPr/>
          <a:p/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925" y="3590925"/>
            <a:ext cx="152400" cy="152400"/>
          </a:xfrm>
          <a:prstGeom prst="rect">
            <a:avLst/>
          </a:prstGeom>
        </p:spPr>
      </p:pic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1266825" y="3571875"/>
            <a:ext cx="762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整数帧窗口</a:t>
            </a:r>
            <a:endParaRPr lang="zh-CN" sz="12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838200" y="3914775"/>
            <a:ext cx="4933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起点按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1/30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秒吸附，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Worker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校验选段不越片尾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6191250" y="3314700"/>
            <a:ext cx="5391150" cy="1019175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86" name="圆角矩形 85"/>
          <p:cNvSpPr/>
          <p:nvPr/>
        </p:nvSpPr>
        <p:spPr>
          <a:xfrm>
            <a:off x="6419850" y="35052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EFF4FE"/>
          </a:solidFill>
        </p:spPr>
        <p:txBody>
          <a:bodyPr/>
          <a:p/>
        </p:txBody>
      </p:sp>
      <p:pic>
        <p:nvPicPr>
          <p:cNvPr id="87" name="图片 8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05575" y="3590925"/>
            <a:ext cx="152400" cy="152400"/>
          </a:xfrm>
          <a:prstGeom prst="rect">
            <a:avLst/>
          </a:prstGeom>
        </p:spPr>
      </p:pic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6848475" y="3571875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字幕默认开启</a:t>
            </a:r>
            <a:endParaRPr lang="zh-CN" sz="12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6419850" y="3914775"/>
            <a:ext cx="4933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每镜一秒窗口烧录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Shot.caption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，片头偏移由拼接自然带入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圆角矩形 89"/>
          <p:cNvSpPr/>
          <p:nvPr/>
        </p:nvSpPr>
        <p:spPr>
          <a:xfrm>
            <a:off x="609600" y="4724400"/>
            <a:ext cx="5391150" cy="1019175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91" name="圆角矩形 90"/>
          <p:cNvSpPr/>
          <p:nvPr/>
        </p:nvSpPr>
        <p:spPr>
          <a:xfrm>
            <a:off x="838200" y="49149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5F1FE"/>
          </a:solidFill>
        </p:spPr>
        <p:txBody>
          <a:bodyPr/>
          <a:p/>
        </p:txBody>
      </p:sp>
      <p:pic>
        <p:nvPicPr>
          <p:cNvPr id="92" name="图片 9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3925" y="5000625"/>
            <a:ext cx="152400" cy="152400"/>
          </a:xfrm>
          <a:prstGeom prst="rect">
            <a:avLst/>
          </a:prstGeom>
        </p:spPr>
      </p:pic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1266825" y="4981575"/>
            <a:ext cx="1219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片头片尾默认关闭</a:t>
            </a:r>
            <a:endParaRPr lang="zh-CN" sz="12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838200" y="5324475"/>
            <a:ext cx="4933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合成设置里可选用已交付素材；配乐只覆盖全片、不移动切点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6191250" y="4724400"/>
            <a:ext cx="5391150" cy="1019175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96" name="圆角矩形 95"/>
          <p:cNvSpPr/>
          <p:nvPr/>
        </p:nvSpPr>
        <p:spPr>
          <a:xfrm>
            <a:off x="6419850" y="49149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5F1FE"/>
          </a:solidFill>
        </p:spPr>
        <p:txBody>
          <a:bodyPr/>
          <a:p/>
        </p:txBody>
      </p:sp>
      <p:pic>
        <p:nvPicPr>
          <p:cNvPr id="97" name="图片 96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05575" y="5000625"/>
            <a:ext cx="152400" cy="152400"/>
          </a:xfrm>
          <a:prstGeom prst="rect">
            <a:avLst/>
          </a:prstGeom>
        </p:spPr>
      </p:pic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6848475" y="4981575"/>
            <a:ext cx="5238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2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标识</a:t>
            </a:r>
            <a:endParaRPr lang="zh-CN" sz="12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6419850" y="5324475"/>
            <a:ext cx="4933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右下角半透明水印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文件元数据，符合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2025-09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施行标识办法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圆角矩形 99"/>
          <p:cNvSpPr/>
          <p:nvPr/>
        </p:nvSpPr>
        <p:spPr>
          <a:xfrm>
            <a:off x="609600" y="5924550"/>
            <a:ext cx="10972800" cy="390525"/>
          </a:xfrm>
          <a:prstGeom prst="roundRect">
            <a:avLst>
              <a:gd name="adj" fmla="val 26829"/>
            </a:avLst>
          </a:prstGeom>
          <a:gradFill>
            <a:gsLst>
              <a:gs pos="0">
                <a:srgbClr val="0A1128"/>
              </a:gs>
              <a:gs pos="60000">
                <a:srgbClr val="16233F"/>
              </a:gs>
              <a:gs pos="100000">
                <a:srgbClr val="312E81"/>
              </a:gs>
            </a:gsLst>
            <a:lin ang="1800000" scaled="1"/>
          </a:gradFill>
        </p:spPr>
        <p:txBody>
          <a:bodyPr/>
          <a:p/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0100" y="6048375"/>
            <a:ext cx="142875" cy="142875"/>
          </a:xfrm>
          <a:prstGeom prst="rect">
            <a:avLst/>
          </a:prstGeom>
        </p:spPr>
      </p:pic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1057275" y="6048375"/>
            <a:ext cx="4314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3-4 </a:t>
            </a: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秒一镜</a:t>
            </a: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30 </a:t>
            </a: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帧</a:t>
            </a: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字幕烧录</a:t>
            </a: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绿线切点</a:t>
            </a: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节奏明快，适配</a:t>
            </a: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9:16 </a:t>
            </a: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信息流观看习惯</a:t>
            </a:r>
            <a:endParaRPr lang="zh-CN" sz="94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圆角矩形 102"/>
          <p:cNvSpPr/>
          <p:nvPr/>
        </p:nvSpPr>
        <p:spPr>
          <a:xfrm>
            <a:off x="609600" y="6496050"/>
            <a:ext cx="171450" cy="171450"/>
          </a:xfrm>
          <a:prstGeom prst="roundRect">
            <a:avLst>
              <a:gd name="adj" fmla="val 27778"/>
            </a:avLst>
          </a:prstGeom>
          <a:gradFill>
            <a:gsLst>
              <a:gs pos="0">
                <a:srgbClr val="60A5FA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647700" y="6524625"/>
            <a:ext cx="952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旅</a:t>
            </a:r>
            <a:endParaRPr lang="zh-CN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857250" y="6515100"/>
            <a:ext cx="1990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Kelvoy · AI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11191875" y="6515100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10 / 19</a:t>
            </a:r>
            <a:endParaRPr lang="en-US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" descr="&lt;Slide padding='0'&gt;&#10;    &lt;Box style={{ position: 'absolute', top: 0, left: 0, width: '1280px', height: '720px', background: 'linear-gradient(120deg,#0A1128 0%,#16233F 55%,#312E81 100%)' }} /&gt;&#10;    &lt;Box style={{ position: 'absolute', top: 0, left: 0, width: '1280px', height: '720px', opacity: 0.05, backgroundImage: 'linear-gradient(rgba(255,255,255,.6) 1px, transparent 1px), linear-gradient(90deg, rgba(255,255,255,.6) 1px, transparent 1px)', backgroundSize: '48px 48px' }} /&gt;&#10;    &lt;Box style={{ position: 'absolute', top: '-160px', right: '-100px', width: '520px', height: '520px', borderRadius: '50%', background: 'radial-gradient(circle, rgba(124,58,237,0.30) 0%, transparent 70%)' }} /&gt;&#10;    &lt;Box style={{ position: 'absolute', bottom: '-180px', left: '-120px', width: '480px', height: '480px', borderRadius: '50%', background: 'radial-gradient(circle, rgba(37,99,235,0.28) 0%, transparent 70%)' }} /&gt;&#10;    &lt;Text style={{ position: 'absolute', top: '130px', right: '40px', fontSize: '300px', fontWeight: 'bold', color: 'rgba(255,255,255,0.055)', lineHeight: 1 }}&gt;03&lt;/Text&gt;&#10;&#10;    &lt;Box style={{ position: 'absolute', top: '200px', left: '88px', width: '660px', flexDirection: 'column', gap: '26px' }}&gt;&#10;        &lt;Box style={{ flexDirection: 'row', alignItems: 'center', gap: '14px' }}&gt;&#10;            &lt;Box style={{ width: '34px', height: '3px', background: '#60A5FA' }} /&gt;&#10;            &lt;Text style={{ fontSize: '14px', fontWeight: 700, color: '#93C5FD', letterSpacing: '4px' }}&gt;SECTION 03 · HOW&lt;/Text&gt;&#10;        &lt;/Box&gt;&#10;        &lt;Text style={{ fontSize: '58px', fontWeight: 'bold', color: '#FFFFFF', lineHeight: 1.15, letterSpacing: '-1px' }}&gt;&#10;            技术与工程&#10;        &lt;/Text&gt;&#10;        &lt;Text style={{ fontSize: '17px', color: 'rgba(255,255,255,0.72)', lineHeight: 1.7 }}&gt;&#10;            本地优先的单机闭环：SQLite 唯一真源，敢在现场重试的工程底座。&#10;        &lt;/Text&gt;&#10;    &lt;/Box&gt;&#10;&#10;    &lt;Box style={{ position: 'absolute', top: '470px', left: '88px', width: '660px', flexDirection: 'column', gap: '16px' }}&gt;&#10;        {[&#10;            '单机闭环：React + Vite / Hono / SQLite / Worker / ComfyUI',&#10;            '每个环节一个接口，本地为主、API 溢出',&#10;            '动作级计价，原子预留、结算、释放',&#10;        ].map((t, i) =&gt; (&#10;            &lt;Box key={i} style={{ flexDirection: 'row', alignItems: 'center', gap: '14px' }}&gt;&#10;                &lt;Box style={{ width: '6px', height: '6px', borderRadius: '3px', background: '#60A5FA' }} /&gt;&#10;                &lt;Text style={{ fontSize: '15px', color: 'rgba(255,255,255,0.85)' }}&gt;{t}&lt;/Text&gt;&#10;            &lt;/Box&gt;&#10;        ))}&#10;    &lt;/Box&gt;&#10;&#10;    &lt;Box style={{ position: 'absolute', bottom: '86px', left: '88px', flexDirection: 'row', alignItems: 'center', gap: '10px' }}&gt;&#10;        {['01', '02', '03', '04'].map((s, i) =&gt; (&#10;            &lt;Box key={i} style={{ flexDirection: 'row', alignItems: 'center', gap: '10px' }}&gt;&#10;                &lt;Box style={{ width: i === 2 ? '26px' : '8px', height: '8px', borderRadius: '4px', background: i === 2 ? '#60A5FA' : 'rgba(255,255,255,0.25)' }} /&gt;&#10;                &lt;Text style={{ fontSize: '11px', color: i === 2 ? '#93C5FD' : 'rgba(255,255,255,0.4)', letterSpacing: '1px', marginRight: '6px' }}&gt;{s}&lt;/Text&gt;&#10;            &lt;/Box&gt;&#10;        ))}&#10;    &lt;/Box&gt;&#10;&#10;    &lt;Box style={{ position: 'absolute', bottom: 0, left: 0, right: 0, height: '56px', padding: '0 64px', flexDirection: 'row', justifyContent: 'space-between', alignItems: 'center' }}&gt;&#10;        &lt;Text style={{ fontSize: '12.5px', color: 'rgba(255,255,255,0.5)' }}&gt;可旅 Kelvoy · AI 旅行 Vlog 生产工作台&lt;/Text&gt;&#10;        &lt;Text style={{ fontSize: '12.5px', color: 'rgba(255,255,255,0.5)' }}&gt;11 / 1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128"/>
              </a:gs>
              <a:gs pos="55000">
                <a:srgbClr val="16233F"/>
              </a:gs>
              <a:gs pos="100000">
                <a:srgbClr val="312E81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109" name="矩形 1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rgbClr val="FFFFFF">
                  <a:alpha val="3000"/>
                </a:srgbClr>
              </a:gs>
              <a:gs pos="1000">
                <a:srgbClr val="FFFFFF">
                  <a:alpha val="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110" name="矩形 1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rgbClr val="FFFFFF">
                  <a:alpha val="3000"/>
                </a:srgbClr>
              </a:gs>
              <a:gs pos="1000">
                <a:srgbClr val="FFFFFF">
                  <a:alpha val="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111" name="任意多边形 110"/>
          <p:cNvSpPr/>
          <p:nvPr/>
        </p:nvSpPr>
        <p:spPr>
          <a:xfrm>
            <a:off x="8191500" y="-1524000"/>
            <a:ext cx="4953000" cy="4953000"/>
          </a:xfrm>
          <a:custGeom>
            <a:avLst/>
            <a:gdLst/>
            <a:ahLst/>
            <a:cxnLst/>
            <a:pathLst>
              <a:path w="520" h="520">
                <a:moveTo>
                  <a:pt x="260" y="0"/>
                </a:moveTo>
                <a:lnTo>
                  <a:pt x="260" y="0"/>
                </a:lnTo>
                <a:cubicBezTo>
                  <a:pt x="403" y="0"/>
                  <a:pt x="520" y="117"/>
                  <a:pt x="520" y="260"/>
                </a:cubicBezTo>
                <a:lnTo>
                  <a:pt x="520" y="260"/>
                </a:lnTo>
                <a:cubicBezTo>
                  <a:pt x="520" y="403"/>
                  <a:pt x="403" y="520"/>
                  <a:pt x="260" y="520"/>
                </a:cubicBezTo>
                <a:lnTo>
                  <a:pt x="260" y="520"/>
                </a:lnTo>
                <a:cubicBezTo>
                  <a:pt x="117" y="520"/>
                  <a:pt x="0" y="403"/>
                  <a:pt x="0" y="260"/>
                </a:cubicBezTo>
                <a:lnTo>
                  <a:pt x="0" y="260"/>
                </a:lnTo>
                <a:cubicBezTo>
                  <a:pt x="0" y="117"/>
                  <a:pt x="117" y="0"/>
                  <a:pt x="260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30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112" name="任意多边形 111"/>
          <p:cNvSpPr/>
          <p:nvPr/>
        </p:nvSpPr>
        <p:spPr>
          <a:xfrm>
            <a:off x="-1143000" y="4000500"/>
            <a:ext cx="4572000" cy="4572000"/>
          </a:xfrm>
          <a:custGeom>
            <a:avLst/>
            <a:gdLst/>
            <a:ahLst/>
            <a:cxnLst/>
            <a:pathLst>
              <a:path w="480" h="480">
                <a:moveTo>
                  <a:pt x="240" y="0"/>
                </a:moveTo>
                <a:lnTo>
                  <a:pt x="240" y="0"/>
                </a:lnTo>
                <a:cubicBezTo>
                  <a:pt x="372" y="0"/>
                  <a:pt x="480" y="108"/>
                  <a:pt x="480" y="240"/>
                </a:cubicBezTo>
                <a:lnTo>
                  <a:pt x="480" y="240"/>
                </a:lnTo>
                <a:cubicBezTo>
                  <a:pt x="480" y="372"/>
                  <a:pt x="372" y="480"/>
                  <a:pt x="240" y="480"/>
                </a:cubicBezTo>
                <a:lnTo>
                  <a:pt x="240" y="480"/>
                </a:lnTo>
                <a:cubicBezTo>
                  <a:pt x="108" y="480"/>
                  <a:pt x="0" y="372"/>
                  <a:pt x="0" y="240"/>
                </a:cubicBezTo>
                <a:lnTo>
                  <a:pt x="0" y="240"/>
                </a:lnTo>
                <a:cubicBezTo>
                  <a:pt x="0" y="108"/>
                  <a:pt x="108" y="0"/>
                  <a:pt x="240" y="0"/>
                </a:cubicBezTo>
                <a:close/>
              </a:path>
            </a:pathLst>
          </a:custGeom>
          <a:gradFill>
            <a:gsLst>
              <a:gs pos="0">
                <a:srgbClr val="2563EB">
                  <a:alpha val="2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8277225" y="1238250"/>
            <a:ext cx="3533775" cy="3429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55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2500" b="1">
              <a:solidFill>
                <a:srgbClr val="FFFFFF">
                  <a:alpha val="55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838200" y="1971675"/>
            <a:ext cx="323850" cy="28575"/>
          </a:xfrm>
          <a:prstGeom prst="rect">
            <a:avLst/>
          </a:prstGeom>
          <a:solidFill>
            <a:srgbClr val="60A5FA"/>
          </a:solidFill>
        </p:spPr>
        <p:txBody>
          <a:bodyPr/>
          <a:p/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1295400" y="1905000"/>
            <a:ext cx="1914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SECTION 03 · HOW</a:t>
            </a:r>
            <a:endParaRPr lang="en-US" sz="1050" b="1" spc="300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838200" y="2314575"/>
            <a:ext cx="6286500" cy="771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350" b="1" spc="-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技术与工程</a:t>
            </a:r>
            <a:endParaRPr lang="zh-CN" sz="4350" b="1" spc="-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838200" y="3333750"/>
            <a:ext cx="62865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本地优先的单机闭环：</a:t>
            </a:r>
            <a:r>
              <a:rPr lang="en-US" sz="1275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SQLite </a:t>
            </a:r>
            <a:r>
              <a:rPr lang="zh-CN" sz="1275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唯一真源，敢在现场重试的工程底座。</a:t>
            </a:r>
            <a:endParaRPr lang="zh-CN" sz="1275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圆角矩形 117"/>
          <p:cNvSpPr/>
          <p:nvPr/>
        </p:nvSpPr>
        <p:spPr>
          <a:xfrm>
            <a:off x="838200" y="45339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/>
          <a:p/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1028700" y="4476750"/>
            <a:ext cx="4048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单机闭环：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React + Vite / Hono / SQLite / Worker / ComfyUI</a:t>
            </a:r>
            <a:endParaRPr lang="en-US" sz="1125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圆角矩形 119"/>
          <p:cNvSpPr/>
          <p:nvPr/>
        </p:nvSpPr>
        <p:spPr>
          <a:xfrm>
            <a:off x="838200" y="4857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/>
          <a:p/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1028700" y="4800600"/>
            <a:ext cx="2562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每个环节一个接口，本地为主、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API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溢出</a:t>
            </a:r>
            <a:endParaRPr lang="zh-CN" sz="1125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圆角矩形 121"/>
          <p:cNvSpPr/>
          <p:nvPr/>
        </p:nvSpPr>
        <p:spPr>
          <a:xfrm>
            <a:off x="838200" y="5181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/>
          <a:p/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1028700" y="5124450"/>
            <a:ext cx="2286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动作级计价，原子预留、结算、释放</a:t>
            </a:r>
            <a:endParaRPr lang="zh-CN" sz="1125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圆角矩形 123"/>
          <p:cNvSpPr/>
          <p:nvPr/>
        </p:nvSpPr>
        <p:spPr>
          <a:xfrm>
            <a:off x="838200" y="5934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1009650" y="5905500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825" spc="75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圆角矩形 125"/>
          <p:cNvSpPr/>
          <p:nvPr/>
        </p:nvSpPr>
        <p:spPr>
          <a:xfrm>
            <a:off x="1304925" y="5934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1476375" y="5905500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825" spc="75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圆角矩形 127"/>
          <p:cNvSpPr/>
          <p:nvPr/>
        </p:nvSpPr>
        <p:spPr>
          <a:xfrm>
            <a:off x="1771650" y="5934075"/>
            <a:ext cx="247650" cy="762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/>
          <a:p/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2114550" y="5905500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825" spc="75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圆角矩形 129"/>
          <p:cNvSpPr/>
          <p:nvPr/>
        </p:nvSpPr>
        <p:spPr>
          <a:xfrm>
            <a:off x="2409825" y="5934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2581275" y="5905500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825" spc="75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609600" y="6524625"/>
            <a:ext cx="20764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Kelvoy · AI </a:t>
            </a:r>
            <a:r>
              <a:rPr lang="zh-CN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40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11172825" y="6524625"/>
            <a:ext cx="4095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11 / 19</a:t>
            </a:r>
            <a:endParaRPr lang="en-US" sz="940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" descr="&lt;Slide padding='0'&gt;&#10;    &lt;Box style={{ position: 'absolute', top: 0, left: 0, width: '1280px', height: '720px', background: '#F6F8FB' }} /&gt;&#10;    &lt;Box style={{ position: 'absolute', top: 0, left: 0, width: '1280px', height: '4px', background: 'linear-gradient(90deg,#2563EB 0%,#7C3AED 100%)' }} /&gt;&#10;&#10;    &lt;Box style={{ position: 'absolute', top: '42px', left: '64px', right: '64px', flexDirection: 'row', justifyContent: 'space-between', alignItems: 'center' }}&gt;&#10;        &lt;Text style={{ fontSize: '12px', fontWeight: '700', color: '#2563EB', letterSpacing: '2px' }}&gt;03 · 技术与工程&lt;/Text&gt;&#10;        &lt;Text style={{ fontSize: '11px', color: '#8A97AB', letterSpacing: '3px' }}&gt;ARCHITECTURE&lt;/Text&gt;&#10;    &lt;/Box&gt;&#10;    &lt;Text style={{ position: 'absolute', top: '68px', left: '64px', fontSize: '34px', fontWeight: 'bold', color: '#0B1220' }}&gt;&#10;        本地优先的单机闭环，&lt;span style={{ color: '#2563EB' }}&gt;SQLite 是唯一真源&lt;/span&gt;&#10;    &lt;/Text&gt;&#10;    &lt;Box style={{ position: 'absolute', top: '116px', left: '64px', width: '44px', height: '4px', borderRadius: '2px', background: 'linear-gradient(90deg,#2563EB,#7C3AED)' }} /&gt;&#10;&#10;    &lt;Box style={{ position: 'absolute', top: '150px', left: '64px', width: '730px', flexDirection: 'column', gap: '8px' }}&gt;&#10;        {[&#10;            { tag: 'WEB', t: '浏览器 · React + Vite', d: '官网 / 登录 / 建期 / 审片台 / 用量 / 分享页', c: '#2563EB', bg: '#EFF4FE', icon: 'window-maximize' },&#10;            { tag: 'API', t: 'apps/web · Hono :3000', d: 'auth · episodes · review · share · assets', c: '#2563EB', bg: '#EFF4FE', icon: 'network-wired' },&#10;            { tag: 'STORE', t: 'packages/store · SQLite', d: '期 / 角色 / 目的地 / 模板 / 任务 / 积分 —— 唯一真源', c: '#F59E0B', bg: '#FEF6E7', icon: 'database', hl: true },&#10;            { tag: 'WORKER', t: 'apps/worker · 消费循环', d: '任务租约 · 生成适配 · 产物归档 · ffmpeg 合成 · 积分结算', c: '#7C3AED', bg: '#F5F1FE', icon: 'gears' },&#10;            { tag: 'INFER', t: 'services/inference :8100 → ComfyUI :8188', d: 'Qwen-Image 2.1 · MiniMax H3（comfyui-bridge 工作流）', c: '#10B981', bg: '#E9F9F2', icon: 'microchip' },&#10;        ].map((r, i) =&gt; (&#10;            &lt;Box key={i} style={{ width: '730px', height: '70px', flexDirection: 'row', alignItems: 'center', gap: '16px', padding: '0 20px', background: '#FFFFFF', borderRadius: '12px', border: r.hl ? '2px solid #F59E0B' : '1px solid #E6EAF1', boxShadow: r.hl ? '0 4px 16px rgba(245,158,11,0.12)' : '0 2px 10px rgba(15,23,42,0.03)' }}&gt;&#10;                &lt;Box style={{ width: '42px', height: '42px', borderRadius: '11px', background: r.bg, justifyContent: 'center', alignItems: 'center' }}&gt;&#10;                    &lt;FAIcon name={r.icon} style={{ fill: r.c, width: '19px', height: '19px' }} /&gt;&#10;                &lt;/Box&gt;&#10;                &lt;Box style={{ width: '300px', flexDirection: 'column', gap: '3px' }}&gt;&#10;                    &lt;Text style={{ fontSize: '14.5px', fontWeight: 700, color: '#0B1220' }}&gt;{r.t}&lt;/Text&gt;&#10;                    &lt;Text style={{ fontSize: '10px', fontWeight: 700, color: r.c, letterSpacing: '1.5px' }}&gt;{r.tag}&lt;/Text&gt;&#10;                &lt;/Box&gt;&#10;                &lt;Text style={{ flex: 1, fontSize: '12px', color: '#5B6B84', lineHeight: 1.5 }}&gt;{r.d}&lt;/Text&gt;&#10;            &lt;/Box&gt;&#10;        ))}&#10;        {[220, 298, 376, 454].map((y, i) =&gt; (&#10;            &lt;Box key={i} style={{ position: 'absolute', top: `${y}px`, left: '104px', width: '2px', height: '8px', background: '#C7D7FA' }} /&gt;&#10;        ))}&#10;    &lt;/Box&gt;&#10;&#10;    &lt;Box style={{ position: 'absolute', top: '150px', right: '64px', width: '398px', height: '478px', padding: '24px 26px', borderRadius: '16px', background: 'linear-gradient(160deg,#0A1128 0%,#16233F 55%,#312E81 100%)', flexDirection: 'column', gap: '16px', boxShadow: '0 10px 30px rgba(15,23,42,0.25)' }}&gt;&#10;        &lt;Box style={{ flexDirection: 'row', alignItems: 'center', gap: '10px' }}&gt;&#10;            &lt;FAIcon name='shield-halved' style={{ fill: '#93C5FD', width: '17px', height: '17px' }} /&gt;&#10;            &lt;Text style={{ fontSize: '16px', fontWeight: 'bold', color: '#FFFFFF' }}&gt;架构红线（ADR-0004）&lt;/Text&gt;&#10;        &lt;/Box&gt;&#10;        {[&#10;            '无 Redis / Postgres / 对象存储',&#10;            'web 与 worker 直调 store，无内部 HTTP',&#10;            'compose 唯一碰 ffmpeg，只在 worker',&#10;            'providers 可插拔，换模型不改上层',&#10;            '产物落本地磁盘 projects/&lt;期号&gt;/…',&#10;            'store 保持 async，为拆机留边界',&#10;        ].map((t, i) =&gt; (&#10;            &lt;Box key={i} style={{ flexDirection: 'row', alignItems: 'flex-start', gap: '10px', padding: '10px 12px', background: 'rgba(255,255,255,0.05)', borderRadius: '9px', border: '1px solid rgba(255,255,255,0.1)' }}&gt;&#10;                &lt;Text style={{ fontSize: '11px', fontWeight: 700, color: '#93C5FD', marginTop: '1px' }}&gt;{String(i + 1).padStart(2, '0')}&lt;/Text&gt;&#10;                &lt;Text style={{ flex: 1, fontSize: '12.5px', color: 'rgba(255,255,255,0.88)', lineHeight: 1.5 }}&gt;{t}&lt;/Text&gt;&#10;            &lt;/Box&gt;&#10;        ))}&#10;    &lt;/Box&gt;&#10;&#10;    &lt;Box style={{ position: 'absolute', top: '654px', left: '64px', width: '730px', flexDirection: 'row', alignItems: 'center', gap: '10px' }}&gt;&#10;        &lt;FAIcon name='circle-info' style={{ fill: '#8A97AB', width: '13px', height: '13px' }} /&gt;&#10;        &lt;Text style={{ fontSize: '11.5px', color: '#8A97AB' }}&gt;单机部署、单数据源，最大限度降低运维复杂度与一致性风险&lt;/Text&gt;&#10;    &lt;/Box&gt;&#10;&#10;    &lt;Box style={{ position: 'absolute', bottom: '20px', left: '64px', right: '64px', flexDirection: 'row', justifyContent: 'space-between', alignItems: 'center' }}&gt;&#10;        &lt;Box style={{ flexDirection: 'row', alignItems: 'center', gap: '8px' }}&gt;&#10;            &lt;Box style={{ width: '18px', height: '18px', borderRadius: '5px', background: 'linear-gradient(135deg,#60A5FA,#2563EB)', justifyContent: 'center', alignItems: 'center' }}&gt;&#10;                &lt;Text style={{ fontSize: '10px', fontWeight: 'bold', color: '#FFFFFF' }}&gt;旅&lt;/Text&gt;&#10;            &lt;/Box&gt;&#10;            &lt;Text style={{ fontSize: '12px', color: '#8A97AB' }}&gt;可旅 Kelvoy · AI 旅行 Vlog 生产工作台&lt;/Text&gt;&#10;        &lt;/Box&gt;&#10;        &lt;Text style={{ fontSize: '12px', color: '#8A97AB' }}&gt;12 / 1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矩形 1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</p:spPr>
        <p:txBody>
          <a:bodyPr/>
          <a:p/>
        </p:txBody>
      </p:sp>
      <p:sp>
        <p:nvSpPr>
          <p:cNvPr id="136" name="矩形 135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609600" y="400050"/>
            <a:ext cx="1028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03 · </a:t>
            </a:r>
            <a:r>
              <a:rPr lang="zh-CN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技术与工程</a:t>
            </a:r>
            <a:endParaRPr lang="zh-CN" sz="900" b="1" spc="1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10458450" y="409575"/>
            <a:ext cx="11239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22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ARCHITECTURE</a:t>
            </a:r>
            <a:endParaRPr lang="en-US" sz="825" spc="22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609600" y="647700"/>
            <a:ext cx="60102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本地优先的单机闭环，</a:t>
            </a:r>
            <a:r>
              <a:rPr lang="en-US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SQLite </a:t>
            </a:r>
            <a:r>
              <a:rPr lang="zh-CN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是唯一真源</a:t>
            </a:r>
            <a:endParaRPr lang="zh-CN" sz="25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圆角矩形 139"/>
          <p:cNvSpPr/>
          <p:nvPr/>
        </p:nvSpPr>
        <p:spPr>
          <a:xfrm>
            <a:off x="609600" y="1104900"/>
            <a:ext cx="4191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141" name="圆角矩形 140"/>
          <p:cNvSpPr/>
          <p:nvPr/>
        </p:nvSpPr>
        <p:spPr>
          <a:xfrm>
            <a:off x="609600" y="1428750"/>
            <a:ext cx="69532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95250" dist="19050" dir="5400000">
              <a:srgbClr val="0F172A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142" name="圆角矩形 141"/>
          <p:cNvSpPr/>
          <p:nvPr/>
        </p:nvSpPr>
        <p:spPr>
          <a:xfrm>
            <a:off x="800100" y="156210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EFF4FE"/>
          </a:solidFill>
        </p:spPr>
        <p:txBody>
          <a:bodyPr/>
          <a:p/>
        </p:txBody>
      </p:sp>
      <p:pic>
        <p:nvPicPr>
          <p:cNvPr id="143" name="图片 14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676400"/>
            <a:ext cx="180975" cy="180975"/>
          </a:xfrm>
          <a:prstGeom prst="rect">
            <a:avLst/>
          </a:prstGeom>
        </p:spPr>
      </p:pic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1352550" y="1609725"/>
            <a:ext cx="2857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浏览器</a:t>
            </a:r>
            <a:r>
              <a:rPr lang="en-US" sz="109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 · React + Vite</a:t>
            </a:r>
            <a:endParaRPr lang="en-US" sz="109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1352550" y="1809750"/>
            <a:ext cx="285750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113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WEB</a:t>
            </a:r>
            <a:endParaRPr lang="en-US" sz="750" b="1" spc="113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4362450" y="1657350"/>
            <a:ext cx="30099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官网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登录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建期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审片台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用量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分享页</a:t>
            </a:r>
            <a:endParaRPr lang="zh-CN" sz="90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圆角矩形 146"/>
          <p:cNvSpPr/>
          <p:nvPr/>
        </p:nvSpPr>
        <p:spPr>
          <a:xfrm>
            <a:off x="609600" y="2171700"/>
            <a:ext cx="69532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95250" dist="19050" dir="5400000">
              <a:srgbClr val="0F172A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148" name="圆角矩形 147"/>
          <p:cNvSpPr/>
          <p:nvPr/>
        </p:nvSpPr>
        <p:spPr>
          <a:xfrm>
            <a:off x="800100" y="230505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EFF4FE"/>
          </a:solidFill>
        </p:spPr>
        <p:txBody>
          <a:bodyPr/>
          <a:p/>
        </p:txBody>
      </p:sp>
      <p:pic>
        <p:nvPicPr>
          <p:cNvPr id="149" name="图片 14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419350"/>
            <a:ext cx="180975" cy="180975"/>
          </a:xfrm>
          <a:prstGeom prst="rect">
            <a:avLst/>
          </a:prstGeom>
        </p:spPr>
      </p:pic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1352550" y="2352675"/>
            <a:ext cx="2857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9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apps/web · Hono :3000</a:t>
            </a:r>
            <a:endParaRPr lang="en-US" sz="109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1352550" y="2552700"/>
            <a:ext cx="285750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113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API</a:t>
            </a:r>
            <a:endParaRPr lang="en-US" sz="750" b="1" spc="113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4362450" y="2400300"/>
            <a:ext cx="30099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auth · episodes · review · share · assets</a:t>
            </a:r>
            <a:endParaRPr lang="en-US" sz="90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圆角矩形 152"/>
          <p:cNvSpPr/>
          <p:nvPr/>
        </p:nvSpPr>
        <p:spPr>
          <a:xfrm>
            <a:off x="609600" y="2914650"/>
            <a:ext cx="69532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52400" dist="38100" dir="5400000">
              <a:srgbClr val="F59E0B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4" name="圆角矩形 153"/>
          <p:cNvSpPr/>
          <p:nvPr/>
        </p:nvSpPr>
        <p:spPr>
          <a:xfrm>
            <a:off x="800100" y="304800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FEF6E7"/>
          </a:solidFill>
        </p:spPr>
        <p:txBody>
          <a:bodyPr/>
          <a:p/>
        </p:txBody>
      </p:sp>
      <p:pic>
        <p:nvPicPr>
          <p:cNvPr id="155" name="图片 15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162300"/>
            <a:ext cx="180975" cy="180975"/>
          </a:xfrm>
          <a:prstGeom prst="rect">
            <a:avLst/>
          </a:prstGeom>
        </p:spPr>
      </p:pic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1352550" y="3095625"/>
            <a:ext cx="2857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9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packages/store · SQLite</a:t>
            </a:r>
            <a:endParaRPr lang="en-US" sz="109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1352550" y="3295650"/>
            <a:ext cx="285750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113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STORE</a:t>
            </a:r>
            <a:endParaRPr lang="en-US" sz="750" b="1" spc="113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4362450" y="3143250"/>
            <a:ext cx="30099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期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角色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目的地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模板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任务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积分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唯一真源</a:t>
            </a:r>
            <a:endParaRPr lang="zh-CN" sz="90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609600" y="3657600"/>
            <a:ext cx="69532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95250" dist="19050" dir="5400000">
              <a:srgbClr val="0F172A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160" name="圆角矩形 159"/>
          <p:cNvSpPr/>
          <p:nvPr/>
        </p:nvSpPr>
        <p:spPr>
          <a:xfrm>
            <a:off x="800100" y="379095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F5F1FE"/>
          </a:solidFill>
        </p:spPr>
        <p:txBody>
          <a:bodyPr/>
          <a:p/>
        </p:txBody>
      </p:sp>
      <p:pic>
        <p:nvPicPr>
          <p:cNvPr id="161" name="图片 16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3905250"/>
            <a:ext cx="180975" cy="180975"/>
          </a:xfrm>
          <a:prstGeom prst="rect">
            <a:avLst/>
          </a:prstGeom>
        </p:spPr>
      </p:pic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1352550" y="3838575"/>
            <a:ext cx="2857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9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apps/worker · </a:t>
            </a:r>
            <a:r>
              <a:rPr lang="zh-CN" sz="109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消费循环</a:t>
            </a:r>
            <a:endParaRPr lang="zh-CN" sz="109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1352550" y="4038600"/>
            <a:ext cx="285750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113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WORKER</a:t>
            </a:r>
            <a:endParaRPr lang="en-US" sz="750" b="1" spc="113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4362450" y="3886200"/>
            <a:ext cx="30099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任务租约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生成适配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产物归档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· ffmpeg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合成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积分结算</a:t>
            </a:r>
            <a:endParaRPr lang="zh-CN" sz="90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609600" y="4400550"/>
            <a:ext cx="69532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95250" dist="19050" dir="5400000">
              <a:srgbClr val="0F172A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166" name="圆角矩形 165"/>
          <p:cNvSpPr/>
          <p:nvPr/>
        </p:nvSpPr>
        <p:spPr>
          <a:xfrm>
            <a:off x="800100" y="453390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E9F9F2"/>
          </a:solidFill>
        </p:spPr>
        <p:txBody>
          <a:bodyPr/>
          <a:p/>
        </p:txBody>
      </p:sp>
      <p:pic>
        <p:nvPicPr>
          <p:cNvPr id="167" name="图片 166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" y="4648200"/>
            <a:ext cx="180975" cy="180975"/>
          </a:xfrm>
          <a:prstGeom prst="rect">
            <a:avLst/>
          </a:prstGeom>
        </p:spPr>
      </p:pic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1352550" y="4495800"/>
            <a:ext cx="2857500" cy="333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9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services/inference :8100 → ComfyUI :8188</a:t>
            </a:r>
            <a:endParaRPr lang="en-US" sz="109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1352550" y="4857750"/>
            <a:ext cx="285750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 spc="113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INFER</a:t>
            </a:r>
            <a:endParaRPr lang="en-US" sz="750" b="1" spc="113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4362450" y="4524375"/>
            <a:ext cx="300990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Qwen-Image 2.1 · MiniMax H3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comfyui-bridge </a:t>
            </a:r>
            <a:r>
              <a:rPr lang="zh-CN" sz="90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工作流）</a:t>
            </a:r>
            <a:endParaRPr lang="zh-CN" sz="90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1600200" y="3524250"/>
            <a:ext cx="19050" cy="76200"/>
          </a:xfrm>
          <a:prstGeom prst="rect">
            <a:avLst/>
          </a:prstGeom>
          <a:solidFill>
            <a:srgbClr val="C7D7FA"/>
          </a:solidFill>
        </p:spPr>
        <p:txBody>
          <a:bodyPr/>
          <a:p/>
        </p:txBody>
      </p:sp>
      <p:sp>
        <p:nvSpPr>
          <p:cNvPr id="172" name="矩形 171"/>
          <p:cNvSpPr/>
          <p:nvPr/>
        </p:nvSpPr>
        <p:spPr>
          <a:xfrm>
            <a:off x="1600200" y="4267200"/>
            <a:ext cx="19050" cy="76200"/>
          </a:xfrm>
          <a:prstGeom prst="rect">
            <a:avLst/>
          </a:prstGeom>
          <a:solidFill>
            <a:srgbClr val="C7D7FA"/>
          </a:solidFill>
        </p:spPr>
        <p:txBody>
          <a:bodyPr/>
          <a:p/>
        </p:txBody>
      </p:sp>
      <p:sp>
        <p:nvSpPr>
          <p:cNvPr id="173" name="矩形 172"/>
          <p:cNvSpPr/>
          <p:nvPr/>
        </p:nvSpPr>
        <p:spPr>
          <a:xfrm>
            <a:off x="1600200" y="5010150"/>
            <a:ext cx="19050" cy="76200"/>
          </a:xfrm>
          <a:prstGeom prst="rect">
            <a:avLst/>
          </a:prstGeom>
          <a:solidFill>
            <a:srgbClr val="C7D7FA"/>
          </a:solidFill>
        </p:spPr>
        <p:txBody>
          <a:bodyPr/>
          <a:p/>
        </p:txBody>
      </p:sp>
      <p:sp>
        <p:nvSpPr>
          <p:cNvPr id="174" name="矩形 173"/>
          <p:cNvSpPr/>
          <p:nvPr/>
        </p:nvSpPr>
        <p:spPr>
          <a:xfrm>
            <a:off x="1600200" y="5753100"/>
            <a:ext cx="19050" cy="76200"/>
          </a:xfrm>
          <a:prstGeom prst="rect">
            <a:avLst/>
          </a:prstGeom>
          <a:solidFill>
            <a:srgbClr val="C7D7FA"/>
          </a:solidFill>
        </p:spPr>
        <p:txBody>
          <a:bodyPr/>
          <a:p/>
        </p:txBody>
      </p:sp>
      <p:sp>
        <p:nvSpPr>
          <p:cNvPr id="175" name="圆角矩形 174"/>
          <p:cNvSpPr/>
          <p:nvPr/>
        </p:nvSpPr>
        <p:spPr>
          <a:xfrm>
            <a:off x="7791450" y="1428750"/>
            <a:ext cx="3790950" cy="4552950"/>
          </a:xfrm>
          <a:prstGeom prst="roundRect">
            <a:avLst>
              <a:gd name="adj" fmla="val 4020"/>
            </a:avLst>
          </a:prstGeom>
          <a:gradFill>
            <a:gsLst>
              <a:gs pos="0">
                <a:srgbClr val="0A1128"/>
              </a:gs>
              <a:gs pos="55000">
                <a:srgbClr val="16233F"/>
              </a:gs>
              <a:gs pos="100000">
                <a:srgbClr val="312E81"/>
              </a:gs>
            </a:gsLst>
            <a:lin ang="4200000" scaled="1"/>
          </a:gradFill>
          <a:effectLst>
            <a:outerShdw blurRad="285750" dist="95250" dir="5400000">
              <a:srgbClr val="0F172A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176" name="图片 17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39100" y="1676400"/>
            <a:ext cx="161925" cy="161925"/>
          </a:xfrm>
          <a:prstGeom prst="rect">
            <a:avLst/>
          </a:prstGeom>
        </p:spPr>
      </p:pic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8296275" y="1657350"/>
            <a:ext cx="1704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架构红线（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ADR-0004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圆角矩形 177"/>
          <p:cNvSpPr/>
          <p:nvPr/>
        </p:nvSpPr>
        <p:spPr>
          <a:xfrm>
            <a:off x="8039100" y="2000250"/>
            <a:ext cx="3295650" cy="409575"/>
          </a:xfrm>
          <a:prstGeom prst="roundRect">
            <a:avLst>
              <a:gd name="adj" fmla="val 2093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8153400" y="2105025"/>
            <a:ext cx="1333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825" b="1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8382000" y="2095500"/>
            <a:ext cx="28384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无</a:t>
            </a: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Redis / Postgres / </a:t>
            </a: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对象存储</a:t>
            </a:r>
            <a:endParaRPr lang="zh-CN" sz="94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圆角矩形 180"/>
          <p:cNvSpPr/>
          <p:nvPr/>
        </p:nvSpPr>
        <p:spPr>
          <a:xfrm>
            <a:off x="8039100" y="2562225"/>
            <a:ext cx="3295650" cy="409575"/>
          </a:xfrm>
          <a:prstGeom prst="roundRect">
            <a:avLst>
              <a:gd name="adj" fmla="val 2093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8153400" y="2667000"/>
            <a:ext cx="1333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825" b="1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8382000" y="2657475"/>
            <a:ext cx="28384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web </a:t>
            </a: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worker </a:t>
            </a: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直调</a:t>
            </a: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store</a:t>
            </a: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，无内部</a:t>
            </a: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HTTP</a:t>
            </a:r>
            <a:endParaRPr lang="en-US" sz="94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8039100" y="3124200"/>
            <a:ext cx="3295650" cy="409575"/>
          </a:xfrm>
          <a:prstGeom prst="roundRect">
            <a:avLst>
              <a:gd name="adj" fmla="val 2093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8153400" y="3228975"/>
            <a:ext cx="1333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825" b="1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8382000" y="3219450"/>
            <a:ext cx="28384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compose </a:t>
            </a: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唯一碰</a:t>
            </a: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ffmpeg</a:t>
            </a: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，只在</a:t>
            </a: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worker</a:t>
            </a:r>
            <a:endParaRPr lang="en-US" sz="94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" name="圆角矩形 186"/>
          <p:cNvSpPr/>
          <p:nvPr/>
        </p:nvSpPr>
        <p:spPr>
          <a:xfrm>
            <a:off x="8039100" y="3686175"/>
            <a:ext cx="3295650" cy="409575"/>
          </a:xfrm>
          <a:prstGeom prst="roundRect">
            <a:avLst>
              <a:gd name="adj" fmla="val 2093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8153400" y="3790950"/>
            <a:ext cx="1333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825" b="1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8382000" y="3781425"/>
            <a:ext cx="28384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providers </a:t>
            </a: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可插拔，换模型不改上层</a:t>
            </a:r>
            <a:endParaRPr lang="zh-CN" sz="94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圆角矩形 189"/>
          <p:cNvSpPr/>
          <p:nvPr/>
        </p:nvSpPr>
        <p:spPr>
          <a:xfrm>
            <a:off x="8039100" y="4248150"/>
            <a:ext cx="3295650" cy="409575"/>
          </a:xfrm>
          <a:prstGeom prst="roundRect">
            <a:avLst>
              <a:gd name="adj" fmla="val 2093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8153400" y="4352925"/>
            <a:ext cx="1333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825" b="1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8382000" y="4343400"/>
            <a:ext cx="28384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产物落本地磁盘</a:t>
            </a: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projects/&lt;</a:t>
            </a: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期号</a:t>
            </a: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&gt;/…</a:t>
            </a:r>
            <a:endParaRPr lang="en-US" sz="94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" name="圆角矩形 192"/>
          <p:cNvSpPr/>
          <p:nvPr/>
        </p:nvSpPr>
        <p:spPr>
          <a:xfrm>
            <a:off x="8039100" y="4810125"/>
            <a:ext cx="3295650" cy="409575"/>
          </a:xfrm>
          <a:prstGeom prst="roundRect">
            <a:avLst>
              <a:gd name="adj" fmla="val 2093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8153400" y="4914900"/>
            <a:ext cx="1333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sz="825" b="1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8382000" y="4905375"/>
            <a:ext cx="28384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store </a:t>
            </a: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保持</a:t>
            </a: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async</a:t>
            </a: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，为拆机留边界</a:t>
            </a:r>
            <a:endParaRPr lang="zh-CN" sz="94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6" name="图片 195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9600" y="6238875"/>
            <a:ext cx="123825" cy="123825"/>
          </a:xfrm>
          <a:prstGeom prst="rect">
            <a:avLst/>
          </a:prstGeom>
        </p:spPr>
      </p:pic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828675" y="6229350"/>
            <a:ext cx="29622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单机部署、单数据源，最大限度降低运维复杂度与一致性风险</a:t>
            </a:r>
            <a:endParaRPr lang="zh-CN" sz="86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" name="圆角矩形 197"/>
          <p:cNvSpPr/>
          <p:nvPr/>
        </p:nvSpPr>
        <p:spPr>
          <a:xfrm>
            <a:off x="609600" y="6496050"/>
            <a:ext cx="171450" cy="171450"/>
          </a:xfrm>
          <a:prstGeom prst="roundRect">
            <a:avLst>
              <a:gd name="adj" fmla="val 27778"/>
            </a:avLst>
          </a:prstGeom>
          <a:gradFill>
            <a:gsLst>
              <a:gs pos="0">
                <a:srgbClr val="60A5FA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647700" y="6524625"/>
            <a:ext cx="952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旅</a:t>
            </a:r>
            <a:endParaRPr lang="zh-CN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857250" y="6515100"/>
            <a:ext cx="1990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Kelvoy · AI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11191875" y="6515100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12 / 19</a:t>
            </a:r>
            <a:endParaRPr lang="en-US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2" name="" descr="&lt;Slide padding='0'&gt;&#10;    &lt;Box style={{ position: 'absolute', top: 0, left: 0, width: '1280px', height: '720px', background: '#F6F8FB' }} /&gt;&#10;    &lt;Box style={{ position: 'absolute', top: 0, left: 0, width: '1280px', height: '4px', background: 'linear-gradient(90deg,#2563EB 0%,#7C3AED 100%)' }} /&gt;&#10;&#10;    &lt;Box style={{ position: 'absolute', top: '42px', left: '64px', right: '64px', flexDirection: 'row', justifyContent: 'space-between', alignItems: 'center' }}&gt;&#10;        &lt;Text style={{ fontSize: '12px', fontWeight: '700', color: '#2563EB', letterSpacing: '2px' }}&gt;03 · 技术与工程&lt;/Text&gt;&#10;        &lt;Text style={{ fontSize: '11px', color: '#8A97AB', letterSpacing: '3px' }}&gt;MODELS &amp; PROVIDERS&lt;/Text&gt;&#10;    &lt;/Box&gt;&#10;    &lt;Text style={{ position: 'absolute', top: '68px', left: '64px', fontSize: '34px', fontWeight: 'bold', color: '#0B1220' }}&gt;&#10;        每个环节一个接口，&lt;span style={{ color: '#2563EB' }}&gt;本地为主、API 溢出&lt;/span&gt;&#10;    &lt;/Text&gt;&#10;    &lt;Box style={{ position: 'absolute', top: '116px', left: '64px', width: '44px', height: '4px', borderRadius: '2px', background: 'linear-gradient(90deg,#2563EB,#7C3AED)' }} /&gt;&#10;&#10;    &lt;Box style={{ position: 'absolute', top: '150px', left: '64px', right: '64px', flexDirection: 'row', padding: '0 18px' }}&gt;&#10;        &lt;Text style={{ width: '92px', fontSize: '12px', fontWeight: 700, color: '#8A97AB', letterSpacing: '1px' }}&gt;环节&lt;/Text&gt;&#10;        &lt;Text style={{ width: '300px', fontSize: '12px', fontWeight: 700, color: '#8A97AB', letterSpacing: '1px' }}&gt;模型 / 服务&lt;/Text&gt;&#10;        &lt;Text style={{ flex: 1, fontSize: '12px', fontWeight: 700, color: '#8A97AB', letterSpacing: '1px' }}&gt;说明&lt;/Text&gt;&#10;    &lt;/Box&gt;&#10;&#10;    &lt;Box style={{ position: 'absolute', top: '180px', left: '64px', right: '64px', flexDirection: 'column', gap: '9px' }}&gt;&#10;        {[&#10;            { tag: '脚本', icon: 'pen-nib', m: 'StepFun API', d: 'brief + 目的地包 → 24–30 镜结构化 JSON；支持按指令优化重生成', c: '#2563EB', bg: '#EFF4FE', local: false },&#10;            { tag: '图像', icon: 'image', m: 'Qwen-Image 2.1（ComfyUI）', d: '单参考 = 角色；双参考 = 角色 + 地标；每镜 1–3 候选', c: '#2563EB', bg: '#EFF4FE', local: true },&#10;            { tag: '视频', icon: 'film', m: 'MiniMax H3（ComfyUI）', d: '双参考直出 / 关键帧图生视频；生成预算 240–270 秒', c: '#7C3AED', bg: '#F5F1FE', local: true },&#10;            { tag: '溢出', icon: 'arrow-down-up-across-line', m: '可灵 / 即梦 API', d: '本地重试 ≤ 2 次自动切换；排队超阈值也直接溢出', c: '#F59E0B', bg: '#FEF6E7', local: false },&#10;            { tag: '音乐', icon: 'music', m: '授权素材库', d: '按 tone 检索授权曲目，MVP 不生成音乐', c: '#10B981', bg: '#E9F9F2', local: false },&#10;            { tag: '合成', icon: 'clapperboard', m: 'FFmpeg（Worker）', d: '30 帧整数窗口、LUT、ASS 字幕、转场、AI 标识、封装', c: '#0B1220', bg: '#F1F5F9', local: true },&#10;        ].map((r, i) =&gt; (&#10;            &lt;Box key={i} style={{ flexDirection: 'row', alignItems: 'center', gap: '18px', padding: '13px 18px', background: '#FFFFFF', borderRadius: '11px', border: '1px solid #E6EAF1' }}&gt;&#10;                &lt;Box style={{ width: '92px', flexDirection: 'row', alignItems: 'center', gap: '9px' }}&gt;&#10;                    &lt;Box style={{ width: '30px', height: '30px', borderRadius: '9px', background: r.bg, justifyContent: 'center', alignItems: 'center' }}&gt;&#10;                        &lt;FAIcon name={r.icon} style={{ fill: r.c, width: '14px', height: '14px' }} /&gt;&#10;                    &lt;/Box&gt;&#10;                    &lt;Text style={{ fontSize: '13.5px', fontWeight: 700, color: '#0B1220' }}&gt;{r.tag}&lt;/Text&gt;&#10;                &lt;/Box&gt;&#10;                &lt;Box style={{ width: '300px', flexDirection: 'row', alignItems: 'center', gap: '8px' }}&gt;&#10;                    &lt;Text style={{ fontSize: '13px', fontWeight: 600, color: r.c === '#0B1220' ? '#334155' : r.c }}&gt;{r.m}&lt;/Text&gt;&#10;                    {r.local &amp;&amp; (&#10;                        &lt;Box style={{ padding: '2px 8px', borderRadius: '999px', background: '#E9F9F2', border: '1px solid #A7E8CF' }}&gt;&#10;                            &lt;Text style={{ fontSize: '9.5px', fontWeight: 700, color: '#059669' }}&gt;本地&lt;/Text&gt;&#10;                        &lt;/Box&gt;&#10;                    )}&#10;                &lt;/Box&gt;&#10;                &lt;Text style={{ flex: 1, fontSize: '12.5px', color: '#5B6B84', lineHeight: 1.5 }}&gt;{r.d}&lt;/Text&gt;&#10;            &lt;/Box&gt;&#10;        ))}&#10;    &lt;/Box&gt;&#10;&#10;    &lt;Box style={{ position: 'absolute', top: '600px', left: '64px', right: '64px', padding: '14px 20px', borderRadius: '11px', background: '#0B1220', flexDirection: 'row', alignItems: 'center', gap: '12px' }}&gt;&#10;        &lt;FAIcon name='receipt' style={{ fill: '#93C5FD', width: '15px', height: '15px' }} /&gt;&#10;        &lt;Text style={{ fontSize: '12.5px', color: 'rgba(255,255,255,0.88)' }}&gt;&#10;            每次调用记录 &lt;span style={{ color: '#93C5FD', fontWeight: 600 }}&gt;provider / 模型 / 版本 / seed / 参考图哈希 / 费用&lt;/span&gt;，期级汇总成成本报告&#10;        &lt;/Text&gt;&#10;    &lt;/Box&gt;&#10;&#10;    &lt;Box style={{ position: 'absolute', bottom: '20px', left: '64px', right: '64px', flexDirection: 'row', justifyContent: 'space-between', alignItems: 'center' }}&gt;&#10;        &lt;Box style={{ flexDirection: 'row', alignItems: 'center', gap: '8px' }}&gt;&#10;            &lt;Box style={{ width: '18px', height: '18px', borderRadius: '5px', background: 'linear-gradient(135deg,#60A5FA,#2563EB)', justifyContent: 'center', alignItems: 'center' }}&gt;&#10;                &lt;Text style={{ fontSize: '10px', fontWeight: 'bold', color: '#FFFFFF' }}&gt;旅&lt;/Text&gt;&#10;            &lt;/Box&gt;&#10;            &lt;Text style={{ fontSize: '12px', color: '#8A97AB' }}&gt;可旅 Kelvoy · AI 旅行 Vlog 生产工作台&lt;/Text&gt;&#10;        &lt;/Box&gt;&#10;        &lt;Text style={{ fontSize: '12px', color: '#8A97AB' }}&gt;13 / 1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矩形 2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</p:spPr>
        <p:txBody>
          <a:bodyPr/>
          <a:p/>
        </p:txBody>
      </p:sp>
      <p:sp>
        <p:nvSpPr>
          <p:cNvPr id="204" name="矩形 20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609600" y="400050"/>
            <a:ext cx="1028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03 · </a:t>
            </a:r>
            <a:r>
              <a:rPr lang="zh-CN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技术与工程</a:t>
            </a:r>
            <a:endParaRPr lang="zh-CN" sz="900" b="1" spc="1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9886950" y="409575"/>
            <a:ext cx="16954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22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MODELS &amp; PROVIDERS</a:t>
            </a:r>
            <a:endParaRPr lang="en-US" sz="825" spc="22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609600" y="647700"/>
            <a:ext cx="58483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每个环节一个接口，</a:t>
            </a:r>
            <a:r>
              <a:rPr lang="zh-CN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本地为主、</a:t>
            </a:r>
            <a:r>
              <a:rPr lang="en-US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API </a:t>
            </a:r>
            <a:r>
              <a:rPr lang="zh-CN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溢出</a:t>
            </a:r>
            <a:endParaRPr lang="zh-CN" sz="25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圆角矩形 207"/>
          <p:cNvSpPr/>
          <p:nvPr/>
        </p:nvSpPr>
        <p:spPr>
          <a:xfrm>
            <a:off x="609600" y="1104900"/>
            <a:ext cx="4191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781050" y="1428750"/>
            <a:ext cx="876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环节</a:t>
            </a:r>
            <a:endParaRPr lang="zh-CN" sz="900" b="1" spc="7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1657350" y="1428750"/>
            <a:ext cx="2857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模型</a:t>
            </a:r>
            <a:r>
              <a:rPr lang="en-US" sz="900" b="1" spc="7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 b="1" spc="7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服务</a:t>
            </a:r>
            <a:endParaRPr lang="zh-CN" sz="900" b="1" spc="7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4514850" y="1428750"/>
            <a:ext cx="68961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7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说明</a:t>
            </a:r>
            <a:endParaRPr lang="zh-CN" sz="900" b="1" spc="7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圆角矩形 211"/>
          <p:cNvSpPr/>
          <p:nvPr/>
        </p:nvSpPr>
        <p:spPr>
          <a:xfrm>
            <a:off x="609600" y="1714500"/>
            <a:ext cx="10972800" cy="533400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213" name="圆角矩形 212"/>
          <p:cNvSpPr/>
          <p:nvPr/>
        </p:nvSpPr>
        <p:spPr>
          <a:xfrm>
            <a:off x="781050" y="1838325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EFF4FE"/>
          </a:solidFill>
        </p:spPr>
        <p:txBody>
          <a:bodyPr/>
          <a:p/>
        </p:txBody>
      </p:sp>
      <p:pic>
        <p:nvPicPr>
          <p:cNvPr id="214" name="图片 21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250" y="1914525"/>
            <a:ext cx="133350" cy="133350"/>
          </a:xfrm>
          <a:prstGeom prst="rect">
            <a:avLst/>
          </a:prstGeom>
        </p:spPr>
      </p:pic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1152525" y="1905000"/>
            <a:ext cx="257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脚本</a:t>
            </a:r>
            <a:endParaRPr lang="zh-CN" sz="101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1828800" y="1905000"/>
            <a:ext cx="762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StepFun API</a:t>
            </a:r>
            <a:endParaRPr lang="en-US"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4857750" y="1876425"/>
            <a:ext cx="6553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brief +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目的地包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→ 5-10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镜结构化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JSON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；支持按指令优化重生成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圆角矩形 217"/>
          <p:cNvSpPr/>
          <p:nvPr/>
        </p:nvSpPr>
        <p:spPr>
          <a:xfrm>
            <a:off x="609600" y="2333625"/>
            <a:ext cx="10972800" cy="533400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219" name="圆角矩形 218"/>
          <p:cNvSpPr/>
          <p:nvPr/>
        </p:nvSpPr>
        <p:spPr>
          <a:xfrm>
            <a:off x="781050" y="245745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EFF4FE"/>
          </a:solidFill>
        </p:spPr>
        <p:txBody>
          <a:bodyPr/>
          <a:p/>
        </p:txBody>
      </p:sp>
      <p:pic>
        <p:nvPicPr>
          <p:cNvPr id="220" name="图片 21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250" y="2533650"/>
            <a:ext cx="133350" cy="133350"/>
          </a:xfrm>
          <a:prstGeom prst="rect">
            <a:avLst/>
          </a:prstGeom>
        </p:spPr>
      </p:pic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1152525" y="2524125"/>
            <a:ext cx="257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图像</a:t>
            </a:r>
            <a:endParaRPr lang="zh-CN" sz="101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1828800" y="2524125"/>
            <a:ext cx="18288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Qwen-Image 2.1</a:t>
            </a:r>
            <a:r>
              <a:rPr lang="zh-CN"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ComfyUI</a:t>
            </a:r>
            <a:r>
              <a:rPr lang="zh-CN"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3733800" y="2524125"/>
            <a:ext cx="333375" cy="152400"/>
          </a:xfrm>
          <a:prstGeom prst="roundRect">
            <a:avLst>
              <a:gd name="adj" fmla="val 6243750"/>
            </a:avLst>
          </a:prstGeom>
          <a:solidFill>
            <a:srgbClr val="E9F9F2"/>
          </a:solidFill>
          <a:ln w="12700">
            <a:solidFill>
              <a:srgbClr val="A7E8CF"/>
            </a:solidFill>
            <a:prstDash val="solid"/>
          </a:ln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3810000" y="2543175"/>
            <a:ext cx="180975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本地</a:t>
            </a:r>
            <a:endParaRPr lang="zh-CN" sz="715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4857750" y="2495550"/>
            <a:ext cx="6553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单参考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角色；双参考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角色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地标；每镜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1–3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候选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圆角矩形 225"/>
          <p:cNvSpPr/>
          <p:nvPr/>
        </p:nvSpPr>
        <p:spPr>
          <a:xfrm>
            <a:off x="609600" y="2952750"/>
            <a:ext cx="10972800" cy="533400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227" name="圆角矩形 226"/>
          <p:cNvSpPr/>
          <p:nvPr/>
        </p:nvSpPr>
        <p:spPr>
          <a:xfrm>
            <a:off x="781050" y="3076575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F5F1FE"/>
          </a:solidFill>
        </p:spPr>
        <p:txBody>
          <a:bodyPr/>
          <a:p/>
        </p:txBody>
      </p:sp>
      <p:pic>
        <p:nvPicPr>
          <p:cNvPr id="228" name="图片 22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7250" y="3152775"/>
            <a:ext cx="133350" cy="133350"/>
          </a:xfrm>
          <a:prstGeom prst="rect">
            <a:avLst/>
          </a:prstGeom>
        </p:spPr>
      </p:pic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1152525" y="3143250"/>
            <a:ext cx="257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视频</a:t>
            </a:r>
            <a:endParaRPr lang="zh-CN" sz="101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1828800" y="3143250"/>
            <a:ext cx="15716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MiniMax H3</a:t>
            </a:r>
            <a:r>
              <a:rPr lang="zh-CN" sz="9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ComfyUI</a:t>
            </a:r>
            <a:r>
              <a:rPr lang="zh-CN" sz="9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3476625" y="3143250"/>
            <a:ext cx="333375" cy="152400"/>
          </a:xfrm>
          <a:prstGeom prst="roundRect">
            <a:avLst>
              <a:gd name="adj" fmla="val 6243750"/>
            </a:avLst>
          </a:prstGeom>
          <a:solidFill>
            <a:srgbClr val="E9F9F2"/>
          </a:solidFill>
          <a:ln w="12700">
            <a:solidFill>
              <a:srgbClr val="A7E8CF"/>
            </a:solidFill>
            <a:prstDash val="solid"/>
          </a:ln>
        </p:spPr>
        <p:txBody>
          <a:bodyPr/>
          <a:p/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3552825" y="3162300"/>
            <a:ext cx="180975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本地</a:t>
            </a:r>
            <a:endParaRPr lang="zh-CN" sz="715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4857750" y="3114675"/>
            <a:ext cx="6553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双参考直出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关键帧图生视频；生成预算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240–270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秒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圆角矩形 233"/>
          <p:cNvSpPr/>
          <p:nvPr/>
        </p:nvSpPr>
        <p:spPr>
          <a:xfrm>
            <a:off x="609600" y="3571875"/>
            <a:ext cx="10972800" cy="533400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235" name="圆角矩形 234"/>
          <p:cNvSpPr/>
          <p:nvPr/>
        </p:nvSpPr>
        <p:spPr>
          <a:xfrm>
            <a:off x="781050" y="369570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FEF6E7"/>
          </a:solidFill>
        </p:spPr>
        <p:txBody>
          <a:bodyPr/>
          <a:p/>
        </p:txBody>
      </p:sp>
      <p:pic>
        <p:nvPicPr>
          <p:cNvPr id="236" name="图片 23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250" y="3771900"/>
            <a:ext cx="133350" cy="133350"/>
          </a:xfrm>
          <a:prstGeom prst="rect">
            <a:avLst/>
          </a:prstGeom>
        </p:spPr>
      </p:pic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1152525" y="3762375"/>
            <a:ext cx="257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溢出</a:t>
            </a:r>
            <a:endParaRPr lang="zh-CN" sz="101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1828800" y="3762375"/>
            <a:ext cx="885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可灵</a:t>
            </a:r>
            <a:r>
              <a:rPr lang="en-US" sz="9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即梦</a:t>
            </a:r>
            <a:r>
              <a:rPr lang="en-US" sz="9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API</a:t>
            </a:r>
            <a:endParaRPr lang="en-US" sz="97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4857750" y="3733800"/>
            <a:ext cx="6553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本地重试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≤ 2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次自动切换；排队超阈值也直接溢出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" name="圆角矩形 239"/>
          <p:cNvSpPr/>
          <p:nvPr/>
        </p:nvSpPr>
        <p:spPr>
          <a:xfrm>
            <a:off x="609600" y="4191000"/>
            <a:ext cx="10972800" cy="533400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241" name="圆角矩形 240"/>
          <p:cNvSpPr/>
          <p:nvPr/>
        </p:nvSpPr>
        <p:spPr>
          <a:xfrm>
            <a:off x="781050" y="4314825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E9F9F2"/>
          </a:solidFill>
        </p:spPr>
        <p:txBody>
          <a:bodyPr/>
          <a:p/>
        </p:txBody>
      </p:sp>
      <p:pic>
        <p:nvPicPr>
          <p:cNvPr id="242" name="图片 24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7250" y="4391025"/>
            <a:ext cx="133350" cy="133350"/>
          </a:xfrm>
          <a:prstGeom prst="rect">
            <a:avLst/>
          </a:prstGeom>
        </p:spPr>
      </p:pic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1152525" y="4381500"/>
            <a:ext cx="257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音乐</a:t>
            </a:r>
            <a:endParaRPr lang="zh-CN" sz="101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1828800" y="4381500"/>
            <a:ext cx="619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授权素材库</a:t>
            </a:r>
            <a:endParaRPr lang="zh-CN" sz="975" b="1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4857750" y="4352925"/>
            <a:ext cx="6553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tone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检索授权曲目，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MVP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不生成音乐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" name="圆角矩形 245"/>
          <p:cNvSpPr/>
          <p:nvPr/>
        </p:nvSpPr>
        <p:spPr>
          <a:xfrm>
            <a:off x="609600" y="4810125"/>
            <a:ext cx="10972800" cy="533400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247" name="圆角矩形 246"/>
          <p:cNvSpPr/>
          <p:nvPr/>
        </p:nvSpPr>
        <p:spPr>
          <a:xfrm>
            <a:off x="781050" y="493395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F1F5F9"/>
          </a:solidFill>
        </p:spPr>
        <p:txBody>
          <a:bodyPr/>
          <a:p/>
        </p:txBody>
      </p:sp>
      <p:pic>
        <p:nvPicPr>
          <p:cNvPr id="248" name="图片 247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7250" y="5010150"/>
            <a:ext cx="133350" cy="133350"/>
          </a:xfrm>
          <a:prstGeom prst="rect">
            <a:avLst/>
          </a:prstGeom>
        </p:spPr>
      </p:pic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1152525" y="5000625"/>
            <a:ext cx="257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合成</a:t>
            </a:r>
            <a:endParaRPr lang="zh-CN" sz="101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1828800" y="5000625"/>
            <a:ext cx="12096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FFmpeg</a:t>
            </a:r>
            <a:r>
              <a:rPr lang="zh-CN" sz="9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Worker</a:t>
            </a:r>
            <a:r>
              <a:rPr lang="zh-CN" sz="9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圆角矩形 250"/>
          <p:cNvSpPr/>
          <p:nvPr/>
        </p:nvSpPr>
        <p:spPr>
          <a:xfrm>
            <a:off x="3114675" y="5000625"/>
            <a:ext cx="333375" cy="152400"/>
          </a:xfrm>
          <a:prstGeom prst="roundRect">
            <a:avLst>
              <a:gd name="adj" fmla="val 6243750"/>
            </a:avLst>
          </a:prstGeom>
          <a:solidFill>
            <a:srgbClr val="E9F9F2"/>
          </a:solidFill>
          <a:ln w="12700">
            <a:solidFill>
              <a:srgbClr val="A7E8CF"/>
            </a:solidFill>
            <a:prstDash val="solid"/>
          </a:ln>
        </p:spPr>
        <p:txBody>
          <a:bodyPr/>
          <a:p/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3190875" y="5019675"/>
            <a:ext cx="180975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本地</a:t>
            </a:r>
            <a:endParaRPr lang="zh-CN" sz="715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4857750" y="4972050"/>
            <a:ext cx="6553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30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帧整数窗口、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LUT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ASS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字幕、转场、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标识、封装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" name="圆角矩形 253"/>
          <p:cNvSpPr/>
          <p:nvPr/>
        </p:nvSpPr>
        <p:spPr>
          <a:xfrm>
            <a:off x="609600" y="5715000"/>
            <a:ext cx="10972800" cy="409575"/>
          </a:xfrm>
          <a:prstGeom prst="roundRect">
            <a:avLst>
              <a:gd name="adj" fmla="val 25581"/>
            </a:avLst>
          </a:prstGeom>
          <a:solidFill>
            <a:srgbClr val="0B1220"/>
          </a:solidFill>
        </p:spPr>
        <p:txBody>
          <a:bodyPr/>
          <a:p/>
        </p:txBody>
      </p:sp>
      <p:pic>
        <p:nvPicPr>
          <p:cNvPr id="255" name="图片 254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0100" y="5848350"/>
            <a:ext cx="142875" cy="142875"/>
          </a:xfrm>
          <a:prstGeom prst="rect">
            <a:avLst/>
          </a:prstGeom>
        </p:spPr>
      </p:pic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1057275" y="5848350"/>
            <a:ext cx="4676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每次调用记录</a:t>
            </a:r>
            <a:r>
              <a:rPr lang="en-US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4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provider / </a:t>
            </a:r>
            <a:r>
              <a:rPr lang="zh-CN" sz="94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模型</a:t>
            </a:r>
            <a:r>
              <a:rPr lang="en-US" sz="94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4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版本</a:t>
            </a:r>
            <a:r>
              <a:rPr lang="en-US" sz="94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 / seed / </a:t>
            </a:r>
            <a:r>
              <a:rPr lang="zh-CN" sz="94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参考图哈希</a:t>
            </a:r>
            <a:r>
              <a:rPr lang="en-US" sz="94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4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费用</a:t>
            </a:r>
            <a:r>
              <a:rPr lang="zh-CN" sz="94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，期级汇总成成本报告</a:t>
            </a:r>
            <a:endParaRPr lang="zh-CN" sz="94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圆角矩形 256"/>
          <p:cNvSpPr/>
          <p:nvPr/>
        </p:nvSpPr>
        <p:spPr>
          <a:xfrm>
            <a:off x="609600" y="6496050"/>
            <a:ext cx="171450" cy="171450"/>
          </a:xfrm>
          <a:prstGeom prst="roundRect">
            <a:avLst>
              <a:gd name="adj" fmla="val 27778"/>
            </a:avLst>
          </a:prstGeom>
          <a:gradFill>
            <a:gsLst>
              <a:gs pos="0">
                <a:srgbClr val="60A5FA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647700" y="6524625"/>
            <a:ext cx="952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旅</a:t>
            </a:r>
            <a:endParaRPr lang="zh-CN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857250" y="6515100"/>
            <a:ext cx="1990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Kelvoy · AI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11191875" y="6515100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13 / 19</a:t>
            </a:r>
            <a:endParaRPr lang="en-US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1" name="" descr="&lt;Slide padding='0'&gt;&#10;    &lt;Box style={{ position: 'absolute', top: 0, left: 0, width: '1280px', height: '720px', background: '#F6F8FB' }} /&gt;&#10;    &lt;Box style={{ position: 'absolute', top: 0, left: 0, width: '1280px', height: '4px', background: 'linear-gradient(90deg,#2563EB 0%,#7C3AED 100%)' }} /&gt;&#10;&#10;    &lt;Box style={{ position: 'absolute', top: '42px', left: '64px', right: '64px', flexDirection: 'row', justifyContent: 'space-between', alignItems: 'center' }}&gt;&#10;        &lt;Text style={{ fontSize: '12px', fontWeight: '700', color: '#2563EB', letterSpacing: '2px' }}&gt;03 · 技术与工程&lt;/Text&gt;&#10;        &lt;Text style={{ fontSize: '11px', color: '#8A97AB', letterSpacing: '3px' }}&gt;ENGINEERING&lt;/Text&gt;&#10;    &lt;/Box&gt;&#10;    &lt;Text style={{ position: 'absolute', top: '68px', left: '64px', fontSize: '34px', fontWeight: 'bold', color: '#0B1220' }}&gt;&#10;        敢在现场重试的&lt;span style={{ color: '#2563EB' }}&gt;六个设计&lt;/span&gt;&#10;    &lt;/Text&gt;&#10;    &lt;Box style={{ position: 'absolute', top: '116px', left: '64px', width: '44px', height: '4px', borderRadius: '2px', background: 'linear-gradient(90deg,#2563EB,#7C3AED)' }} /&gt;&#10;&#10;    &lt;Box style={{ position: 'absolute', top: '150px', left: '64px', right: '64px', flexDirection: 'row', gap: '18px' }}&gt;&#10;        {[&#10;            { icon: 'file-signature', t: '任务租约', d: '租约到期由下一次队列领取回收；Worker 重启不丢任务' },&#10;            { icon: 'layer-group', t: '事务化结果提交', d: '任务结果、期状态、积分结算单事务落库（ADR-0007）' },&#10;            { icon: 'rotate-left', t: '失败重试复用候选', d: '沿用原 generation_id，已成功落盘的候选不重复烧 GPU' },&#10;        ].map((c, i) =&gt; (&#10;            &lt;Box key={i} style={{ flex: 1, padding: '22px 24px', background: '#FFFFFF', borderRadius: '14px', border: '1px solid #E6EAF1', boxShadow: '0 2px 12px rgba(15,23,42,0.04)', flexDirection: 'column', gap: '11px' }}&gt;&#10;                &lt;Box style={{ flexDirection: 'row', alignItems: 'center', justifyContent: 'space-between' }}&gt;&#10;                    &lt;Box style={{ width: '38px', height: '38px', borderRadius: '11px', background: '#EFF4FE', justifyContent: 'center', alignItems: 'center' }}&gt;&#10;                        &lt;FAIcon name={c.icon} style={{ fill: '#2563EB', width: '17px', height: '17px' }} /&gt;&#10;                    &lt;/Box&gt;&#10;                    &lt;Box style={{ width: '24px', height: '24px', borderRadius: '12px', background: '#E9F9F2', justifyContent: 'center', alignItems: 'center' }}&gt;&#10;                        &lt;FAIcon name='check' style={{ fill: '#10B981', width: '12px', height: '12px' }} /&gt;&#10;                    &lt;/Box&gt;&#10;                &lt;/Box&gt;&#10;                &lt;Text style={{ fontSize: '16.5px', fontWeight: 'bold', color: '#0B1220' }}&gt;{c.t}&lt;/Text&gt;&#10;                &lt;Text style={{ fontSize: '12.5px', color: '#5B6B84', lineHeight: 1.65 }}&gt;{c.d}&lt;/Text&gt;&#10;            &lt;/Box&gt;&#10;        ))}&#10;    &lt;/Box&gt;&#10;&#10;    &lt;Box style={{ position: 'absolute', top: '330px', left: '64px', right: '64px', flexDirection: 'row', gap: '18px' }}&gt;&#10;        {[&#10;            { icon: 'power-off', t: '优雅停机', d: 'SIGTERM 停止领新任务，等待在跑任务收尾再退出' },&#10;            { icon: 'file-circle-check', t: '媒体完整性校验', d: '流式下载限 512 MiB；Pillow 验图、ffmpeg 验流，损坏即取消' },&#10;            { icon: 'broom', t: '过期产物清扫', d: 'Worker 每小时清理过期推理媒体与发布暂存，控磁盘水位' },&#10;        ].map((c, i) =&gt; (&#10;            &lt;Box key={i} style={{ flex: 1, padding: '22px 24px', background: '#FFFFFF', borderRadius: '14px', border: '1px solid #E6EAF1', boxShadow: '0 2px 12px rgba(15,23,42,0.04)', flexDirection: 'column', gap: '11px' }}&gt;&#10;                &lt;Box style={{ flexDirection: 'row', alignItems: 'center', justifyContent: 'space-between' }}&gt;&#10;                    &lt;Box style={{ width: '38px', height: '38px', borderRadius: '11px', background: '#F5F1FE', justifyContent: 'center', alignItems: 'center' }}&gt;&#10;                        &lt;FAIcon name={c.icon} style={{ fill: '#7C3AED', width: '17px', height: '17px' }} /&gt;&#10;                    &lt;/Box&gt;&#10;                    &lt;Box style={{ width: '24px', height: '24px', borderRadius: '12px', background: '#E9F9F2', justifyContent: 'center', alignItems: 'center' }}&gt;&#10;                        &lt;FAIcon name='check' style={{ fill: '#10B981', width: '12px', height: '12px' }} /&gt;&#10;                    &lt;/Box&gt;&#10;                &lt;/Box&gt;&#10;                &lt;Text style={{ fontSize: '16.5px', fontWeight: 'bold', color: '#0B1220' }}&gt;{c.t}&lt;/Text&gt;&#10;                &lt;Text style={{ fontSize: '12.5px', color: '#5B6B84', lineHeight: 1.65 }}&gt;{c.d}&lt;/Text&gt;&#10;            &lt;/Box&gt;&#10;        ))}&#10;    &lt;/Box&gt;&#10;&#10;    &lt;Box style={{ position: 'absolute', top: '500px', left: '64px', right: '64px', padding: '22px 28px', borderRadius: '14px', background: 'linear-gradient(120deg,#0A1128 0%,#16233F 60%,#312E81 100%)', flexDirection: 'row', alignItems: 'center', gap: '24px', boxShadow: '0 10px 30px rgba(15,23,42,0.22)' }}&gt;&#10;        &lt;Box style={{ width: '46px', height: '46px', borderRadius: '13px', background: 'rgba(96,165,250,0.16)', border: '1px solid rgba(96,165,250,0.4)', justifyContent: 'center', alignItems: 'center' }}&gt;&#10;            &lt;FAIcon name='rotate' style={{ fill: '#93C5FD', width: '21px', height: '21px' }} /&gt;&#10;        &lt;/Box&gt;&#10;        &lt;Box style={{ flex: 1, flexDirection: 'column', gap: '7px' }}&gt;&#10;            &lt;Text style={{ fontSize: '17px', fontWeight: 'bold', color: '#FFFFFF' }}&gt;设计原则&lt;/Text&gt;&#10;            &lt;Text style={{ fontSize: '13.5px', color: 'rgba(255,255,255,0.82)', lineHeight: 1.6 }}&gt;&#10;                失败是常态 —— 每条机制都让&lt;span style={{ color: '#93C5FD', fontWeight: 600 }}&gt;「重试」更便宜、更安全&lt;/span&gt;：不丢任务、不烧重复算力、不流出坏产物。&#10;            &lt;/Text&gt;&#10;        &lt;/Box&gt;&#10;    &lt;/Box&gt;&#10;&#10;    &lt;Box style={{ position: 'absolute', top: '634px', left: '64px', right: '64px', flexDirection: 'row', gap: '14px' }}&gt;&#10;        {['不丢任务', '不重复烧卡', '不出脏数据', '不中断生成', '不传坏文件', '不涨磁盘'].map((t, i) =&gt; (&#10;            &lt;Box key={i} style={{ flex: 1, padding: '9px 0', borderRadius: '9px', background: '#FFFFFF', border: '1px solid #E6EAF1', justifyContent: 'center', alignItems: 'center' }}&gt;&#10;                &lt;Text style={{ fontSize: '12px', fontWeight: 600, color: '#42536B' }}&gt;{t}&lt;/Text&gt;&#10;            &lt;/Box&gt;&#10;        ))}&#10;    &lt;/Box&gt;&#10;&#10;    &lt;Box style={{ position: 'absolute', bottom: '20px', left: '64px', right: '64px', flexDirection: 'row', justifyContent: 'space-between', alignItems: 'center' }}&gt;&#10;        &lt;Box style={{ flexDirection: 'row', alignItems: 'center', gap: '8px' }}&gt;&#10;            &lt;Box style={{ width: '18px', height: '18px', borderRadius: '5px', background: 'linear-gradient(135deg,#60A5FA,#2563EB)', justifyContent: 'center', alignItems: 'center' }}&gt;&#10;                &lt;Text style={{ fontSize: '10px', fontWeight: 'bold', color: '#FFFFFF' }}&gt;旅&lt;/Text&gt;&#10;            &lt;/Box&gt;&#10;            &lt;Text style={{ fontSize: '12px', color: '#8A97AB' }}&gt;可旅 Kelvoy · AI 旅行 Vlog 生产工作台&lt;/Text&gt;&#10;        &lt;/Box&gt;&#10;        &lt;Text style={{ fontSize: '12px', color: '#8A97AB' }}&gt;14 / 1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矩形 2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</p:spPr>
        <p:txBody>
          <a:bodyPr/>
          <a:p/>
        </p:txBody>
      </p:sp>
      <p:sp>
        <p:nvSpPr>
          <p:cNvPr id="263" name="矩形 26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609600" y="400050"/>
            <a:ext cx="1028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03 · </a:t>
            </a:r>
            <a:r>
              <a:rPr lang="zh-CN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技术与工程</a:t>
            </a:r>
            <a:endParaRPr lang="zh-CN" sz="900" b="1" spc="1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10553700" y="409575"/>
            <a:ext cx="10287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22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ENGINEERING</a:t>
            </a:r>
            <a:endParaRPr lang="en-US" sz="825" spc="22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609600" y="647700"/>
            <a:ext cx="35623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敢在现场重试的</a:t>
            </a:r>
            <a:r>
              <a:rPr lang="zh-CN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六个设计</a:t>
            </a:r>
            <a:endParaRPr lang="zh-CN" sz="25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圆角矩形 266"/>
          <p:cNvSpPr/>
          <p:nvPr/>
        </p:nvSpPr>
        <p:spPr>
          <a:xfrm>
            <a:off x="609600" y="1104900"/>
            <a:ext cx="4191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268" name="圆角矩形 267"/>
          <p:cNvSpPr/>
          <p:nvPr/>
        </p:nvSpPr>
        <p:spPr>
          <a:xfrm>
            <a:off x="609600" y="1428750"/>
            <a:ext cx="3543300" cy="1419225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69" name="圆角矩形 268"/>
          <p:cNvSpPr/>
          <p:nvPr/>
        </p:nvSpPr>
        <p:spPr>
          <a:xfrm>
            <a:off x="838200" y="1638300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EFF4FE"/>
          </a:solidFill>
        </p:spPr>
        <p:txBody>
          <a:bodyPr/>
          <a:p/>
        </p:txBody>
      </p:sp>
      <p:pic>
        <p:nvPicPr>
          <p:cNvPr id="270" name="图片 26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2975" y="1743075"/>
            <a:ext cx="161925" cy="161925"/>
          </a:xfrm>
          <a:prstGeom prst="rect">
            <a:avLst/>
          </a:prstGeom>
        </p:spPr>
      </p:pic>
      <p:sp>
        <p:nvSpPr>
          <p:cNvPr id="271" name="圆角矩形 270"/>
          <p:cNvSpPr/>
          <p:nvPr/>
        </p:nvSpPr>
        <p:spPr>
          <a:xfrm>
            <a:off x="3695700" y="17049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9F9F2"/>
          </a:solidFill>
        </p:spPr>
        <p:txBody>
          <a:bodyPr/>
          <a:p/>
        </p:txBody>
      </p:sp>
      <p:pic>
        <p:nvPicPr>
          <p:cNvPr id="272" name="图片 27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2850" y="1762125"/>
            <a:ext cx="114300" cy="114300"/>
          </a:xfrm>
          <a:prstGeom prst="rect">
            <a:avLst/>
          </a:prstGeom>
        </p:spPr>
      </p:pic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838200" y="2105025"/>
            <a:ext cx="30861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任务租约</a:t>
            </a:r>
            <a:endParaRPr lang="zh-CN" sz="124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838200" y="2400300"/>
            <a:ext cx="3086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租约到期由下一次队列领取回收；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Worker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重启不丢任务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圆角矩形 274"/>
          <p:cNvSpPr/>
          <p:nvPr/>
        </p:nvSpPr>
        <p:spPr>
          <a:xfrm>
            <a:off x="4324350" y="1428750"/>
            <a:ext cx="3543300" cy="1419225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76" name="圆角矩形 275"/>
          <p:cNvSpPr/>
          <p:nvPr/>
        </p:nvSpPr>
        <p:spPr>
          <a:xfrm>
            <a:off x="4552950" y="1638300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EFF4FE"/>
          </a:solidFill>
        </p:spPr>
        <p:txBody>
          <a:bodyPr/>
          <a:p/>
        </p:txBody>
      </p:sp>
      <p:pic>
        <p:nvPicPr>
          <p:cNvPr id="277" name="图片 27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7725" y="1743075"/>
            <a:ext cx="161925" cy="161925"/>
          </a:xfrm>
          <a:prstGeom prst="rect">
            <a:avLst/>
          </a:prstGeom>
        </p:spPr>
      </p:pic>
      <p:sp>
        <p:nvSpPr>
          <p:cNvPr id="278" name="圆角矩形 277"/>
          <p:cNvSpPr/>
          <p:nvPr/>
        </p:nvSpPr>
        <p:spPr>
          <a:xfrm>
            <a:off x="7410450" y="17049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9F9F2"/>
          </a:solidFill>
        </p:spPr>
        <p:txBody>
          <a:bodyPr/>
          <a:p/>
        </p:txBody>
      </p:sp>
      <p:pic>
        <p:nvPicPr>
          <p:cNvPr id="279" name="图片 27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7600" y="1762125"/>
            <a:ext cx="114300" cy="114300"/>
          </a:xfrm>
          <a:prstGeom prst="rect">
            <a:avLst/>
          </a:prstGeom>
        </p:spPr>
      </p:pic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4552950" y="2105025"/>
            <a:ext cx="30861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事务化结果提交</a:t>
            </a:r>
            <a:endParaRPr lang="zh-CN" sz="124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4552950" y="2400300"/>
            <a:ext cx="3086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任务结果、期状态、积分结算单事务落库（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ADR-0007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" name="圆角矩形 281"/>
          <p:cNvSpPr/>
          <p:nvPr/>
        </p:nvSpPr>
        <p:spPr>
          <a:xfrm>
            <a:off x="8039100" y="1428750"/>
            <a:ext cx="3543300" cy="1419225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83" name="圆角矩形 282"/>
          <p:cNvSpPr/>
          <p:nvPr/>
        </p:nvSpPr>
        <p:spPr>
          <a:xfrm>
            <a:off x="8267700" y="1638300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EFF4FE"/>
          </a:solidFill>
        </p:spPr>
        <p:txBody>
          <a:bodyPr/>
          <a:p/>
        </p:txBody>
      </p:sp>
      <p:pic>
        <p:nvPicPr>
          <p:cNvPr id="284" name="图片 28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2475" y="1743075"/>
            <a:ext cx="161925" cy="161925"/>
          </a:xfrm>
          <a:prstGeom prst="rect">
            <a:avLst/>
          </a:prstGeom>
        </p:spPr>
      </p:pic>
      <p:sp>
        <p:nvSpPr>
          <p:cNvPr id="285" name="圆角矩形 284"/>
          <p:cNvSpPr/>
          <p:nvPr/>
        </p:nvSpPr>
        <p:spPr>
          <a:xfrm>
            <a:off x="11125200" y="17049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9F9F2"/>
          </a:solidFill>
        </p:spPr>
        <p:txBody>
          <a:bodyPr/>
          <a:p/>
        </p:txBody>
      </p:sp>
      <p:pic>
        <p:nvPicPr>
          <p:cNvPr id="286" name="图片 28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82350" y="1762125"/>
            <a:ext cx="114300" cy="114300"/>
          </a:xfrm>
          <a:prstGeom prst="rect">
            <a:avLst/>
          </a:prstGeom>
        </p:spPr>
      </p:pic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267700" y="2105025"/>
            <a:ext cx="30861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失败重试复用候选</a:t>
            </a:r>
            <a:endParaRPr lang="zh-CN" sz="124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8267700" y="2400300"/>
            <a:ext cx="3086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沿用原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generation_id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，已成功落盘的候选不重复烧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GPU</a:t>
            </a:r>
            <a:endParaRPr lang="en-US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9" name="圆角矩形 288"/>
          <p:cNvSpPr/>
          <p:nvPr/>
        </p:nvSpPr>
        <p:spPr>
          <a:xfrm>
            <a:off x="609600" y="3143250"/>
            <a:ext cx="3543300" cy="1419225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90" name="圆角矩形 289"/>
          <p:cNvSpPr/>
          <p:nvPr/>
        </p:nvSpPr>
        <p:spPr>
          <a:xfrm>
            <a:off x="838200" y="3352800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F5F1FE"/>
          </a:solidFill>
        </p:spPr>
        <p:txBody>
          <a:bodyPr/>
          <a:p/>
        </p:txBody>
      </p:sp>
      <p:pic>
        <p:nvPicPr>
          <p:cNvPr id="291" name="图片 29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2975" y="3457575"/>
            <a:ext cx="161925" cy="161925"/>
          </a:xfrm>
          <a:prstGeom prst="rect">
            <a:avLst/>
          </a:prstGeom>
        </p:spPr>
      </p:pic>
      <p:sp>
        <p:nvSpPr>
          <p:cNvPr id="292" name="圆角矩形 291"/>
          <p:cNvSpPr/>
          <p:nvPr/>
        </p:nvSpPr>
        <p:spPr>
          <a:xfrm>
            <a:off x="3695700" y="34194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9F9F2"/>
          </a:solidFill>
        </p:spPr>
        <p:txBody>
          <a:bodyPr/>
          <a:p/>
        </p:txBody>
      </p:sp>
      <p:pic>
        <p:nvPicPr>
          <p:cNvPr id="293" name="图片 29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2850" y="3476625"/>
            <a:ext cx="114300" cy="114300"/>
          </a:xfrm>
          <a:prstGeom prst="rect">
            <a:avLst/>
          </a:prstGeom>
        </p:spPr>
      </p:pic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838200" y="3819525"/>
            <a:ext cx="30861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优雅停机</a:t>
            </a:r>
            <a:endParaRPr lang="zh-CN" sz="124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838200" y="4114800"/>
            <a:ext cx="3086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SIGTERM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停止领新任务，等待在跑任务收尾再退出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6" name="圆角矩形 295"/>
          <p:cNvSpPr/>
          <p:nvPr/>
        </p:nvSpPr>
        <p:spPr>
          <a:xfrm>
            <a:off x="4324350" y="3143250"/>
            <a:ext cx="3543300" cy="1657350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97" name="圆角矩形 296"/>
          <p:cNvSpPr/>
          <p:nvPr/>
        </p:nvSpPr>
        <p:spPr>
          <a:xfrm>
            <a:off x="4552950" y="3352800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F5F1FE"/>
          </a:solidFill>
        </p:spPr>
        <p:txBody>
          <a:bodyPr/>
          <a:p/>
        </p:txBody>
      </p:sp>
      <p:pic>
        <p:nvPicPr>
          <p:cNvPr id="298" name="图片 297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57725" y="3457575"/>
            <a:ext cx="161925" cy="161925"/>
          </a:xfrm>
          <a:prstGeom prst="rect">
            <a:avLst/>
          </a:prstGeom>
        </p:spPr>
      </p:pic>
      <p:sp>
        <p:nvSpPr>
          <p:cNvPr id="299" name="圆角矩形 298"/>
          <p:cNvSpPr/>
          <p:nvPr/>
        </p:nvSpPr>
        <p:spPr>
          <a:xfrm>
            <a:off x="7410450" y="34194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9F9F2"/>
          </a:solidFill>
        </p:spPr>
        <p:txBody>
          <a:bodyPr/>
          <a:p/>
        </p:txBody>
      </p:sp>
      <p:pic>
        <p:nvPicPr>
          <p:cNvPr id="300" name="图片 29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7600" y="3476625"/>
            <a:ext cx="114300" cy="114300"/>
          </a:xfrm>
          <a:prstGeom prst="rect">
            <a:avLst/>
          </a:prstGeom>
        </p:spPr>
      </p:pic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4552950" y="3819525"/>
            <a:ext cx="30861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媒体完整性校验</a:t>
            </a:r>
            <a:endParaRPr lang="zh-CN" sz="124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4552950" y="4114800"/>
            <a:ext cx="308610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流式下载限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512 MiB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Pillow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验图、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ffmpeg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验流，损坏即取消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" name="圆角矩形 302"/>
          <p:cNvSpPr/>
          <p:nvPr/>
        </p:nvSpPr>
        <p:spPr>
          <a:xfrm>
            <a:off x="8039100" y="3143250"/>
            <a:ext cx="3543300" cy="1419225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304" name="圆角矩形 303"/>
          <p:cNvSpPr/>
          <p:nvPr/>
        </p:nvSpPr>
        <p:spPr>
          <a:xfrm>
            <a:off x="8267700" y="3352800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F5F1FE"/>
          </a:solidFill>
        </p:spPr>
        <p:txBody>
          <a:bodyPr/>
          <a:p/>
        </p:txBody>
      </p:sp>
      <p:pic>
        <p:nvPicPr>
          <p:cNvPr id="305" name="图片 304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72475" y="3457575"/>
            <a:ext cx="161925" cy="161925"/>
          </a:xfrm>
          <a:prstGeom prst="rect">
            <a:avLst/>
          </a:prstGeom>
        </p:spPr>
      </p:pic>
      <p:sp>
        <p:nvSpPr>
          <p:cNvPr id="306" name="圆角矩形 305"/>
          <p:cNvSpPr/>
          <p:nvPr/>
        </p:nvSpPr>
        <p:spPr>
          <a:xfrm>
            <a:off x="11125200" y="34194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9F9F2"/>
          </a:solidFill>
        </p:spPr>
        <p:txBody>
          <a:bodyPr/>
          <a:p/>
        </p:txBody>
      </p:sp>
      <p:pic>
        <p:nvPicPr>
          <p:cNvPr id="307" name="图片 30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82350" y="3476625"/>
            <a:ext cx="114300" cy="114300"/>
          </a:xfrm>
          <a:prstGeom prst="rect">
            <a:avLst/>
          </a:prstGeom>
        </p:spPr>
      </p:pic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8267700" y="3819525"/>
            <a:ext cx="30861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过期产物清扫</a:t>
            </a:r>
            <a:endParaRPr lang="zh-CN" sz="124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8267700" y="4114800"/>
            <a:ext cx="3086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Worker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每小时清理过期推理媒体与发布暂存，控磁盘水位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" name="圆角矩形 309"/>
          <p:cNvSpPr/>
          <p:nvPr/>
        </p:nvSpPr>
        <p:spPr>
          <a:xfrm>
            <a:off x="609600" y="4762500"/>
            <a:ext cx="10972800" cy="93345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0A1128"/>
              </a:gs>
              <a:gs pos="60000">
                <a:srgbClr val="16233F"/>
              </a:gs>
              <a:gs pos="100000">
                <a:srgbClr val="312E81"/>
              </a:gs>
            </a:gsLst>
            <a:lin ang="1800000" scaled="1"/>
          </a:gradFill>
          <a:effectLst>
            <a:outerShdw blurRad="285750" dist="95250" dir="5400000">
              <a:srgbClr val="0F172A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11" name="圆角矩形 310"/>
          <p:cNvSpPr/>
          <p:nvPr/>
        </p:nvSpPr>
        <p:spPr>
          <a:xfrm>
            <a:off x="876300" y="5010150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4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12" name="图片 311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00125" y="5133975"/>
            <a:ext cx="200025" cy="200025"/>
          </a:xfrm>
          <a:prstGeom prst="rect">
            <a:avLst/>
          </a:prstGeom>
        </p:spPr>
      </p:pic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1543050" y="4972050"/>
            <a:ext cx="97726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设计原则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1543050" y="5238750"/>
            <a:ext cx="97726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失败是常态</a:t>
            </a:r>
            <a:r>
              <a:rPr lang="en-US" sz="101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1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每条机制都让</a:t>
            </a:r>
            <a:r>
              <a:rPr lang="zh-CN" sz="1015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「重试」更便宜、更安全</a:t>
            </a:r>
            <a:r>
              <a:rPr lang="zh-CN" sz="101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：不丢任务、不烧重复算力、不流出坏产物。</a:t>
            </a:r>
            <a:endParaRPr lang="zh-CN" sz="101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圆角矩形 314"/>
          <p:cNvSpPr/>
          <p:nvPr/>
        </p:nvSpPr>
        <p:spPr>
          <a:xfrm>
            <a:off x="609600" y="6038850"/>
            <a:ext cx="1714500" cy="314325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1238250" y="612457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不丢任务</a:t>
            </a:r>
            <a:endParaRPr lang="zh-CN" sz="900" b="1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" name="圆角矩形 316"/>
          <p:cNvSpPr/>
          <p:nvPr/>
        </p:nvSpPr>
        <p:spPr>
          <a:xfrm>
            <a:off x="2457450" y="6038850"/>
            <a:ext cx="1724025" cy="314325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3038475" y="6124575"/>
            <a:ext cx="571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不重复烧卡</a:t>
            </a:r>
            <a:endParaRPr lang="zh-CN" sz="900" b="1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" name="圆角矩形 318"/>
          <p:cNvSpPr/>
          <p:nvPr/>
        </p:nvSpPr>
        <p:spPr>
          <a:xfrm>
            <a:off x="4314825" y="6038850"/>
            <a:ext cx="1714500" cy="314325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4886325" y="6124575"/>
            <a:ext cx="571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不出脏数据</a:t>
            </a:r>
            <a:endParaRPr lang="zh-CN" sz="900" b="1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" name="圆角矩形 320"/>
          <p:cNvSpPr/>
          <p:nvPr/>
        </p:nvSpPr>
        <p:spPr>
          <a:xfrm>
            <a:off x="6162675" y="6038850"/>
            <a:ext cx="1714500" cy="314325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6734175" y="6124575"/>
            <a:ext cx="571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不中断生成</a:t>
            </a:r>
            <a:endParaRPr lang="zh-CN" sz="900" b="1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圆角矩形 322"/>
          <p:cNvSpPr/>
          <p:nvPr/>
        </p:nvSpPr>
        <p:spPr>
          <a:xfrm>
            <a:off x="8010525" y="6038850"/>
            <a:ext cx="1724025" cy="314325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324" name="文本框 323" descr="{&quot;isTemplate&quot;:true,&quot;type&quot;:&quot;text&quot;}"/>
          <p:cNvSpPr txBox="1"/>
          <p:nvPr/>
        </p:nvSpPr>
        <p:spPr>
          <a:xfrm>
            <a:off x="8591550" y="6124575"/>
            <a:ext cx="571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不传坏文件</a:t>
            </a:r>
            <a:endParaRPr lang="zh-CN" sz="900" b="1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5" name="圆角矩形 324"/>
          <p:cNvSpPr/>
          <p:nvPr/>
        </p:nvSpPr>
        <p:spPr>
          <a:xfrm>
            <a:off x="9867900" y="6038850"/>
            <a:ext cx="1714500" cy="314325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10496550" y="612457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不涨磁盘</a:t>
            </a:r>
            <a:endParaRPr lang="zh-CN" sz="900" b="1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7" name="圆角矩形 326"/>
          <p:cNvSpPr/>
          <p:nvPr/>
        </p:nvSpPr>
        <p:spPr>
          <a:xfrm>
            <a:off x="609600" y="6496050"/>
            <a:ext cx="171450" cy="171450"/>
          </a:xfrm>
          <a:prstGeom prst="roundRect">
            <a:avLst>
              <a:gd name="adj" fmla="val 27778"/>
            </a:avLst>
          </a:prstGeom>
          <a:gradFill>
            <a:gsLst>
              <a:gs pos="0">
                <a:srgbClr val="60A5FA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647700" y="6524625"/>
            <a:ext cx="952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旅</a:t>
            </a:r>
            <a:endParaRPr lang="zh-CN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857250" y="6515100"/>
            <a:ext cx="1990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Kelvoy · AI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11191875" y="6515100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14 / 19</a:t>
            </a:r>
            <a:endParaRPr lang="en-US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1" name="" descr="&lt;Slide padding='0'&gt;&#10;    &lt;Box style={{ position: 'absolute', top: 0, left: 0, width: '1280px', height: '720px', background: '#F6F8FB' }} /&gt;&#10;    &lt;Box style={{ position: 'absolute', top: 0, left: 0, width: '1280px', height: '4px', background: 'linear-gradient(90deg,#2563EB 0%,#7C3AED 100%)' }} /&gt;&#10;&#10;    &lt;Box style={{ position: 'absolute', top: '42px', left: '64px', right: '64px', flexDirection: 'row', justifyContent: 'space-between', alignItems: 'center' }}&gt;&#10;        &lt;Text style={{ fontSize: '12px', fontWeight: '700', color: '#2563EB', letterSpacing: '2px' }}&gt;03 · 技术与工程&lt;/Text&gt;&#10;        &lt;Text style={{ fontSize: '11px', color: '#8A97AB', letterSpacing: '3px' }}&gt;CREDITS &amp; COST&lt;/Text&gt;&#10;    &lt;/Box&gt;&#10;    &lt;Text style={{ position: 'absolute', top: '68px', left: '64px', fontSize: '34px', fontWeight: 'bold', color: '#0B1220' }}&gt;&#10;        动作级计价，&lt;span style={{ color: '#2563EB' }}&gt;原子预留、结算、释放&lt;/span&gt;&#10;    &lt;/Text&gt;&#10;    &lt;Box style={{ position: 'absolute', top: '116px', left: '64px', width: '44px', height: '4px', borderRadius: '2px', background: 'linear-gradient(90deg,#2563EB,#7C3AED)' }} /&gt;&#10;&#10;    &lt;Box style={{ position: 'absolute', top: '150px', left: '64px', width: '440px', padding: '20px 24px', background: '#FFFFFF', borderRadius: '14px', border: '1px solid #E6EAF1', flexDirection: 'column', gap: '4px' }}&gt;&#10;        &lt;Text style={{ fontSize: '15px', fontWeight: 'bold', color: '#0B1220', marginBottom: '6px' }}&gt;计价表&lt;/Text&gt;&#10;        {[&#10;            { t: '脚本生成', p: '1', u: '/ 次', icon: 'pen-nib' },&#10;            { t: '图片', p: '1', u: '/ 张', icon: 'image' },&#10;            { t: '视频', p: '10', u: '/ 段', icon: 'film', hl: true },&#10;            { t: '合成', p: '1', u: '/ 次', icon: 'clapperboard' },&#10;        ].map((r, i) =&gt; (&#10;            &lt;Box key={i} style={{ flexDirection: 'row', alignItems: 'center', gap: '12px', padding: '10px 12px', background: r.hl ? '#F5F1FE' : '#F6F8FB', borderRadius: '9px', marginBottom: '6px' }}&gt;&#10;                &lt;FAIcon name={r.icon} style={{ fill: r.hl ? '#7C3AED' : '#64748B', width: '15px', height: '15px' }} /&gt;&#10;                &lt;Text style={{ flex: 1, fontSize: '13.5px', fontWeight: 600, color: '#0B1220' }}&gt;{r.t}&lt;/Text&gt;&#10;                &lt;Text style={{ fontSize: '19px', fontWeight: 'bold', color: r.hl ? '#7C3AED' : '#2563EB' }}&gt;{r.p}&lt;/Text&gt;&#10;                &lt;Text style={{ fontSize: '11.5px', color: '#8A97AB', width: '30px' }}&gt;{r.u}&lt;/Text&gt;&#10;            &lt;/Box&gt;&#10;        ))}&#10;    &lt;/Box&gt;&#10;&#10;    &lt;Box style={{ position: 'absolute', top: '392px', left: '64px', width: '440px', padding: '18px 24px', background: '#FFFFFF', borderRadius: '14px', border: '1px solid #E6EAF1', flexDirection: 'column', gap: '12px' }}&gt;&#10;        {[&#10;            '积分由团队 CLI 发放，不接购买与支付',&#10;            '建期 / 阶段提交先预留，成功结算、失败释放',&#10;            '流水不可变且幂等；用量页按期按模型展示',&#10;        ].map((t, i) =&gt; (&#10;            &lt;Box key={i} style={{ flexDirection: 'row', alignItems: 'flex-start', gap: '10px' }}&gt;&#10;                &lt;FAIcon name='circle-check' style={{ fill: '#10B981', width: '14px', height: '14px', marginTop: '2px' }} /&gt;&#10;                &lt;Text style={{ flex: 1, fontSize: '12.5px', color: '#42536B', lineHeight: 1.55 }}&gt;{t}&lt;/Text&gt;&#10;            &lt;/Box&gt;&#10;        ))}&#10;    &lt;/Box&gt;&#10;&#10;    &lt;Box style={{ position: 'absolute', top: '150px', left: '528px', width: '688px', height: '436px', padding: '22px 30px', background: '#FFFFFF', borderRadius: '14px', border: '1px solid #E6EAF1', flexDirection: 'column' }}&gt;&#10;        &lt;Box style={{ flexDirection: 'row', justifyContent: 'space-between', alignItems: 'center' }}&gt;&#10;            &lt;Text style={{ fontSize: '15px', fontWeight: 'bold', color: '#0B1220' }}&gt;一期积分对比（按 28 镜估算）&lt;/Text&gt;&#10;            &lt;Text style={{ fontSize: '11.5px', color: '#8A97AB' }}&gt;直出路径省掉图片积分&lt;/Text&gt;&#10;        &lt;/Box&gt;&#10;&#10;        {[&#10;            { x: 30, v: 282, h: 131, t: '直出视频', hot: true },&#10;            { x: 189, v: 310, h: 144, t: '关键帧 ×1' },&#10;            { x: 348, v: 338, h: 157, t: '关键帧 ×2' },&#10;            { x: 507, v: 366, h: 170, t: '关键帧 ×3' },&#10;        ].map((b, i) =&gt; (&#10;            &lt;Box key={i}&gt;&#10;                &lt;Text style={{ position: 'absolute', left: `${b.x}px`, top: `${280 - b.h - 26}px`, width: '90px', textAlign: 'center', fontSize: '16px', fontWeight: 'bold', color: b.hot ? '#059669' : '#64748B' }}&gt;{b.v}&lt;/Text&gt;&#10;                &lt;Box style={{ position: 'absolute', left: `${b.x}px`, top: `${280 - b.h}px`, width: '90px', height: `${b.h}px`, borderRadius: '8px 8px 3px 3px', background: b.hot ? 'linear-gradient(180deg,#34D399 0%,#10B981 100%)' : 'linear-gradient(180deg,#DBE4F5 0%,#C9D5EA 100%)', boxShadow: b.hot ? '0 6px 18px rgba(16,185,129,0.3)' : 'none' }} /&gt;&#10;                &lt;Text style={{ position: 'absolute', left: `${b.x}px`, top: '290px', width: '90px', textAlign: 'center', fontSize: '12px', fontWeight: 600, color: b.hot ? '#0B1220' : '#8A97AB' }}&gt;{b.t}&lt;/Text&gt;&#10;            &lt;/Box&gt;&#10;        ))}&#10;        &lt;Box style={{ position: 'absolute', left: '30px', top: '280px', width: '567px', height: '2px', background: '#E6EAF1' }} /&gt;&#10;        &lt;Box style={{ position: 'absolute', left: '132px', top: '118px', padding: '5px 12px', borderRadius: '999px', background: '#E9F9F2', border: '1px solid #A7E8CF' }}&gt;&#10;            &lt;Text style={{ fontSize: '12px', fontWeight: 700, color: '#059669' }}&gt;较关键帧 ×3 省约 23%&lt;/Text&gt;&#10;        &lt;/Box&gt;&#10;        &lt;Text style={{ position: 'absolute', left: '30px', top: '318px', width: '567px', fontSize: '11.5px', color: '#8A97AB', lineHeight: 1.55 }}&gt;&#10;            GPU 用量另按「镜数 × 候选 × 单位成本 × 1.5」独立估算展示&#10;        &lt;/Text&gt;&#10;    &lt;/Box&gt;&#10;&#10;    &lt;Box style={{ position: 'absolute', top: '606px', left: '64px', right: '64px', padding: '15px 22px', borderRadius: '12px', background: 'linear-gradient(120deg,#0A1128 0%,#16233F 60%,#312E81 100%)', flexDirection: 'row', alignItems: 'center', gap: '12px', boxShadow: '0 8px 24px rgba(15,23,42,0.2)' }}&gt;&#10;        &lt;FAIcon name='sack-dollar' style={{ fill: '#93C5FD', width: '17px', height: '17px' }} /&gt;&#10;        &lt;Text style={{ fontSize: '13px', color: 'rgba(255,255,255,0.9)' }}&gt;&#10;            成本红线：&lt;span style={{ color: '#93C5FD', fontWeight: 700 }}&gt;整期所有环节都走国内 API 的费用上限 ¥20&lt;/span&gt; —— 团队预算约束，不是定价&#10;        &lt;/Text&gt;&#10;    &lt;/Box&gt;&#10;&#10;    &lt;Box style={{ position: 'absolute', bottom: '20px', left: '64px', right: '64px', flexDirection: 'row', justifyContent: 'space-between', alignItems: 'center' }}&gt;&#10;        &lt;Box style={{ flexDirection: 'row', alignItems: 'center', gap: '8px' }}&gt;&#10;            &lt;Box style={{ width: '18px', height: '18px', borderRadius: '5px', background: 'linear-gradient(135deg,#60A5FA,#2563EB)', justifyContent: 'center', alignItems: 'center' }}&gt;&#10;                &lt;Text style={{ fontSize: '10px', fontWeight: 'bold', color: '#FFFFFF' }}&gt;旅&lt;/Text&gt;&#10;            &lt;/Box&gt;&#10;            &lt;Text style={{ fontSize: '12px', color: '#8A97AB' }}&gt;可旅 Kelvoy · AI 旅行 Vlog 生产工作台&lt;/Text&gt;&#10;        &lt;/Box&gt;&#10;        &lt;Text style={{ fontSize: '12px', color: '#8A97AB' }}&gt;15 / 1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矩形 3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</p:spPr>
        <p:txBody>
          <a:bodyPr/>
          <a:p/>
        </p:txBody>
      </p:sp>
      <p:sp>
        <p:nvSpPr>
          <p:cNvPr id="333" name="矩形 33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609600" y="400050"/>
            <a:ext cx="1028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03 · </a:t>
            </a:r>
            <a:r>
              <a:rPr lang="zh-CN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技术与工程</a:t>
            </a:r>
            <a:endParaRPr lang="zh-CN" sz="900" b="1" spc="1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10325100" y="409575"/>
            <a:ext cx="12573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22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CREDITS &amp; COST</a:t>
            </a:r>
            <a:endParaRPr lang="en-US" sz="825" spc="22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609600" y="647700"/>
            <a:ext cx="51816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动作级计价，</a:t>
            </a:r>
            <a:r>
              <a:rPr lang="zh-CN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原子预留、结算、释放</a:t>
            </a:r>
            <a:endParaRPr lang="zh-CN" sz="25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7" name="圆角矩形 336"/>
          <p:cNvSpPr/>
          <p:nvPr/>
        </p:nvSpPr>
        <p:spPr>
          <a:xfrm>
            <a:off x="609600" y="1104900"/>
            <a:ext cx="4191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338" name="圆角矩形 337"/>
          <p:cNvSpPr/>
          <p:nvPr/>
        </p:nvSpPr>
        <p:spPr>
          <a:xfrm>
            <a:off x="609600" y="1428750"/>
            <a:ext cx="4191000" cy="2628900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838200" y="1619250"/>
            <a:ext cx="3733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计价表</a:t>
            </a:r>
            <a:endParaRPr lang="zh-CN" sz="112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0" name="圆角矩形 339"/>
          <p:cNvSpPr/>
          <p:nvPr/>
        </p:nvSpPr>
        <p:spPr>
          <a:xfrm>
            <a:off x="838200" y="1885950"/>
            <a:ext cx="3733800" cy="409575"/>
          </a:xfrm>
          <a:prstGeom prst="roundRect">
            <a:avLst>
              <a:gd name="adj" fmla="val 20930"/>
            </a:avLst>
          </a:prstGeom>
          <a:solidFill>
            <a:srgbClr val="F6F8FB"/>
          </a:solidFill>
        </p:spPr>
        <p:txBody>
          <a:bodyPr/>
          <a:p/>
        </p:txBody>
      </p:sp>
      <p:pic>
        <p:nvPicPr>
          <p:cNvPr id="341" name="图片 3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019300"/>
            <a:ext cx="142875" cy="142875"/>
          </a:xfrm>
          <a:prstGeom prst="rect">
            <a:avLst/>
          </a:prstGeom>
        </p:spPr>
      </p:pic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1209675" y="2009775"/>
            <a:ext cx="26193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脚本生成</a:t>
            </a:r>
            <a:endParaRPr lang="zh-CN" sz="101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3943350" y="1981200"/>
            <a:ext cx="1143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4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4171950" y="2028825"/>
            <a:ext cx="2857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次</a:t>
            </a:r>
            <a:endParaRPr lang="zh-CN" sz="86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5" name="圆角矩形 344"/>
          <p:cNvSpPr/>
          <p:nvPr/>
        </p:nvSpPr>
        <p:spPr>
          <a:xfrm>
            <a:off x="838200" y="2390775"/>
            <a:ext cx="3733800" cy="409575"/>
          </a:xfrm>
          <a:prstGeom prst="roundRect">
            <a:avLst>
              <a:gd name="adj" fmla="val 20930"/>
            </a:avLst>
          </a:prstGeom>
          <a:solidFill>
            <a:srgbClr val="F6F8FB"/>
          </a:solidFill>
        </p:spPr>
        <p:txBody>
          <a:bodyPr/>
          <a:p/>
        </p:txBody>
      </p:sp>
      <p:pic>
        <p:nvPicPr>
          <p:cNvPr id="346" name="图片 34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524125"/>
            <a:ext cx="142875" cy="142875"/>
          </a:xfrm>
          <a:prstGeom prst="rect">
            <a:avLst/>
          </a:prstGeom>
        </p:spPr>
      </p:pic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1209675" y="2514600"/>
            <a:ext cx="26193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图片</a:t>
            </a:r>
            <a:endParaRPr lang="zh-CN" sz="101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3943350" y="2486025"/>
            <a:ext cx="1143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4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4171950" y="2533650"/>
            <a:ext cx="2857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张</a:t>
            </a:r>
            <a:endParaRPr lang="zh-CN" sz="86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圆角矩形 349"/>
          <p:cNvSpPr/>
          <p:nvPr/>
        </p:nvSpPr>
        <p:spPr>
          <a:xfrm>
            <a:off x="838200" y="2895600"/>
            <a:ext cx="3733800" cy="409575"/>
          </a:xfrm>
          <a:prstGeom prst="roundRect">
            <a:avLst>
              <a:gd name="adj" fmla="val 20930"/>
            </a:avLst>
          </a:prstGeom>
          <a:solidFill>
            <a:srgbClr val="F5F1FE"/>
          </a:solidFill>
        </p:spPr>
        <p:txBody>
          <a:bodyPr/>
          <a:p/>
        </p:txBody>
      </p:sp>
      <p:pic>
        <p:nvPicPr>
          <p:cNvPr id="351" name="图片 35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028950"/>
            <a:ext cx="142875" cy="142875"/>
          </a:xfrm>
          <a:prstGeom prst="rect">
            <a:avLst/>
          </a:prstGeom>
        </p:spPr>
      </p:pic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1209675" y="3019425"/>
            <a:ext cx="25050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视频</a:t>
            </a:r>
            <a:endParaRPr lang="zh-CN" sz="101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3600450" y="2981325"/>
            <a:ext cx="2286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5-10</a:t>
            </a:r>
            <a:endParaRPr lang="en-US" sz="1425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4171950" y="3038475"/>
            <a:ext cx="2857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段</a:t>
            </a:r>
            <a:endParaRPr lang="zh-CN" sz="86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圆角矩形 354"/>
          <p:cNvSpPr/>
          <p:nvPr/>
        </p:nvSpPr>
        <p:spPr>
          <a:xfrm>
            <a:off x="838200" y="3400425"/>
            <a:ext cx="3733800" cy="409575"/>
          </a:xfrm>
          <a:prstGeom prst="roundRect">
            <a:avLst>
              <a:gd name="adj" fmla="val 20930"/>
            </a:avLst>
          </a:prstGeom>
          <a:solidFill>
            <a:srgbClr val="F6F8FB"/>
          </a:solidFill>
        </p:spPr>
        <p:txBody>
          <a:bodyPr/>
          <a:p/>
        </p:txBody>
      </p:sp>
      <p:pic>
        <p:nvPicPr>
          <p:cNvPr id="356" name="图片 35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3533775"/>
            <a:ext cx="142875" cy="142875"/>
          </a:xfrm>
          <a:prstGeom prst="rect">
            <a:avLst/>
          </a:prstGeom>
        </p:spPr>
      </p:pic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1209675" y="3524250"/>
            <a:ext cx="26193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合成</a:t>
            </a:r>
            <a:endParaRPr lang="zh-CN" sz="101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3943350" y="3495675"/>
            <a:ext cx="1143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4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4171950" y="3543300"/>
            <a:ext cx="2857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次</a:t>
            </a:r>
            <a:endParaRPr lang="zh-CN" sz="86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0" name="圆角矩形 359"/>
          <p:cNvSpPr/>
          <p:nvPr/>
        </p:nvSpPr>
        <p:spPr>
          <a:xfrm>
            <a:off x="609600" y="3733800"/>
            <a:ext cx="4191000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pic>
        <p:nvPicPr>
          <p:cNvPr id="361" name="图片 36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8200" y="3924300"/>
            <a:ext cx="133350" cy="133350"/>
          </a:xfrm>
          <a:prstGeom prst="rect">
            <a:avLst/>
          </a:prstGeom>
        </p:spPr>
      </p:pic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1066800" y="3905250"/>
            <a:ext cx="35052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40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积分由团队</a:t>
            </a:r>
            <a:r>
              <a:rPr lang="en-US" sz="940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 CLI </a:t>
            </a:r>
            <a:r>
              <a:rPr lang="zh-CN" sz="940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发放，不接购买与支付</a:t>
            </a:r>
            <a:endParaRPr lang="zh-CN" sz="940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63" name="图片 36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8200" y="4267200"/>
            <a:ext cx="133350" cy="133350"/>
          </a:xfrm>
          <a:prstGeom prst="rect">
            <a:avLst/>
          </a:prstGeom>
        </p:spPr>
      </p:pic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1066800" y="4248150"/>
            <a:ext cx="35052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40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建期</a:t>
            </a:r>
            <a:r>
              <a:rPr lang="en-US" sz="940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40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阶段提交先预留，成功结算、失败释放</a:t>
            </a:r>
            <a:endParaRPr lang="zh-CN" sz="940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65" name="图片 36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8200" y="4610100"/>
            <a:ext cx="133350" cy="133350"/>
          </a:xfrm>
          <a:prstGeom prst="rect">
            <a:avLst/>
          </a:prstGeom>
        </p:spPr>
      </p:pic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1066800" y="4591050"/>
            <a:ext cx="35052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40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流水不可变且幂等；用量页按期按模型展示</a:t>
            </a:r>
            <a:endParaRPr lang="zh-CN" sz="940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7" name="圆角矩形 366"/>
          <p:cNvSpPr/>
          <p:nvPr/>
        </p:nvSpPr>
        <p:spPr>
          <a:xfrm>
            <a:off x="5029200" y="1428750"/>
            <a:ext cx="6553200" cy="4152900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5314950" y="1638300"/>
            <a:ext cx="1981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一期积分对比（按</a:t>
            </a:r>
            <a:r>
              <a:rPr lang="en-US" sz="112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 28 </a:t>
            </a:r>
            <a:r>
              <a:rPr lang="zh-CN" sz="112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镜估算）</a:t>
            </a:r>
            <a:endParaRPr lang="zh-CN" sz="112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10201275" y="1657350"/>
            <a:ext cx="10953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直出路径省掉图片积分</a:t>
            </a:r>
            <a:endParaRPr lang="zh-CN" sz="86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5600700" y="2981325"/>
            <a:ext cx="857250" cy="1905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282</a:t>
            </a:r>
            <a:endParaRPr lang="en-US" sz="12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1" name="任意多边形 370"/>
          <p:cNvSpPr/>
          <p:nvPr/>
        </p:nvSpPr>
        <p:spPr>
          <a:xfrm>
            <a:off x="5600700" y="3228975"/>
            <a:ext cx="857250" cy="1247775"/>
          </a:xfrm>
          <a:custGeom>
            <a:avLst/>
            <a:gdLst/>
            <a:ahLst/>
            <a:cxnLst/>
            <a:pathLst>
              <a:path w="90" h="131">
                <a:moveTo>
                  <a:pt x="8" y="0"/>
                </a:moveTo>
                <a:lnTo>
                  <a:pt x="82" y="0"/>
                </a:lnTo>
                <a:cubicBezTo>
                  <a:pt x="86" y="0"/>
                  <a:pt x="90" y="4"/>
                  <a:pt x="90" y="8"/>
                </a:cubicBezTo>
                <a:lnTo>
                  <a:pt x="90" y="128"/>
                </a:lnTo>
                <a:cubicBezTo>
                  <a:pt x="90" y="130"/>
                  <a:pt x="89" y="131"/>
                  <a:pt x="87" y="131"/>
                </a:cubicBezTo>
                <a:lnTo>
                  <a:pt x="3" y="131"/>
                </a:lnTo>
                <a:cubicBezTo>
                  <a:pt x="1" y="131"/>
                  <a:pt x="0" y="130"/>
                  <a:pt x="0" y="128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gradFill>
            <a:gsLst>
              <a:gs pos="0">
                <a:srgbClr val="34D399"/>
              </a:gs>
              <a:gs pos="100000">
                <a:srgbClr val="10B981"/>
              </a:gs>
            </a:gsLst>
            <a:lin ang="5400000" scaled="1"/>
          </a:gradFill>
          <a:effectLst>
            <a:outerShdw blurRad="171450" dist="57150" dir="5400000">
              <a:srgbClr val="10B981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5600700" y="4572000"/>
            <a:ext cx="857250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直出视频</a:t>
            </a:r>
            <a:endParaRPr lang="zh-CN" sz="9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3" name="文本框 372" descr="{&quot;isTemplate&quot;:true,&quot;type&quot;:&quot;text&quot;}"/>
          <p:cNvSpPr txBox="1"/>
          <p:nvPr/>
        </p:nvSpPr>
        <p:spPr>
          <a:xfrm>
            <a:off x="7115175" y="2857500"/>
            <a:ext cx="857250" cy="1905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310</a:t>
            </a:r>
            <a:endParaRPr lang="en-US" sz="12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4" name="任意多边形 373"/>
          <p:cNvSpPr/>
          <p:nvPr/>
        </p:nvSpPr>
        <p:spPr>
          <a:xfrm>
            <a:off x="7115175" y="3105150"/>
            <a:ext cx="857250" cy="1371600"/>
          </a:xfrm>
          <a:custGeom>
            <a:avLst/>
            <a:gdLst/>
            <a:ahLst/>
            <a:cxnLst/>
            <a:pathLst>
              <a:path w="90" h="144">
                <a:moveTo>
                  <a:pt x="8" y="0"/>
                </a:moveTo>
                <a:lnTo>
                  <a:pt x="82" y="0"/>
                </a:lnTo>
                <a:cubicBezTo>
                  <a:pt x="86" y="0"/>
                  <a:pt x="90" y="4"/>
                  <a:pt x="90" y="8"/>
                </a:cubicBezTo>
                <a:lnTo>
                  <a:pt x="90" y="141"/>
                </a:lnTo>
                <a:cubicBezTo>
                  <a:pt x="90" y="143"/>
                  <a:pt x="89" y="144"/>
                  <a:pt x="87" y="144"/>
                </a:cubicBezTo>
                <a:lnTo>
                  <a:pt x="3" y="144"/>
                </a:lnTo>
                <a:cubicBezTo>
                  <a:pt x="1" y="144"/>
                  <a:pt x="0" y="143"/>
                  <a:pt x="0" y="141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gradFill>
            <a:gsLst>
              <a:gs pos="0">
                <a:srgbClr val="DBE4F5"/>
              </a:gs>
              <a:gs pos="100000">
                <a:srgbClr val="C9D5EA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7115175" y="4572000"/>
            <a:ext cx="857250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关键帧</a:t>
            </a:r>
            <a:r>
              <a:rPr lang="en-US" sz="900" b="1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×1</a:t>
            </a:r>
            <a:endParaRPr lang="en-US" sz="900" b="1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8629650" y="2733675"/>
            <a:ext cx="857250" cy="1905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338</a:t>
            </a:r>
            <a:endParaRPr lang="en-US" sz="12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7" name="任意多边形 376"/>
          <p:cNvSpPr/>
          <p:nvPr/>
        </p:nvSpPr>
        <p:spPr>
          <a:xfrm>
            <a:off x="8629650" y="2981325"/>
            <a:ext cx="857250" cy="1495425"/>
          </a:xfrm>
          <a:custGeom>
            <a:avLst/>
            <a:gdLst/>
            <a:ahLst/>
            <a:cxnLst/>
            <a:pathLst>
              <a:path w="90" h="157">
                <a:moveTo>
                  <a:pt x="8" y="0"/>
                </a:moveTo>
                <a:lnTo>
                  <a:pt x="82" y="0"/>
                </a:lnTo>
                <a:cubicBezTo>
                  <a:pt x="86" y="0"/>
                  <a:pt x="90" y="4"/>
                  <a:pt x="90" y="8"/>
                </a:cubicBezTo>
                <a:lnTo>
                  <a:pt x="90" y="154"/>
                </a:lnTo>
                <a:cubicBezTo>
                  <a:pt x="90" y="156"/>
                  <a:pt x="89" y="157"/>
                  <a:pt x="87" y="157"/>
                </a:cubicBezTo>
                <a:lnTo>
                  <a:pt x="3" y="157"/>
                </a:lnTo>
                <a:cubicBezTo>
                  <a:pt x="1" y="157"/>
                  <a:pt x="0" y="156"/>
                  <a:pt x="0" y="154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gradFill>
            <a:gsLst>
              <a:gs pos="0">
                <a:srgbClr val="DBE4F5"/>
              </a:gs>
              <a:gs pos="100000">
                <a:srgbClr val="C9D5EA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8629650" y="4572000"/>
            <a:ext cx="857250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关键帧</a:t>
            </a:r>
            <a:r>
              <a:rPr lang="en-US" sz="900" b="1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×2</a:t>
            </a:r>
            <a:endParaRPr lang="en-US" sz="900" b="1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10144125" y="2609850"/>
            <a:ext cx="857250" cy="1905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366</a:t>
            </a:r>
            <a:endParaRPr lang="en-US" sz="12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0" name="任意多边形 379"/>
          <p:cNvSpPr/>
          <p:nvPr/>
        </p:nvSpPr>
        <p:spPr>
          <a:xfrm>
            <a:off x="10144125" y="2857500"/>
            <a:ext cx="857250" cy="1619250"/>
          </a:xfrm>
          <a:custGeom>
            <a:avLst/>
            <a:gdLst/>
            <a:ahLst/>
            <a:cxnLst/>
            <a:pathLst>
              <a:path w="90" h="170">
                <a:moveTo>
                  <a:pt x="8" y="0"/>
                </a:moveTo>
                <a:lnTo>
                  <a:pt x="82" y="0"/>
                </a:lnTo>
                <a:cubicBezTo>
                  <a:pt x="86" y="0"/>
                  <a:pt x="90" y="4"/>
                  <a:pt x="90" y="8"/>
                </a:cubicBezTo>
                <a:lnTo>
                  <a:pt x="90" y="167"/>
                </a:lnTo>
                <a:cubicBezTo>
                  <a:pt x="90" y="169"/>
                  <a:pt x="89" y="170"/>
                  <a:pt x="87" y="170"/>
                </a:cubicBezTo>
                <a:lnTo>
                  <a:pt x="3" y="170"/>
                </a:lnTo>
                <a:cubicBezTo>
                  <a:pt x="1" y="170"/>
                  <a:pt x="0" y="169"/>
                  <a:pt x="0" y="167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gradFill>
            <a:gsLst>
              <a:gs pos="0">
                <a:srgbClr val="DBE4F5"/>
              </a:gs>
              <a:gs pos="100000">
                <a:srgbClr val="C9D5EA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81" name="文本框 380" descr="{&quot;isTemplate&quot;:true,&quot;type&quot;:&quot;text&quot;}"/>
          <p:cNvSpPr txBox="1"/>
          <p:nvPr/>
        </p:nvSpPr>
        <p:spPr>
          <a:xfrm>
            <a:off x="10144125" y="4572000"/>
            <a:ext cx="857250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关键帧</a:t>
            </a:r>
            <a:r>
              <a:rPr lang="en-US" sz="900" b="1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×3</a:t>
            </a:r>
            <a:endParaRPr lang="en-US" sz="900" b="1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2" name="矩形 381"/>
          <p:cNvSpPr/>
          <p:nvPr/>
        </p:nvSpPr>
        <p:spPr>
          <a:xfrm>
            <a:off x="5600700" y="4470400"/>
            <a:ext cx="5400675" cy="19050"/>
          </a:xfrm>
          <a:prstGeom prst="rect">
            <a:avLst/>
          </a:prstGeom>
          <a:solidFill>
            <a:srgbClr val="E6EAF1"/>
          </a:solidFill>
        </p:spPr>
        <p:txBody>
          <a:bodyPr/>
          <a:p/>
        </p:txBody>
      </p:sp>
      <p:sp>
        <p:nvSpPr>
          <p:cNvPr id="383" name="圆角矩形 382"/>
          <p:cNvSpPr/>
          <p:nvPr/>
        </p:nvSpPr>
        <p:spPr>
          <a:xfrm>
            <a:off x="10029825" y="1933575"/>
            <a:ext cx="1428750" cy="238125"/>
          </a:xfrm>
          <a:prstGeom prst="roundRect">
            <a:avLst>
              <a:gd name="adj" fmla="val 3996000"/>
            </a:avLst>
          </a:prstGeom>
          <a:solidFill>
            <a:srgbClr val="E9F9F2"/>
          </a:solidFill>
          <a:ln w="12700">
            <a:solidFill>
              <a:srgbClr val="A7E8CF"/>
            </a:solidFill>
            <a:prstDash val="solid"/>
          </a:ln>
        </p:spPr>
        <p:txBody>
          <a:bodyPr/>
          <a:p/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10144125" y="1981200"/>
            <a:ext cx="12001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较关键帧</a:t>
            </a:r>
            <a:r>
              <a:rPr lang="en-US" sz="9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 ×3 </a:t>
            </a:r>
            <a:r>
              <a:rPr lang="zh-CN" sz="9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省约</a:t>
            </a:r>
            <a:r>
              <a:rPr lang="en-US" sz="9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 23%</a:t>
            </a:r>
            <a:endParaRPr lang="en-US" sz="9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5" name="文本框 384" descr="{&quot;isTemplate&quot;:true,&quot;type&quot;:&quot;text&quot;}"/>
          <p:cNvSpPr txBox="1"/>
          <p:nvPr/>
        </p:nvSpPr>
        <p:spPr>
          <a:xfrm>
            <a:off x="5600700" y="4893310"/>
            <a:ext cx="54006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GPU </a:t>
            </a: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用量另按「镜数</a:t>
            </a:r>
            <a:r>
              <a:rPr lang="en-US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候选</a:t>
            </a:r>
            <a:r>
              <a:rPr lang="en-US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单位成本</a:t>
            </a:r>
            <a:r>
              <a:rPr lang="en-US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× 1.5</a:t>
            </a:r>
            <a:r>
              <a:rPr lang="zh-CN" sz="86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」独立估算展示</a:t>
            </a:r>
            <a:endParaRPr lang="zh-CN" sz="86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" name="圆角矩形 385"/>
          <p:cNvSpPr/>
          <p:nvPr/>
        </p:nvSpPr>
        <p:spPr>
          <a:xfrm>
            <a:off x="609600" y="5772150"/>
            <a:ext cx="10972800" cy="447675"/>
          </a:xfrm>
          <a:prstGeom prst="roundRect">
            <a:avLst>
              <a:gd name="adj" fmla="val 25532"/>
            </a:avLst>
          </a:prstGeom>
          <a:gradFill>
            <a:gsLst>
              <a:gs pos="0">
                <a:srgbClr val="0A1128"/>
              </a:gs>
              <a:gs pos="60000">
                <a:srgbClr val="16233F"/>
              </a:gs>
              <a:gs pos="100000">
                <a:srgbClr val="312E81"/>
              </a:gs>
            </a:gsLst>
            <a:lin ang="1800000" scaled="1"/>
          </a:gradFill>
          <a:effectLst>
            <a:outerShdw blurRad="228600" dist="76200" dir="5400000">
              <a:srgbClr val="0F172A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387" name="图片 386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9150" y="5915025"/>
            <a:ext cx="161925" cy="161925"/>
          </a:xfrm>
          <a:prstGeom prst="rect">
            <a:avLst/>
          </a:prstGeom>
        </p:spPr>
      </p:pic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1095375" y="5924550"/>
            <a:ext cx="4743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成本红线：</a:t>
            </a:r>
            <a:r>
              <a:rPr lang="zh-CN" sz="975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整期所有环节都走国内</a:t>
            </a:r>
            <a:r>
              <a:rPr lang="en-US" sz="975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 API </a:t>
            </a:r>
            <a:r>
              <a:rPr lang="zh-CN" sz="975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的费用上限</a:t>
            </a:r>
            <a:r>
              <a:rPr lang="en-US" sz="975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 ¥20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团队预算约束，不是定价</a:t>
            </a:r>
            <a:endParaRPr lang="zh-CN" sz="975">
              <a:solidFill>
                <a:srgbClr val="FFFFFF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9" name="圆角矩形 388"/>
          <p:cNvSpPr/>
          <p:nvPr/>
        </p:nvSpPr>
        <p:spPr>
          <a:xfrm>
            <a:off x="609600" y="6496050"/>
            <a:ext cx="171450" cy="171450"/>
          </a:xfrm>
          <a:prstGeom prst="roundRect">
            <a:avLst>
              <a:gd name="adj" fmla="val 27778"/>
            </a:avLst>
          </a:prstGeom>
          <a:gradFill>
            <a:gsLst>
              <a:gs pos="0">
                <a:srgbClr val="60A5FA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90" name="文本框 389" descr="{&quot;isTemplate&quot;:true,&quot;type&quot;:&quot;text&quot;}"/>
          <p:cNvSpPr txBox="1"/>
          <p:nvPr/>
        </p:nvSpPr>
        <p:spPr>
          <a:xfrm>
            <a:off x="647700" y="6524625"/>
            <a:ext cx="952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旅</a:t>
            </a:r>
            <a:endParaRPr lang="zh-CN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1" name="文本框 390" descr="{&quot;isTemplate&quot;:true,&quot;type&quot;:&quot;text&quot;}"/>
          <p:cNvSpPr txBox="1"/>
          <p:nvPr/>
        </p:nvSpPr>
        <p:spPr>
          <a:xfrm>
            <a:off x="857250" y="6515100"/>
            <a:ext cx="1990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Kelvoy · AI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2" name="文本框 391" descr="{&quot;isTemplate&quot;:true,&quot;type&quot;:&quot;text&quot;}"/>
          <p:cNvSpPr txBox="1"/>
          <p:nvPr/>
        </p:nvSpPr>
        <p:spPr>
          <a:xfrm>
            <a:off x="11191875" y="6515100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15 / 19</a:t>
            </a:r>
            <a:endParaRPr lang="en-US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3" name="" descr="&lt;Slide padding='0'&gt;&#10;    &lt;Box style={{ position: 'absolute', top: 0, left: 0, width: '1280px', height: '720px', background: '#F6F8FB' }} /&gt;&#10;    &lt;Box style={{ position: 'absolute', top: 0, left: 0, width: '1280px', height: '4px', background: 'linear-gradient(90deg,#2563EB 0%,#7C3AED 100%)' }} /&gt;&#10;&#10;    &lt;Box style={{ position: 'absolute', top: '42px', left: '64px', right: '64px', flexDirection: 'row', justifyContent: 'space-between', alignItems: 'center' }}&gt;&#10;        &lt;Text style={{ fontSize: '12px', fontWeight: '700', color: '#2563EB', letterSpacing: '2px' }}&gt;03 · 技术与工程&lt;/Text&gt;&#10;        &lt;Text style={{ fontSize: '11px', color: '#8A97AB', letterSpacing: '3px' }}&gt;COMPLIANCE &amp; SAFETY&lt;/Text&gt;&#10;    &lt;/Box&gt;&#10;    &lt;Text style={{ position: 'absolute', top: '68px', left: '64px', fontSize: '34px', fontWeight: 'bold', color: '#0B1220' }}&gt;&#10;        成片&lt;span style={{ color: '#2563EB' }}&gt;可溯源&lt;/span&gt;，内容&lt;span style={{ color: '#7C3AED' }}&gt;有护栏&lt;/span&gt;&#10;    &lt;/Text&gt;&#10;    &lt;Box style={{ position: 'absolute', top: '116px', left: '64px', width: '44px', height: '4px', borderRadius: '2px', background: 'linear-gradient(90deg,#2563EB,#7C3AED)' }} /&gt;&#10;&#10;    &lt;Box style={{ position: 'absolute', top: '150px', left: '64px', right: '64px', flexDirection: 'row', gap: '18px' }}&gt;&#10;        {[&#10;            {&#10;                icon: 'certificate', c: '#2563EB', bg: '#EFF4FE', bd: '#C7D7FA', t: 'AI 标识（显式 + 隐式）',&#10;                d: '右下角半透明「AI 生成 · 虚构角色 · 真实目的地」水印 + 文件元数据；模型自带 SynthID / C2PA 不剥离，符合 2025-09 施行的《人工智能生成合成内容标识办法》',&#10;                tag: '合规底线',&#10;            },&#10;            {&#10;                icon: 'ban', c: '#DC2626', bg: '#FDECEC', bd: '#F5C2C2', t: '内容拦截',&#10;                d: 'prompt 层关键词黑名单，命中即拒绝并提示修改创作要求',&#10;                tag: '源头阻断',&#10;            },&#10;        ].map((c, i) =&gt; (&#10;            &lt;Box key={i} style={{ flex: 1, padding: '24px 26px', background: '#FFFFFF', borderRadius: '14px', border: '1px solid #E6EAF1', boxShadow: '0 2px 12px rgba(15,23,42,0.04)', flexDirection: 'column', gap: '12px' }}&gt;&#10;                &lt;Box style={{ flexDirection: 'row', alignItems: 'center', justifyContent: 'space-between' }}&gt;&#10;                    &lt;Box style={{ width: '40px', height: '40px', borderRadius: '12px', background: c.bg, border: `1px solid ${c.bd}`, justifyContent: 'center', alignItems: 'center' }}&gt;&#10;                        &lt;FAIcon name={c.icon} style={{ fill: c.c, width: '18px', height: '18px' }} /&gt;&#10;                    &lt;/Box&gt;&#10;                    &lt;Text style={{ fontSize: '11px', fontWeight: 700, color: c.c, letterSpacing: '1px' }}&gt;{c.tag}&lt;/Text&gt;&#10;                &lt;/Box&gt;&#10;                &lt;Text style={{ fontSize: '17px', fontWeight: 'bold', color: '#0B1220' }}&gt;{c.t}&lt;/Text&gt;&#10;                &lt;Text style={{ fontSize: '12.5px', color: '#5B6B84', lineHeight: 1.7 }}&gt;{c.d}&lt;/Text&gt;&#10;            &lt;/Box&gt;&#10;        ))}&#10;    &lt;/Box&gt;&#10;&#10;    &lt;Box style={{ position: 'absolute', top: '392px', left: '64px', right: '64px', flexDirection: 'row', gap: '18px' }}&gt;&#10;        {[&#10;            {&#10;                icon: 'lock', c: '#7C3AED', bg: '#F5F1FE', bd: '#DDD0FA', t: '数据隔离',&#10;                d: '多租户行级 owner_id 过滤；密钥只在 worker / 推理侧；分享页不含账号信息',&#10;                tag: '隐私保护',&#10;            },&#10;            {&#10;                icon: 'scale-balanced', c: '#10B981', bg: '#E9F9F2', bd: '#A7E8CF', t: '版权与保真',&#10;                d: '音乐只用授权曲库；不生成他人商标；私营店铺一律虚构；地标失真属质量红线',&#10;                tag: '内容可信',&#10;            },&#10;        ].map((c, i) =&gt; (&#10;            &lt;Box key={i} style={{ flex: 1, padding: '24px 26px', background: '#FFFFFF', borderRadius: '14px', border: '1px solid #E6EAF1', boxShadow: '0 2px 12px rgba(15,23,42,0.04)', flexDirection: 'column', gap: '12px' }}&gt;&#10;                &lt;Box style={{ flexDirection: 'row', alignItems: 'center', justifyContent: 'space-between' }}&gt;&#10;                    &lt;Box style={{ width: '40px', height: '40px', borderRadius: '12px', background: c.bg, border: `1px solid ${c.bd}`, justifyContent: 'center', alignItems: 'center' }}&gt;&#10;                        &lt;FAIcon name={c.icon} style={{ fill: c.c, width: '18px', height: '18px' }} /&gt;&#10;                    &lt;/Box&gt;&#10;                    &lt;Text style={{ fontSize: '11px', fontWeight: 700, color: c.c, letterSpacing: '1px' }}&gt;{c.tag}&lt;/Text&gt;&#10;                &lt;/Box&gt;&#10;                &lt;Text style={{ fontSize: '17px', fontWeight: 'bold', color: '#0B1220' }}&gt;{c.t}&lt;/Text&gt;&#10;                &lt;Text style={{ fontSize: '12.5px', color: '#5B6B84', lineHeight: 1.7 }}&gt;{c.d}&lt;/Text&gt;&#10;            &lt;/Box&gt;&#10;        ))}&#10;    &lt;/Box&gt;&#10;&#10;    &lt;Box style={{ position: 'absolute', top: '626px', left: '64px', right: '64px', flexDirection: 'row', gap: '14px' }}&gt;&#10;        {['显式水印', '隐式元数据', 'SynthID / C2PA', '关键词黑名单', '行级数据隔离', '授权曲库'].map((t, i) =&gt; (&#10;            &lt;Box key={i} style={{ flex: 1, padding: '9px 0', borderRadius: '9px', background: '#FFFFFF', border: '1px solid #E6EAF1', justifyContent: 'center', alignItems: 'center' }}&gt;&#10;                &lt;Text style={{ fontSize: '11.5px', fontWeight: 600, color: '#42536B' }}&gt;{t}&lt;/Text&gt;&#10;            &lt;/Box&gt;&#10;        ))}&#10;    &lt;/Box&gt;&#10;&#10;    &lt;Box style={{ position: 'absolute', bottom: '20px', left: '64px', right: '64px', flexDirection: 'row', justifyContent: 'space-between', alignItems: 'center' }}&gt;&#10;        &lt;Box style={{ flexDirection: 'row', alignItems: 'center', gap: '8px' }}&gt;&#10;            &lt;Box style={{ width: '18px', height: '18px', borderRadius: '5px', background: 'linear-gradient(135deg,#60A5FA,#2563EB)', justifyContent: 'center', alignItems: 'center' }}&gt;&#10;                &lt;Text style={{ fontSize: '10px', fontWeight: 'bold', color: '#FFFFFF' }}&gt;旅&lt;/Text&gt;&#10;            &lt;/Box&gt;&#10;            &lt;Text style={{ fontSize: '12px', color: '#8A97AB' }}&gt;可旅 Kelvoy · AI 旅行 Vlog 生产工作台&lt;/Text&gt;&#10;        &lt;/Box&gt;&#10;        &lt;Text style={{ fontSize: '12px', color: '#8A97AB' }}&gt;16 / 1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</p:spPr>
        <p:txBody>
          <a:bodyPr/>
          <a:p/>
        </p:txBody>
      </p:sp>
      <p:sp>
        <p:nvSpPr>
          <p:cNvPr id="395" name="矩形 39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396" name="文本框 395" descr="{&quot;isTemplate&quot;:true,&quot;type&quot;:&quot;text&quot;}"/>
          <p:cNvSpPr txBox="1"/>
          <p:nvPr/>
        </p:nvSpPr>
        <p:spPr>
          <a:xfrm>
            <a:off x="609600" y="400050"/>
            <a:ext cx="1028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03 · </a:t>
            </a:r>
            <a:r>
              <a:rPr lang="zh-CN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技术与工程</a:t>
            </a:r>
            <a:endParaRPr lang="zh-CN" sz="900" b="1" spc="1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9820275" y="409575"/>
            <a:ext cx="17621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22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COMPLIANCE &amp; SAFETY</a:t>
            </a:r>
            <a:endParaRPr lang="en-US" sz="825" spc="22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8" name="文本框 397" descr="{&quot;isTemplate&quot;:true,&quot;type&quot;:&quot;text&quot;}"/>
          <p:cNvSpPr txBox="1"/>
          <p:nvPr/>
        </p:nvSpPr>
        <p:spPr>
          <a:xfrm>
            <a:off x="609600" y="647700"/>
            <a:ext cx="35623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成片</a:t>
            </a:r>
            <a:r>
              <a:rPr lang="zh-CN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可溯源</a:t>
            </a:r>
            <a:r>
              <a:rPr lang="zh-CN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，内容</a:t>
            </a:r>
            <a:r>
              <a:rPr lang="zh-CN" sz="25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有护栏</a:t>
            </a:r>
            <a:endParaRPr lang="zh-CN" sz="255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9" name="圆角矩形 398"/>
          <p:cNvSpPr/>
          <p:nvPr/>
        </p:nvSpPr>
        <p:spPr>
          <a:xfrm>
            <a:off x="609600" y="1104900"/>
            <a:ext cx="4191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400" name="圆角矩形 399"/>
          <p:cNvSpPr/>
          <p:nvPr/>
        </p:nvSpPr>
        <p:spPr>
          <a:xfrm>
            <a:off x="609600" y="1428750"/>
            <a:ext cx="5400675" cy="175260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401" name="圆角矩形 400"/>
          <p:cNvSpPr/>
          <p:nvPr/>
        </p:nvSpPr>
        <p:spPr>
          <a:xfrm>
            <a:off x="857250" y="165735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EFF4FE"/>
          </a:solidFill>
          <a:ln w="12700">
            <a:solidFill>
              <a:srgbClr val="C7D7FA"/>
            </a:solidFill>
            <a:prstDash val="solid"/>
          </a:ln>
        </p:spPr>
        <p:txBody>
          <a:bodyPr/>
          <a:p/>
        </p:txBody>
      </p:sp>
      <p:pic>
        <p:nvPicPr>
          <p:cNvPr id="402" name="图片 40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025" y="1762125"/>
            <a:ext cx="171450" cy="171450"/>
          </a:xfrm>
          <a:prstGeom prst="rect">
            <a:avLst/>
          </a:prstGeom>
        </p:spPr>
      </p:pic>
      <p:sp>
        <p:nvSpPr>
          <p:cNvPr id="403" name="文本框 402" descr="{&quot;isTemplate&quot;:true,&quot;type&quot;:&quot;text&quot;}"/>
          <p:cNvSpPr txBox="1"/>
          <p:nvPr/>
        </p:nvSpPr>
        <p:spPr>
          <a:xfrm>
            <a:off x="5305425" y="1781175"/>
            <a:ext cx="4572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合规底线</a:t>
            </a:r>
            <a:endParaRPr lang="zh-CN" sz="825" b="1" spc="75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4" name="文本框 403" descr="{&quot;isTemplate&quot;:true,&quot;type&quot;:&quot;text&quot;}"/>
          <p:cNvSpPr txBox="1"/>
          <p:nvPr/>
        </p:nvSpPr>
        <p:spPr>
          <a:xfrm>
            <a:off x="857250" y="2152650"/>
            <a:ext cx="4905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27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标识（显式</a:t>
            </a:r>
            <a:r>
              <a:rPr lang="en-US" sz="127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7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隐式）</a:t>
            </a:r>
            <a:endParaRPr lang="zh-CN" sz="127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857250" y="2466975"/>
            <a:ext cx="490537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右下角半透明「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生成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虚构角色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真实目的地」水印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文件元数据；模型自带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SynthID / C2PA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不剥离，符合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2025-09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施行的《人工智能生成合成内容标识办法》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6" name="圆角矩形 405"/>
          <p:cNvSpPr/>
          <p:nvPr/>
        </p:nvSpPr>
        <p:spPr>
          <a:xfrm>
            <a:off x="6181725" y="1428750"/>
            <a:ext cx="5400675" cy="175260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407" name="圆角矩形 406"/>
          <p:cNvSpPr/>
          <p:nvPr/>
        </p:nvSpPr>
        <p:spPr>
          <a:xfrm>
            <a:off x="6429375" y="165735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FDECEC"/>
          </a:solidFill>
          <a:ln w="12700">
            <a:solidFill>
              <a:srgbClr val="F5C2C2"/>
            </a:solidFill>
            <a:prstDash val="solid"/>
          </a:ln>
        </p:spPr>
        <p:txBody>
          <a:bodyPr/>
          <a:p/>
        </p:txBody>
      </p:sp>
      <p:pic>
        <p:nvPicPr>
          <p:cNvPr id="408" name="图片 4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4150" y="1762125"/>
            <a:ext cx="171450" cy="171450"/>
          </a:xfrm>
          <a:prstGeom prst="rect">
            <a:avLst/>
          </a:prstGeom>
        </p:spPr>
      </p:pic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10877550" y="1781175"/>
            <a:ext cx="4572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75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</a:rPr>
              <a:t>源头阻断</a:t>
            </a:r>
            <a:endParaRPr lang="zh-CN" sz="825" b="1" spc="75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0" name="文本框 409" descr="{&quot;isTemplate&quot;:true,&quot;type&quot;:&quot;text&quot;}"/>
          <p:cNvSpPr txBox="1"/>
          <p:nvPr/>
        </p:nvSpPr>
        <p:spPr>
          <a:xfrm>
            <a:off x="6429375" y="2152650"/>
            <a:ext cx="4905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内容拦截</a:t>
            </a:r>
            <a:endParaRPr lang="zh-CN" sz="127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6429375" y="2466975"/>
            <a:ext cx="49053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prompt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层关键词黑名单，命中即拒绝并提示修改创作要求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2" name="圆角矩形 411"/>
          <p:cNvSpPr/>
          <p:nvPr/>
        </p:nvSpPr>
        <p:spPr>
          <a:xfrm>
            <a:off x="609600" y="3733800"/>
            <a:ext cx="5400675" cy="1514475"/>
          </a:xfrm>
          <a:prstGeom prst="round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413" name="圆角矩形 412"/>
          <p:cNvSpPr/>
          <p:nvPr/>
        </p:nvSpPr>
        <p:spPr>
          <a:xfrm>
            <a:off x="857250" y="396240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F5F1FE"/>
          </a:solidFill>
          <a:ln w="12700">
            <a:solidFill>
              <a:srgbClr val="DDD0FA"/>
            </a:solidFill>
            <a:prstDash val="solid"/>
          </a:ln>
        </p:spPr>
        <p:txBody>
          <a:bodyPr/>
          <a:p/>
        </p:txBody>
      </p:sp>
      <p:pic>
        <p:nvPicPr>
          <p:cNvPr id="414" name="图片 41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025" y="4067175"/>
            <a:ext cx="171450" cy="171450"/>
          </a:xfrm>
          <a:prstGeom prst="rect">
            <a:avLst/>
          </a:prstGeom>
        </p:spPr>
      </p:pic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5305425" y="4086225"/>
            <a:ext cx="4572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75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隐私保护</a:t>
            </a:r>
            <a:endParaRPr lang="zh-CN" sz="825" b="1" spc="75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857250" y="4457700"/>
            <a:ext cx="4905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数据隔离</a:t>
            </a:r>
            <a:endParaRPr lang="zh-CN" sz="127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857250" y="4772025"/>
            <a:ext cx="49053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多租户行级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owner_id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过滤；密钥只在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worker /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推理侧；分享页不含账号信息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8" name="圆角矩形 417"/>
          <p:cNvSpPr/>
          <p:nvPr/>
        </p:nvSpPr>
        <p:spPr>
          <a:xfrm>
            <a:off x="6181725" y="3733800"/>
            <a:ext cx="5400675" cy="1514475"/>
          </a:xfrm>
          <a:prstGeom prst="round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419" name="圆角矩形 418"/>
          <p:cNvSpPr/>
          <p:nvPr/>
        </p:nvSpPr>
        <p:spPr>
          <a:xfrm>
            <a:off x="6429375" y="396240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E9F9F2"/>
          </a:solidFill>
          <a:ln w="12700">
            <a:solidFill>
              <a:srgbClr val="A7E8CF"/>
            </a:solidFill>
            <a:prstDash val="solid"/>
          </a:ln>
        </p:spPr>
        <p:txBody>
          <a:bodyPr/>
          <a:p/>
        </p:txBody>
      </p:sp>
      <p:pic>
        <p:nvPicPr>
          <p:cNvPr id="420" name="图片 419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4150" y="4067175"/>
            <a:ext cx="171450" cy="171450"/>
          </a:xfrm>
          <a:prstGeom prst="rect">
            <a:avLst/>
          </a:prstGeom>
        </p:spPr>
      </p:pic>
      <p:sp>
        <p:nvSpPr>
          <p:cNvPr id="421" name="文本框 420" descr="{&quot;isTemplate&quot;:true,&quot;type&quot;:&quot;text&quot;}"/>
          <p:cNvSpPr txBox="1"/>
          <p:nvPr/>
        </p:nvSpPr>
        <p:spPr>
          <a:xfrm>
            <a:off x="10877550" y="4086225"/>
            <a:ext cx="4572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75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内容可信</a:t>
            </a:r>
            <a:endParaRPr lang="zh-CN" sz="825" b="1" spc="75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2" name="文本框 421" descr="{&quot;isTemplate&quot;:true,&quot;type&quot;:&quot;text&quot;}"/>
          <p:cNvSpPr txBox="1"/>
          <p:nvPr/>
        </p:nvSpPr>
        <p:spPr>
          <a:xfrm>
            <a:off x="6429375" y="4457700"/>
            <a:ext cx="4905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版权与保真</a:t>
            </a:r>
            <a:endParaRPr lang="zh-CN" sz="127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3" name="文本框 422" descr="{&quot;isTemplate&quot;:true,&quot;type&quot;:&quot;text&quot;}"/>
          <p:cNvSpPr txBox="1"/>
          <p:nvPr/>
        </p:nvSpPr>
        <p:spPr>
          <a:xfrm>
            <a:off x="6429375" y="4772025"/>
            <a:ext cx="49053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音乐只用授权曲库；不生成他人商标；私营店铺一律虚构；地标失真属质量红线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4" name="圆角矩形 423"/>
          <p:cNvSpPr/>
          <p:nvPr/>
        </p:nvSpPr>
        <p:spPr>
          <a:xfrm>
            <a:off x="609600" y="5962650"/>
            <a:ext cx="1714500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425" name="文本框 424" descr="{&quot;isTemplate&quot;:true,&quot;type&quot;:&quot;text&quot;}"/>
          <p:cNvSpPr txBox="1"/>
          <p:nvPr/>
        </p:nvSpPr>
        <p:spPr>
          <a:xfrm>
            <a:off x="1247775" y="6048375"/>
            <a:ext cx="4381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显式水印</a:t>
            </a:r>
            <a:endParaRPr lang="zh-CN" sz="865" b="1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6" name="圆角矩形 425"/>
          <p:cNvSpPr/>
          <p:nvPr/>
        </p:nvSpPr>
        <p:spPr>
          <a:xfrm>
            <a:off x="2457450" y="5962650"/>
            <a:ext cx="1724025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427" name="文本框 426" descr="{&quot;isTemplate&quot;:true,&quot;type&quot;:&quot;text&quot;}"/>
          <p:cNvSpPr txBox="1"/>
          <p:nvPr/>
        </p:nvSpPr>
        <p:spPr>
          <a:xfrm>
            <a:off x="3048000" y="6048375"/>
            <a:ext cx="5524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隐式元数据</a:t>
            </a:r>
            <a:endParaRPr lang="zh-CN" sz="865" b="1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8" name="圆角矩形 427"/>
          <p:cNvSpPr/>
          <p:nvPr/>
        </p:nvSpPr>
        <p:spPr>
          <a:xfrm>
            <a:off x="4314825" y="5962650"/>
            <a:ext cx="1714500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429" name="文本框 428" descr="{&quot;isTemplate&quot;:true,&quot;type&quot;:&quot;text&quot;}"/>
          <p:cNvSpPr txBox="1"/>
          <p:nvPr/>
        </p:nvSpPr>
        <p:spPr>
          <a:xfrm>
            <a:off x="4752975" y="6048375"/>
            <a:ext cx="8477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5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SynthID / C2PA</a:t>
            </a:r>
            <a:endParaRPr lang="en-US" sz="865" b="1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" name="圆角矩形 429"/>
          <p:cNvSpPr/>
          <p:nvPr/>
        </p:nvSpPr>
        <p:spPr>
          <a:xfrm>
            <a:off x="6162675" y="5962650"/>
            <a:ext cx="1714500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431" name="文本框 430" descr="{&quot;isTemplate&quot;:true,&quot;type&quot;:&quot;text&quot;}"/>
          <p:cNvSpPr txBox="1"/>
          <p:nvPr/>
        </p:nvSpPr>
        <p:spPr>
          <a:xfrm>
            <a:off x="6696075" y="6048375"/>
            <a:ext cx="6572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关键词黑名单</a:t>
            </a:r>
            <a:endParaRPr lang="zh-CN" sz="865" b="1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2" name="圆角矩形 431"/>
          <p:cNvSpPr/>
          <p:nvPr/>
        </p:nvSpPr>
        <p:spPr>
          <a:xfrm>
            <a:off x="8010525" y="5962650"/>
            <a:ext cx="1724025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8543925" y="6048375"/>
            <a:ext cx="6572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行级数据隔离</a:t>
            </a:r>
            <a:endParaRPr lang="zh-CN" sz="865" b="1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4" name="圆角矩形 433"/>
          <p:cNvSpPr/>
          <p:nvPr/>
        </p:nvSpPr>
        <p:spPr>
          <a:xfrm>
            <a:off x="9867900" y="5962650"/>
            <a:ext cx="1714500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10506075" y="6048375"/>
            <a:ext cx="4381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授权曲库</a:t>
            </a:r>
            <a:endParaRPr lang="zh-CN" sz="865" b="1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6" name="圆角矩形 435"/>
          <p:cNvSpPr/>
          <p:nvPr/>
        </p:nvSpPr>
        <p:spPr>
          <a:xfrm>
            <a:off x="609600" y="6496050"/>
            <a:ext cx="171450" cy="171450"/>
          </a:xfrm>
          <a:prstGeom prst="roundRect">
            <a:avLst>
              <a:gd name="adj" fmla="val 27778"/>
            </a:avLst>
          </a:prstGeom>
          <a:gradFill>
            <a:gsLst>
              <a:gs pos="0">
                <a:srgbClr val="60A5FA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647700" y="6524625"/>
            <a:ext cx="952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旅</a:t>
            </a:r>
            <a:endParaRPr lang="zh-CN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857250" y="6515100"/>
            <a:ext cx="1990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Kelvoy · AI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11191875" y="6515100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16 / 19</a:t>
            </a:r>
            <a:endParaRPr lang="en-US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0" name="" descr="&lt;Slide padding='0'&gt;&#10;    &lt;Box style={{ position: 'absolute', top: 0, left: 0, width: '1280px', height: '720px', background: 'linear-gradient(120deg,#0A1128 0%,#16233F 55%,#312E81 100%)' }} /&gt;&#10;    &lt;Box style={{ position: 'absolute', top: 0, left: 0, width: '1280px', height: '720px', opacity: 0.05, backgroundImage: 'linear-gradient(rgba(255,255,255,.6) 1px, transparent 1px), linear-gradient(90deg, rgba(255,255,255,.6) 1px, transparent 1px)', backgroundSize: '48px 48px' }} /&gt;&#10;    &lt;Box style={{ position: 'absolute', top: '-160px', right: '-100px', width: '520px', height: '520px', borderRadius: '50%', background: 'radial-gradient(circle, rgba(124,58,237,0.30) 0%, transparent 70%)' }} /&gt;&#10;    &lt;Box style={{ position: 'absolute', bottom: '-180px', left: '-120px', width: '480px', height: '480px', borderRadius: '50%', background: 'radial-gradient(circle, rgba(37,99,235,0.28) 0%, transparent 70%)' }} /&gt;&#10;    &lt;Text style={{ position: 'absolute', top: '130px', right: '40px', fontSize: '300px', fontWeight: 'bold', color: 'rgba(255,255,255,0.055)', lineHeight: 1 }}&gt;04&lt;/Text&gt;&#10;&#10;    &lt;Box style={{ position: 'absolute', top: '200px', left: '88px', width: '660px', flexDirection: 'column', gap: '26px' }}&gt;&#10;        &lt;Box style={{ flexDirection: 'row', alignItems: 'center', gap: '14px' }}&gt;&#10;            &lt;Box style={{ width: '34px', height: '3px', background: '#60A5FA' }} /&gt;&#10;            &lt;Text style={{ fontSize: '14px', fontWeight: 700, color: '#93C5FD', letterSpacing: '4px' }}&gt;SECTION 04 · SHOW TIME&lt;/Text&gt;&#10;        &lt;/Box&gt;&#10;        &lt;Text style={{ fontSize: '58px', fontWeight: 'bold', color: '#FFFFFF', lineHeight: 1.15, letterSpacing: '-1px' }}&gt;&#10;            现场演示&#10;        &lt;/Text&gt;&#10;        &lt;Text style={{ fontSize: '17px', color: 'rgba(255,255,255,0.72)', lineHeight: 1.7 }}&gt;&#10;            六步走完一条片，全程可干预。&#10;        &lt;/Text&gt;&#10;    &lt;/Box&gt;&#10;&#10;    &lt;Box style={{ position: 'absolute', top: '470px', left: '88px', width: '640px', flexDirection: 'column', gap: '16px' }}&gt;&#10;        {[&#10;            '新建一期 → 审核 1 · 脚本 → 视频生成',&#10;            '审核 3 · 片段 → 合成设置 → 下载与分享',&#10;            '预计 10–15 分钟；备用：同角色已完成的多期成片',&#10;        ].map((t, i) =&gt; (&#10;            &lt;Box key={i} style={{ flexDirection: 'row', alignItems: 'center', gap: '14px' }}&gt;&#10;                &lt;Box style={{ width: '6px', height: '6px', borderRadius: '3px', background: '#60A5FA' }} /&gt;&#10;                &lt;Text style={{ fontSize: '15px', color: 'rgba(255,255,255,0.85)' }}&gt;{t}&lt;/Text&gt;&#10;            &lt;/Box&gt;&#10;        ))}&#10;    &lt;/Box&gt;&#10;&#10;    &lt;Box style={{ position: 'absolute', bottom: '86px', left: '88px', flexDirection: 'row', alignItems: 'center', gap: '10px' }}&gt;&#10;        {['01', '02', '03', '04'].map((s, i) =&gt; (&#10;            &lt;Box key={i} style={{ flexDirection: 'row', alignItems: 'center', gap: '10px' }}&gt;&#10;                &lt;Box style={{ width: i === 3 ? '26px' : '8px', height: '8px', borderRadius: '4px', background: i === 3 ? '#60A5FA' : 'rgba(255,255,255,0.25)' }} /&gt;&#10;                &lt;Text style={{ fontSize: '11px', color: i === 3 ? '#93C5FD' : 'rgba(255,255,255,0.4)', letterSpacing: '1px', marginRight: '6px' }}&gt;{s}&lt;/Text&gt;&#10;            &lt;/Box&gt;&#10;        ))}&#10;    &lt;/Box&gt;&#10;&#10;    &lt;Box style={{ position: 'absolute', bottom: 0, left: 0, right: 0, height: '56px', padding: '0 64px', flexDirection: 'row', justifyContent: 'space-between', alignItems: 'center' }}&gt;&#10;        &lt;Text style={{ fontSize: '12.5px', color: 'rgba(255,255,255,0.5)' }}&gt;可旅 Kelvoy · AI 旅行 Vlog 生产工作台&lt;/Text&gt;&#10;        &lt;Text style={{ fontSize: '12.5px', color: 'rgba(255,255,255,0.5)' }}&gt;17 / 1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矩形 4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128"/>
              </a:gs>
              <a:gs pos="55000">
                <a:srgbClr val="16233F"/>
              </a:gs>
              <a:gs pos="100000">
                <a:srgbClr val="312E81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442" name="矩形 4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rgbClr val="FFFFFF">
                  <a:alpha val="3000"/>
                </a:srgbClr>
              </a:gs>
              <a:gs pos="1000">
                <a:srgbClr val="FFFFFF">
                  <a:alpha val="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443" name="矩形 4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rgbClr val="FFFFFF">
                  <a:alpha val="3000"/>
                </a:srgbClr>
              </a:gs>
              <a:gs pos="1000">
                <a:srgbClr val="FFFFFF">
                  <a:alpha val="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444" name="任意多边形 443"/>
          <p:cNvSpPr/>
          <p:nvPr/>
        </p:nvSpPr>
        <p:spPr>
          <a:xfrm>
            <a:off x="8191500" y="-1524000"/>
            <a:ext cx="4953000" cy="4953000"/>
          </a:xfrm>
          <a:custGeom>
            <a:avLst/>
            <a:gdLst/>
            <a:ahLst/>
            <a:cxnLst/>
            <a:pathLst>
              <a:path w="520" h="520">
                <a:moveTo>
                  <a:pt x="260" y="0"/>
                </a:moveTo>
                <a:lnTo>
                  <a:pt x="260" y="0"/>
                </a:lnTo>
                <a:cubicBezTo>
                  <a:pt x="403" y="0"/>
                  <a:pt x="520" y="117"/>
                  <a:pt x="520" y="260"/>
                </a:cubicBezTo>
                <a:lnTo>
                  <a:pt x="520" y="260"/>
                </a:lnTo>
                <a:cubicBezTo>
                  <a:pt x="520" y="403"/>
                  <a:pt x="403" y="520"/>
                  <a:pt x="260" y="520"/>
                </a:cubicBezTo>
                <a:lnTo>
                  <a:pt x="260" y="520"/>
                </a:lnTo>
                <a:cubicBezTo>
                  <a:pt x="117" y="520"/>
                  <a:pt x="0" y="403"/>
                  <a:pt x="0" y="260"/>
                </a:cubicBezTo>
                <a:lnTo>
                  <a:pt x="0" y="260"/>
                </a:lnTo>
                <a:cubicBezTo>
                  <a:pt x="0" y="117"/>
                  <a:pt x="117" y="0"/>
                  <a:pt x="260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30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445" name="任意多边形 444"/>
          <p:cNvSpPr/>
          <p:nvPr/>
        </p:nvSpPr>
        <p:spPr>
          <a:xfrm>
            <a:off x="-1143000" y="4000500"/>
            <a:ext cx="4572000" cy="4572000"/>
          </a:xfrm>
          <a:custGeom>
            <a:avLst/>
            <a:gdLst/>
            <a:ahLst/>
            <a:cxnLst/>
            <a:pathLst>
              <a:path w="480" h="480">
                <a:moveTo>
                  <a:pt x="240" y="0"/>
                </a:moveTo>
                <a:lnTo>
                  <a:pt x="240" y="0"/>
                </a:lnTo>
                <a:cubicBezTo>
                  <a:pt x="372" y="0"/>
                  <a:pt x="480" y="108"/>
                  <a:pt x="480" y="240"/>
                </a:cubicBezTo>
                <a:lnTo>
                  <a:pt x="480" y="240"/>
                </a:lnTo>
                <a:cubicBezTo>
                  <a:pt x="480" y="372"/>
                  <a:pt x="372" y="480"/>
                  <a:pt x="240" y="480"/>
                </a:cubicBezTo>
                <a:lnTo>
                  <a:pt x="240" y="480"/>
                </a:lnTo>
                <a:cubicBezTo>
                  <a:pt x="108" y="480"/>
                  <a:pt x="0" y="372"/>
                  <a:pt x="0" y="240"/>
                </a:cubicBezTo>
                <a:lnTo>
                  <a:pt x="0" y="240"/>
                </a:lnTo>
                <a:cubicBezTo>
                  <a:pt x="0" y="108"/>
                  <a:pt x="108" y="0"/>
                  <a:pt x="240" y="0"/>
                </a:cubicBezTo>
                <a:close/>
              </a:path>
            </a:pathLst>
          </a:custGeom>
          <a:gradFill>
            <a:gsLst>
              <a:gs pos="0">
                <a:srgbClr val="2563EB">
                  <a:alpha val="2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8277225" y="1238250"/>
            <a:ext cx="3533775" cy="3429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55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22500" b="1">
              <a:solidFill>
                <a:srgbClr val="FFFFFF">
                  <a:alpha val="55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7" name="矩形 446"/>
          <p:cNvSpPr/>
          <p:nvPr/>
        </p:nvSpPr>
        <p:spPr>
          <a:xfrm>
            <a:off x="838200" y="1971675"/>
            <a:ext cx="323850" cy="28575"/>
          </a:xfrm>
          <a:prstGeom prst="rect">
            <a:avLst/>
          </a:prstGeom>
          <a:solidFill>
            <a:srgbClr val="60A5FA"/>
          </a:solidFill>
        </p:spPr>
        <p:txBody>
          <a:bodyPr/>
          <a:p/>
        </p:txBody>
      </p:sp>
      <p:sp>
        <p:nvSpPr>
          <p:cNvPr id="448" name="文本框 447" descr="{&quot;isTemplate&quot;:true,&quot;type&quot;:&quot;text&quot;}"/>
          <p:cNvSpPr txBox="1"/>
          <p:nvPr/>
        </p:nvSpPr>
        <p:spPr>
          <a:xfrm>
            <a:off x="1295400" y="1905000"/>
            <a:ext cx="2609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SECTION 04 · SHOW TIME</a:t>
            </a:r>
            <a:endParaRPr lang="en-US" sz="1050" b="1" spc="300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838200" y="2314575"/>
            <a:ext cx="6286500" cy="771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350" b="1" spc="-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现场演示</a:t>
            </a:r>
            <a:endParaRPr lang="zh-CN" sz="4350" b="1" spc="-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0" name="文本框 449" descr="{&quot;isTemplate&quot;:true,&quot;type&quot;:&quot;text&quot;}"/>
          <p:cNvSpPr txBox="1"/>
          <p:nvPr/>
        </p:nvSpPr>
        <p:spPr>
          <a:xfrm>
            <a:off x="838200" y="3333750"/>
            <a:ext cx="62865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六步走完一条片，全程可干预。</a:t>
            </a:r>
            <a:endParaRPr lang="zh-CN" sz="1275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1" name="圆角矩形 450"/>
          <p:cNvSpPr/>
          <p:nvPr/>
        </p:nvSpPr>
        <p:spPr>
          <a:xfrm>
            <a:off x="838200" y="45339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/>
          <a:p/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1028700" y="4476750"/>
            <a:ext cx="2419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新建一期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审核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 ·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脚本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视频生成</a:t>
            </a:r>
            <a:endParaRPr lang="zh-CN" sz="1125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3" name="圆角矩形 452"/>
          <p:cNvSpPr/>
          <p:nvPr/>
        </p:nvSpPr>
        <p:spPr>
          <a:xfrm>
            <a:off x="838200" y="4857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/>
          <a:p/>
        </p:txBody>
      </p:sp>
      <p:sp>
        <p:nvSpPr>
          <p:cNvPr id="454" name="文本框 453" descr="{&quot;isTemplate&quot;:true,&quot;type&quot;:&quot;text&quot;}"/>
          <p:cNvSpPr txBox="1"/>
          <p:nvPr/>
        </p:nvSpPr>
        <p:spPr>
          <a:xfrm>
            <a:off x="1028700" y="4800600"/>
            <a:ext cx="2562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审核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 ·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片段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合成设置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下载与分享</a:t>
            </a:r>
            <a:endParaRPr lang="zh-CN" sz="1125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5" name="圆角矩形 454"/>
          <p:cNvSpPr/>
          <p:nvPr/>
        </p:nvSpPr>
        <p:spPr>
          <a:xfrm>
            <a:off x="838200" y="5181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/>
          <a:p/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1028700" y="5124450"/>
            <a:ext cx="3219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预计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10–15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分钟；备用：同角色已完成的多期成片</a:t>
            </a:r>
            <a:endParaRPr lang="zh-CN" sz="1125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7" name="圆角矩形 456"/>
          <p:cNvSpPr/>
          <p:nvPr/>
        </p:nvSpPr>
        <p:spPr>
          <a:xfrm>
            <a:off x="838200" y="5934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1009650" y="5905500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825" spc="75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9" name="圆角矩形 458"/>
          <p:cNvSpPr/>
          <p:nvPr/>
        </p:nvSpPr>
        <p:spPr>
          <a:xfrm>
            <a:off x="1304925" y="5934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1476375" y="5905500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825" spc="75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1" name="圆角矩形 460"/>
          <p:cNvSpPr/>
          <p:nvPr/>
        </p:nvSpPr>
        <p:spPr>
          <a:xfrm>
            <a:off x="1771650" y="5934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1943100" y="5905500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825" spc="75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3" name="圆角矩形 462"/>
          <p:cNvSpPr/>
          <p:nvPr/>
        </p:nvSpPr>
        <p:spPr>
          <a:xfrm>
            <a:off x="2238375" y="5934075"/>
            <a:ext cx="247650" cy="762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/>
          <a:p/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2581275" y="5905500"/>
            <a:ext cx="1428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825" spc="75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5" name="文本框 464" descr="{&quot;isTemplate&quot;:true,&quot;type&quot;:&quot;text&quot;}"/>
          <p:cNvSpPr txBox="1"/>
          <p:nvPr/>
        </p:nvSpPr>
        <p:spPr>
          <a:xfrm>
            <a:off x="609600" y="6524625"/>
            <a:ext cx="20764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Kelvoy · AI </a:t>
            </a:r>
            <a:r>
              <a:rPr lang="zh-CN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40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11172825" y="6524625"/>
            <a:ext cx="4095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17 / 19</a:t>
            </a:r>
            <a:endParaRPr lang="en-US" sz="940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7" name="" descr="&lt;Slide padding='0'&gt;&#10;    &lt;Box style={{ position: 'absolute', top: 0, left: 0, width: '1280px', height: '720px', background: '#F6F8FB' }} /&gt;&#10;    &lt;Box style={{ position: 'absolute', top: 0, left: 0, width: '1280px', height: '4px', background: 'linear-gradient(90deg,#2563EB 0%,#7C3AED 100%)' }} /&gt;&#10;&#10;    &lt;Box style={{ position: 'absolute', top: '42px', left: '64px', right: '64px', flexDirection: 'row', justifyContent: 'space-between', alignItems: 'center' }}&gt;&#10;        &lt;Text style={{ fontSize: '12px', fontWeight: '700', color: '#2563EB', letterSpacing: '2px' }}&gt;04 · 现场演示&lt;/Text&gt;&#10;        &lt;Text style={{ fontSize: '11px', color: '#8A97AB', letterSpacing: '3px' }}&gt;LIVE DEMO&lt;/Text&gt;&#10;    &lt;/Box&gt;&#10;    &lt;Text style={{ position: 'absolute', top: '68px', left: '64px', fontSize: '34px', fontWeight: 'bold', color: '#0B1220' }}&gt;&#10;        六步走完一条片，&lt;span style={{ color: '#2563EB' }}&gt;全程可干预&lt;/span&gt;&#10;    &lt;/Text&gt;&#10;    &lt;Box style={{ position: 'absolute', top: '116px', left: '64px', width: '44px', height: '4px', borderRadius: '2px', background: 'linear-gradient(90deg,#2563EB,#7C3AED)' }} /&gt;&#10;&#10;    &lt;Box style={{ position: 'absolute', top: '150px', left: '64px', right: '64px', flexDirection: 'row', gap: '16px' }}&gt;&#10;        {[&#10;            { n: '1', t: '新建一期', d: '选官方角色 + 灵山大佛，9:16，直出方式，看实时预估积分' },&#10;            { n: '2', t: '审核 1 · 脚本', d: '改一镜字幕、删一镜；写优化指令重生成' },&#10;            { n: '3', t: '视频生成', d: '素材检查后双参考直出；进度页轮询任务状态' },&#10;        ].map((c, i) =&gt; (&#10;            &lt;Box key={i} style={{ flex: 1, padding: '22px 24px', background: '#FFFFFF', borderRadius: '14px', border: '1px solid #E6EAF1', boxShadow: '0 2px 12px rgba(15,23,42,0.04)', flexDirection: 'column', gap: '11px' }}&gt;&#10;                &lt;Box style={{ flexDirection: 'row', alignItems: 'center', gap: '12px' }}&gt;&#10;                    &lt;Box style={{ width: '34px', height: '34px', borderRadius: '17px', background: 'linear-gradient(135deg,#2563EB,#7C3AED)', justifyContent: 'center', alignItems: 'center' }}&gt;&#10;                        &lt;Text style={{ fontSize: '15px', fontWeight: 'bold', color: '#FFFFFF' }}&gt;{c.n}&lt;/Text&gt;&#10;                    &lt;/Box&gt;&#10;                    &lt;Text style={{ fontSize: '16.5px', fontWeight: 'bold', color: '#0B1220' }}&gt;{c.t}&lt;/Text&gt;&#10;                &lt;/Box&gt;&#10;                &lt;Text style={{ fontSize: '12.5px', color: '#5B6B84', lineHeight: 1.65 }}&gt;{c.d}&lt;/Text&gt;&#10;            &lt;/Box&gt;&#10;        ))}&#10;    &lt;/Box&gt;&#10;&#10;    &lt;Box style={{ position: 'absolute', top: '310px', left: '64px', right: '64px', flexDirection: 'row', gap: '16px' }}&gt;&#10;        {[&#10;            { n: '4', t: '审核 3 · 片段', d: '拖滑块选 1 秒；勾五项质量红线；标一镜坏镜重生成' },&#10;            { n: '5', t: '合成设置 → 成片', d: '标题 + 配乐 + 字幕确认后开始合成；ffprobe 验证后交付' },&#10;            { n: '6', t: '下载与分享', d: '播放成片、下载 MP4；开启分享链接（含二维码与文案）' },&#10;        ].map((c, i) =&gt; (&#10;            &lt;Box key={i} style={{ flex: 1, padding: '22px 24px', background: '#FFFFFF', borderRadius: '14px', border: '1px solid #E6EAF1', boxShadow: '0 2px 12px rgba(15,23,42,0.04)', flexDirection: 'column', gap: '11px' }}&gt;&#10;                &lt;Box style={{ flexDirection: 'row', alignItems: 'center', gap: '12px' }}&gt;&#10;                    &lt;Box style={{ width: '34px', height: '34px', borderRadius: '17px', background: 'linear-gradient(135deg,#10B981,#059669)', justifyContent: 'center', alignItems: 'center' }}&gt;&#10;                        &lt;Text style={{ fontSize: '15px', fontWeight: 'bold', color: '#FFFFFF' }}&gt;{c.n}&lt;/Text&gt;&#10;                    &lt;/Box&gt;&#10;                    &lt;Text style={{ fontSize: '16.5px', fontWeight: 'bold', color: '#0B1220' }}&gt;{c.t}&lt;/Text&gt;&#10;                &lt;/Box&gt;&#10;                &lt;Text style={{ fontSize: '12.5px', color: '#5B6B84', lineHeight: 1.65 }}&gt;{c.d}&lt;/Text&gt;&#10;            &lt;/Box&gt;&#10;        ))}&#10;    &lt;/Box&gt;&#10;&#10;    &lt;Box style={{ position: 'absolute', top: '462px', left: '64px', right: '64px', padding: '20px 28px', borderRadius: '14px', background: 'linear-gradient(120deg,#0A1128 0%,#16233F 60%,#312E81 100%)', flexDirection: 'row', alignItems: 'center', gap: '24px', boxShadow: '0 10px 30px rgba(15,23,42,0.22)' }}&gt;&#10;        &lt;Box style={{ width: '46px', height: '46px', borderRadius: '13px', background: 'rgba(96,165,250,0.16)', border: '1px solid rgba(96,165,250,0.4)', justifyContent: 'center', alignItems: 'center' }}&gt;&#10;            &lt;FAIcon name='play' style={{ fill: '#93C5FD', width: '19px', height: '19px' }} /&gt;&#10;        &lt;/Box&gt;&#10;        &lt;Box style={{ flex: 1, flexDirection: 'column', gap: '6px' }}&gt;&#10;            &lt;Text style={{ fontSize: '17px', fontWeight: 'bold', color: '#FFFFFF' }}&gt;预计 10–15 分钟&lt;/Text&gt;&#10;            &lt;Text style={{ fontSize: '13px', color: 'rgba(255,255,255,0.8)', lineHeight: 1.55 }}&gt;&#10;                备用方案：同角色已完成的多期成片与公开分享链接，现场网络波动也能完整走完故事线&#10;            &lt;/Text&gt;&#10;        &lt;/Box&gt;&#10;    &lt;/Box&gt;&#10;&#10;    &lt;Box style={{ position: 'absolute', top: '594px', left: '64px', right: '64px', flexDirection: 'row', gap: '14px' }}&gt;&#10;        {['实时预估积分', '逐镜可改可删', '滑块截取 1 秒', '五项质量红线', 'ffprobe 验证', '二维码分享'].map((t, i) =&gt; (&#10;            &lt;Box key={i} style={{ flex: 1, padding: '9px 0', borderRadius: '9px', background: '#FFFFFF', border: '1px solid #E6EAF1', justifyContent: 'center', alignItems: 'center' }}&gt;&#10;                &lt;Text style={{ fontSize: '11.5px', fontWeight: 600, color: '#42536B' }}&gt;{t}&lt;/Text&gt;&#10;            &lt;/Box&gt;&#10;        ))}&#10;    &lt;/Box&gt;&#10;&#10;    &lt;Box style={{ position: 'absolute', bottom: '20px', left: '64px', right: '64px', flexDirection: 'row', justifyContent: 'space-between', alignItems: 'center' }}&gt;&#10;        &lt;Box style={{ flexDirection: 'row', alignItems: 'center', gap: '8px' }}&gt;&#10;            &lt;Box style={{ width: '18px', height: '18px', borderRadius: '5px', background: 'linear-gradient(135deg,#60A5FA,#2563EB)', justifyContent: 'center', alignItems: 'center' }}&gt;&#10;                &lt;Text style={{ fontSize: '10px', fontWeight: 'bold', color: '#FFFFFF' }}&gt;旅&lt;/Text&gt;&#10;            &lt;/Box&gt;&#10;            &lt;Text style={{ fontSize: '12px', color: '#8A97AB' }}&gt;可旅 Kelvoy · AI 旅行 Vlog 生产工作台&lt;/Text&gt;&#10;        &lt;/Box&gt;&#10;        &lt;Text style={{ fontSize: '12px', color: '#8A97AB' }}&gt;18 / 1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矩形 4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</p:spPr>
        <p:txBody>
          <a:bodyPr/>
          <a:p/>
        </p:txBody>
      </p:sp>
      <p:sp>
        <p:nvSpPr>
          <p:cNvPr id="469" name="矩形 468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609600" y="400050"/>
            <a:ext cx="8953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04 · </a:t>
            </a:r>
            <a:r>
              <a:rPr lang="zh-CN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现场演示</a:t>
            </a:r>
            <a:endParaRPr lang="zh-CN" sz="900" b="1" spc="1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10753725" y="409575"/>
            <a:ext cx="8286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22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LIVE DEMO</a:t>
            </a:r>
            <a:endParaRPr lang="en-US" sz="825" spc="22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2" name="文本框 471" descr="{&quot;isTemplate&quot;:true,&quot;type&quot;:&quot;text&quot;}"/>
          <p:cNvSpPr txBox="1"/>
          <p:nvPr/>
        </p:nvSpPr>
        <p:spPr>
          <a:xfrm>
            <a:off x="609600" y="647700"/>
            <a:ext cx="42100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六步走完一条片，</a:t>
            </a:r>
            <a:r>
              <a:rPr lang="zh-CN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全程可干预</a:t>
            </a:r>
            <a:endParaRPr lang="zh-CN" sz="25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3" name="圆角矩形 472"/>
          <p:cNvSpPr/>
          <p:nvPr/>
        </p:nvSpPr>
        <p:spPr>
          <a:xfrm>
            <a:off x="609600" y="1104900"/>
            <a:ext cx="4191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474" name="圆角矩形 473"/>
          <p:cNvSpPr/>
          <p:nvPr/>
        </p:nvSpPr>
        <p:spPr>
          <a:xfrm>
            <a:off x="609600" y="1428750"/>
            <a:ext cx="3552825" cy="1323975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475" name="圆角矩形 474"/>
          <p:cNvSpPr/>
          <p:nvPr/>
        </p:nvSpPr>
        <p:spPr>
          <a:xfrm>
            <a:off x="838200" y="1638300"/>
            <a:ext cx="323850" cy="3238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476" name="文本框 475" descr="{&quot;isTemplate&quot;:true,&quot;type&quot;:&quot;text&quot;}"/>
          <p:cNvSpPr txBox="1"/>
          <p:nvPr/>
        </p:nvSpPr>
        <p:spPr>
          <a:xfrm>
            <a:off x="952500" y="1714500"/>
            <a:ext cx="95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1276350" y="1704975"/>
            <a:ext cx="6286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新建一期</a:t>
            </a:r>
            <a:endParaRPr lang="zh-CN" sz="124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8" name="文本框 477" descr="{&quot;isTemplate&quot;:true,&quot;type&quot;:&quot;text&quot;}"/>
          <p:cNvSpPr txBox="1"/>
          <p:nvPr/>
        </p:nvSpPr>
        <p:spPr>
          <a:xfrm>
            <a:off x="838200" y="2066925"/>
            <a:ext cx="3095625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选官方角色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灵山大佛，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9:16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，直出方式，看实时预估积分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9" name="圆角矩形 478"/>
          <p:cNvSpPr/>
          <p:nvPr/>
        </p:nvSpPr>
        <p:spPr>
          <a:xfrm>
            <a:off x="4314825" y="1428750"/>
            <a:ext cx="3562350" cy="10858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480" name="圆角矩形 479"/>
          <p:cNvSpPr/>
          <p:nvPr/>
        </p:nvSpPr>
        <p:spPr>
          <a:xfrm>
            <a:off x="4543425" y="1638300"/>
            <a:ext cx="323850" cy="3238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4657725" y="1714500"/>
            <a:ext cx="95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2" name="文本框 481" descr="{&quot;isTemplate&quot;:true,&quot;type&quot;:&quot;text&quot;}"/>
          <p:cNvSpPr txBox="1"/>
          <p:nvPr/>
        </p:nvSpPr>
        <p:spPr>
          <a:xfrm>
            <a:off x="4981575" y="1704975"/>
            <a:ext cx="942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审核</a:t>
            </a:r>
            <a:r>
              <a:rPr lang="en-US" sz="12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 1 · </a:t>
            </a:r>
            <a:r>
              <a:rPr lang="zh-CN" sz="12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脚本</a:t>
            </a:r>
            <a:endParaRPr lang="zh-CN" sz="124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3" name="文本框 482" descr="{&quot;isTemplate&quot;:true,&quot;type&quot;:&quot;text&quot;}"/>
          <p:cNvSpPr txBox="1"/>
          <p:nvPr/>
        </p:nvSpPr>
        <p:spPr>
          <a:xfrm>
            <a:off x="4543425" y="2066925"/>
            <a:ext cx="31051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改一镜字幕、删一镜；写优化指令重生成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4" name="圆角矩形 483"/>
          <p:cNvSpPr/>
          <p:nvPr/>
        </p:nvSpPr>
        <p:spPr>
          <a:xfrm>
            <a:off x="8029575" y="1428750"/>
            <a:ext cx="3552825" cy="10858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485" name="圆角矩形 484"/>
          <p:cNvSpPr/>
          <p:nvPr/>
        </p:nvSpPr>
        <p:spPr>
          <a:xfrm>
            <a:off x="8258175" y="1638300"/>
            <a:ext cx="323850" cy="3238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8372475" y="1714500"/>
            <a:ext cx="95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7" name="文本框 486" descr="{&quot;isTemplate&quot;:true,&quot;type&quot;:&quot;text&quot;}"/>
          <p:cNvSpPr txBox="1"/>
          <p:nvPr/>
        </p:nvSpPr>
        <p:spPr>
          <a:xfrm>
            <a:off x="8696325" y="1704975"/>
            <a:ext cx="6286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视频生成</a:t>
            </a:r>
            <a:endParaRPr lang="zh-CN" sz="124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8258175" y="2066925"/>
            <a:ext cx="309562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素材检查后双参考直出；进度页轮询任务状态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9" name="圆角矩形 488"/>
          <p:cNvSpPr/>
          <p:nvPr/>
        </p:nvSpPr>
        <p:spPr>
          <a:xfrm>
            <a:off x="609600" y="2952750"/>
            <a:ext cx="3552825" cy="10858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490" name="圆角矩形 489"/>
          <p:cNvSpPr/>
          <p:nvPr/>
        </p:nvSpPr>
        <p:spPr>
          <a:xfrm>
            <a:off x="838200" y="3162300"/>
            <a:ext cx="323850" cy="3238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491" name="文本框 490" descr="{&quot;isTemplate&quot;:true,&quot;type&quot;:&quot;text&quot;}"/>
          <p:cNvSpPr txBox="1"/>
          <p:nvPr/>
        </p:nvSpPr>
        <p:spPr>
          <a:xfrm>
            <a:off x="952500" y="3238500"/>
            <a:ext cx="95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1276350" y="3228975"/>
            <a:ext cx="942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审核</a:t>
            </a:r>
            <a:r>
              <a:rPr lang="en-US" sz="12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 3 · </a:t>
            </a:r>
            <a:r>
              <a:rPr lang="zh-CN" sz="12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片段</a:t>
            </a:r>
            <a:endParaRPr lang="zh-CN" sz="124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3" name="文本框 492" descr="{&quot;isTemplate&quot;:true,&quot;type&quot;:&quot;text&quot;}"/>
          <p:cNvSpPr txBox="1"/>
          <p:nvPr/>
        </p:nvSpPr>
        <p:spPr>
          <a:xfrm>
            <a:off x="838200" y="3590925"/>
            <a:ext cx="309562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拖滑块选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；勾五项质量红线；标一镜坏镜重生成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4" name="圆角矩形 493"/>
          <p:cNvSpPr/>
          <p:nvPr/>
        </p:nvSpPr>
        <p:spPr>
          <a:xfrm>
            <a:off x="4314825" y="2952750"/>
            <a:ext cx="3562350" cy="10858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495" name="圆角矩形 494"/>
          <p:cNvSpPr/>
          <p:nvPr/>
        </p:nvSpPr>
        <p:spPr>
          <a:xfrm>
            <a:off x="4543425" y="3162300"/>
            <a:ext cx="323850" cy="3238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4657725" y="3238500"/>
            <a:ext cx="95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7" name="文本框 496" descr="{&quot;isTemplate&quot;:true,&quot;type&quot;:&quot;text&quot;}"/>
          <p:cNvSpPr txBox="1"/>
          <p:nvPr/>
        </p:nvSpPr>
        <p:spPr>
          <a:xfrm>
            <a:off x="4981575" y="3228975"/>
            <a:ext cx="12001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合成设置</a:t>
            </a:r>
            <a:r>
              <a:rPr lang="en-US" sz="12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成片</a:t>
            </a:r>
            <a:endParaRPr lang="zh-CN" sz="124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8" name="文本框 497" descr="{&quot;isTemplate&quot;:true,&quot;type&quot;:&quot;text&quot;}"/>
          <p:cNvSpPr txBox="1"/>
          <p:nvPr/>
        </p:nvSpPr>
        <p:spPr>
          <a:xfrm>
            <a:off x="4543425" y="3590925"/>
            <a:ext cx="31051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标题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配乐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字幕确认后开始合成；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ffprobe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验证后交付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9" name="圆角矩形 498"/>
          <p:cNvSpPr/>
          <p:nvPr/>
        </p:nvSpPr>
        <p:spPr>
          <a:xfrm>
            <a:off x="8029575" y="2952750"/>
            <a:ext cx="3552825" cy="10858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blurRad="114300" dist="19050" dir="5400000">
              <a:srgbClr val="0F172A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500" name="圆角矩形 499"/>
          <p:cNvSpPr/>
          <p:nvPr/>
        </p:nvSpPr>
        <p:spPr>
          <a:xfrm>
            <a:off x="8258175" y="3162300"/>
            <a:ext cx="323850" cy="3238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8372475" y="3238500"/>
            <a:ext cx="95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2" name="文本框 501" descr="{&quot;isTemplate&quot;:true,&quot;type&quot;:&quot;text&quot;}"/>
          <p:cNvSpPr txBox="1"/>
          <p:nvPr/>
        </p:nvSpPr>
        <p:spPr>
          <a:xfrm>
            <a:off x="8696325" y="3228975"/>
            <a:ext cx="7905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4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下载与分享</a:t>
            </a:r>
            <a:endParaRPr lang="zh-CN" sz="124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8258175" y="3590925"/>
            <a:ext cx="309562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播放成片、下载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MP4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；开启分享链接（含二维码与文案）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4" name="圆角矩形 503"/>
          <p:cNvSpPr/>
          <p:nvPr/>
        </p:nvSpPr>
        <p:spPr>
          <a:xfrm>
            <a:off x="609600" y="4400550"/>
            <a:ext cx="10972800" cy="876300"/>
          </a:xfrm>
          <a:prstGeom prst="roundRect">
            <a:avLst>
              <a:gd name="adj" fmla="val 15217"/>
            </a:avLst>
          </a:prstGeom>
          <a:gradFill>
            <a:gsLst>
              <a:gs pos="0">
                <a:srgbClr val="0A1128"/>
              </a:gs>
              <a:gs pos="60000">
                <a:srgbClr val="16233F"/>
              </a:gs>
              <a:gs pos="100000">
                <a:srgbClr val="312E81"/>
              </a:gs>
            </a:gsLst>
            <a:lin ang="1800000" scaled="1"/>
          </a:gradFill>
          <a:effectLst>
            <a:outerShdw blurRad="285750" dist="95250" dir="5400000">
              <a:srgbClr val="0F172A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05" name="圆角矩形 504"/>
          <p:cNvSpPr/>
          <p:nvPr/>
        </p:nvSpPr>
        <p:spPr>
          <a:xfrm>
            <a:off x="876300" y="4619625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4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06" name="图片 50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650" y="4752975"/>
            <a:ext cx="180975" cy="180975"/>
          </a:xfrm>
          <a:prstGeom prst="rect">
            <a:avLst/>
          </a:prstGeom>
        </p:spPr>
      </p:pic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1543050" y="4591050"/>
            <a:ext cx="97726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预计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10–15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8" name="文本框 507" descr="{&quot;isTemplate&quot;:true,&quot;type&quot;:&quot;text&quot;}"/>
          <p:cNvSpPr txBox="1"/>
          <p:nvPr/>
        </p:nvSpPr>
        <p:spPr>
          <a:xfrm>
            <a:off x="1543050" y="4848225"/>
            <a:ext cx="97726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备用方案：同角色已完成的多期成片与公开分享链接，现场网络波动也能完整走完故事线</a:t>
            </a:r>
            <a:endParaRPr lang="zh-CN" sz="9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9" name="圆角矩形 508"/>
          <p:cNvSpPr/>
          <p:nvPr/>
        </p:nvSpPr>
        <p:spPr>
          <a:xfrm>
            <a:off x="609600" y="5657850"/>
            <a:ext cx="1714500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510" name="文本框 509" descr="{&quot;isTemplate&quot;:true,&quot;type&quot;:&quot;text&quot;}"/>
          <p:cNvSpPr txBox="1"/>
          <p:nvPr/>
        </p:nvSpPr>
        <p:spPr>
          <a:xfrm>
            <a:off x="1143000" y="5743575"/>
            <a:ext cx="6572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实时预估积分</a:t>
            </a:r>
            <a:endParaRPr lang="zh-CN" sz="865" b="1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1" name="圆角矩形 510"/>
          <p:cNvSpPr/>
          <p:nvPr/>
        </p:nvSpPr>
        <p:spPr>
          <a:xfrm>
            <a:off x="2457450" y="5657850"/>
            <a:ext cx="1724025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512" name="文本框 511" descr="{&quot;isTemplate&quot;:true,&quot;type&quot;:&quot;text&quot;}"/>
          <p:cNvSpPr txBox="1"/>
          <p:nvPr/>
        </p:nvSpPr>
        <p:spPr>
          <a:xfrm>
            <a:off x="2990850" y="5743575"/>
            <a:ext cx="6572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逐镜可改可删</a:t>
            </a:r>
            <a:endParaRPr lang="zh-CN" sz="865" b="1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3" name="圆角矩形 512"/>
          <p:cNvSpPr/>
          <p:nvPr/>
        </p:nvSpPr>
        <p:spPr>
          <a:xfrm>
            <a:off x="4314825" y="5657850"/>
            <a:ext cx="1714500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514" name="文本框 513" descr="{&quot;isTemplate&quot;:true,&quot;type&quot;:&quot;text&quot;}"/>
          <p:cNvSpPr txBox="1"/>
          <p:nvPr/>
        </p:nvSpPr>
        <p:spPr>
          <a:xfrm>
            <a:off x="4829175" y="5743575"/>
            <a:ext cx="6858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滑块截取</a:t>
            </a:r>
            <a:r>
              <a:rPr lang="en-US" sz="865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865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秒</a:t>
            </a:r>
            <a:endParaRPr lang="zh-CN" sz="865" b="1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5" name="圆角矩形 514"/>
          <p:cNvSpPr/>
          <p:nvPr/>
        </p:nvSpPr>
        <p:spPr>
          <a:xfrm>
            <a:off x="6162675" y="5657850"/>
            <a:ext cx="1714500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6696075" y="5743575"/>
            <a:ext cx="6572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五项质量红线</a:t>
            </a:r>
            <a:endParaRPr lang="zh-CN" sz="865" b="1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7" name="圆角矩形 516"/>
          <p:cNvSpPr/>
          <p:nvPr/>
        </p:nvSpPr>
        <p:spPr>
          <a:xfrm>
            <a:off x="8010525" y="5657850"/>
            <a:ext cx="1724025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8534400" y="5743575"/>
            <a:ext cx="6762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5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ffprobe </a:t>
            </a:r>
            <a:r>
              <a:rPr lang="zh-CN" sz="865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验证</a:t>
            </a:r>
            <a:endParaRPr lang="zh-CN" sz="865" b="1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9" name="圆角矩形 518"/>
          <p:cNvSpPr/>
          <p:nvPr/>
        </p:nvSpPr>
        <p:spPr>
          <a:xfrm>
            <a:off x="9867900" y="5657850"/>
            <a:ext cx="1714500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10448925" y="5743575"/>
            <a:ext cx="5524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 b="1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二维码分享</a:t>
            </a:r>
            <a:endParaRPr lang="zh-CN" sz="865" b="1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1" name="圆角矩形 520"/>
          <p:cNvSpPr/>
          <p:nvPr/>
        </p:nvSpPr>
        <p:spPr>
          <a:xfrm>
            <a:off x="609600" y="6496050"/>
            <a:ext cx="171450" cy="171450"/>
          </a:xfrm>
          <a:prstGeom prst="roundRect">
            <a:avLst>
              <a:gd name="adj" fmla="val 27778"/>
            </a:avLst>
          </a:prstGeom>
          <a:gradFill>
            <a:gsLst>
              <a:gs pos="0">
                <a:srgbClr val="60A5FA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647700" y="6524625"/>
            <a:ext cx="952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旅</a:t>
            </a:r>
            <a:endParaRPr lang="zh-CN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3" name="文本框 522" descr="{&quot;isTemplate&quot;:true,&quot;type&quot;:&quot;text&quot;}"/>
          <p:cNvSpPr txBox="1"/>
          <p:nvPr/>
        </p:nvSpPr>
        <p:spPr>
          <a:xfrm>
            <a:off x="857250" y="6515100"/>
            <a:ext cx="1990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Kelvoy · AI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11191875" y="6515100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18 / 19</a:t>
            </a:r>
            <a:endParaRPr lang="en-US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5" name="" descr="&lt;Slide padding='0'&gt;&#10;    &lt;Box style={{ position: 'absolute', top: 0, left: 0, width: '1280px', height: '720px', background: '#F6F8FB' }} /&gt;&#10;    &lt;Box style={{ position: 'absolute', top: 0, left: 0, width: '1280px', height: '4px', background: 'linear-gradient(90deg,#2563EB 0%,#7C3AED 100%)' }} /&gt;&#10;&#10;    &lt;Box style={{ position: 'absolute', top: '42px', left: '64px', right: '64px', flexDirection: 'row', justifyContent: 'space-between', alignItems: 'center' }}&gt;&#10;        &lt;Text style={{ fontSize: '12px', fontWeight: '700', color: '#2563EB', letterSpacing: '2px' }}&gt;04 · 现场演示&lt;/Text&gt;&#10;        &lt;Text style={{ fontSize: '11px', color: '#8A97AB', letterSpacing: '3px' }}&gt;TEAM &amp; THANKS&lt;/Text&gt;&#10;    &lt;/Box&gt;&#10;    &lt;Text style={{ position: 'absolute', top: '68px', left: '64px', fontSize: '34px', fontWeight: 'bold', color: '#0B1220' }}&gt;&#10;        Kelvoy &lt;span style={{ color: '#2563EB' }}&gt;项目组&lt;/span&gt;&#10;    &lt;/Text&gt;&#10;    &lt;Box style={{ position: 'absolute', top: '116px', left: '64px', width: '44px', height: '4px', borderRadius: '2px', background: 'linear-gradient(90deg,#2563EB,#7C3AED)' }} /&gt;&#10;&#10;    &lt;Box style={{ position: 'absolute', top: '150px', left: '64px', width: '640px', flexDirection: 'column', gap: '10px' }}&gt;&#10;        {[&#10;            { n: '张小白（张辉）', r: '队长 · 项目策划 · PRD · 环境部署 · 演示', c: '#2563EB' },&#10;            { n: '小腾子', r: '原型设计 · 测试 · DEMO 视频录制', c: '#7C3AED' },&#10;            { n: '般度五子', r: 'ComfyUI 部署与开发 · 图像 / 视频管线', c: '#F59E0B' },&#10;            { n: '馄饨', r: 'Web 前后台 · 审片台 · 积分系统', c: '#10B981' },&#10;        ].map((m, i) =&gt; (&#10;            &lt;Box key={i} style={{ flexDirection: 'row', alignItems: 'center', gap: '16px', padding: '16px 20px', background: '#FFFFFF', borderRadius: '12px', border: '1px solid #E6EAF1' }}&gt;&#10;                &lt;Box style={{ width: '42px', height: '42px', borderRadius: '21px', background: `${m.c}1A`, border: `1px solid ${m.c}55`, justifyContent: 'center', alignItems: 'center' }}&gt;&#10;                    &lt;Text style={{ fontSize: '15px', fontWeight: 'bold', color: m.c }}&gt;{m.n[0]}&lt;/Text&gt;&#10;                &lt;/Box&gt;&#10;                &lt;Box style={{ width: '170px' }}&gt;&#10;                    &lt;Text style={{ fontSize: '15.5px', fontWeight: 'bold', color: '#0B1220' }}&gt;{m.n}&lt;/Text&gt;&#10;                &lt;/Box&gt;&#10;                &lt;Text style={{ flex: 1, fontSize: '12.5px', color: '#5B6B84', lineHeight: 1.5 }}&gt;{m.r}&lt;/Text&gt;&#10;            &lt;/Box&gt;&#10;        ))}&#10;    &lt;/Box&gt;&#10;&#10;    &lt;Box style={{ position: 'absolute', top: '462px', left: '64px', width: '640px', padding: '20px 24px', background: '#FFFFFF', borderRadius: '14px', border: '1px solid #E6EAF1', flexDirection: 'column', gap: '11px' }}&gt;&#10;        &lt;Box style={{ flexDirection: 'row', alignItems: 'center', gap: '10px' }}&gt;&#10;            &lt;FAIcon name='code-branch' style={{ fill: '#2563EB', width: '14px', height: '14px' }} /&gt;&#10;            &lt;Text style={{ fontSize: '13px', color: '#42536B' }}&gt;开源协议：Apache License 2.0&lt;/Text&gt;&#10;        &lt;/Box&gt;&#10;        &lt;Box style={{ flexDirection: 'row', alignItems: 'center', gap: '10px' }}&gt;&#10;            &lt;FAIcon name='folder-open' style={{ fill: '#2563EB', width: '14px', height: '14px' }} /&gt;&#10;            &lt;Text style={{ fontSize: '13px', color: '#42536B' }}&gt;仓库：github.com/zhanghui-china/Kelvoy&lt;/Text&gt;&#10;        &lt;/Box&gt;&#10;        &lt;Box style={{ flexDirection: 'row', alignItems: 'flex-start', gap: '10px' }}&gt;&#10;            &lt;FAIcon name='handshake' style={{ fill: '#2563EB', width: '14px', height: '14px', marginTop: '2px' }} /&gt;&#10;            &lt;Text style={{ flex: 1, fontSize: '13px', color: '#42536B', lineHeight: 1.55 }}&gt;&#10;                感谢 NVIDIA DGX Spark 黑客松 · StepFun · Qwen-Image · MiniMax · ComfyUI · FFmpeg&#10;            &lt;/Text&gt;&#10;        &lt;/Box&gt;&#10;    &lt;/Box&gt;&#10;&#10;    &lt;Box style={{ position: 'absolute', top: '150px', right: '64px', width: '460px', height: '478px', padding: '36px 38px', borderRadius: '18px', background: 'linear-gradient(150deg,#0A1128 0%,#16233F 50%,#312E81 100%)', flexDirection: 'column', justifyContent: 'space-between', boxShadow: '0 12px 34px rgba(15,23,42,0.28)' }}&gt;&#10;        &lt;Box style={{ flexDirection: 'row', alignItems: 'center', gap: '12px' }}&gt;&#10;            &lt;Box style={{ width: '40px', height: '40px', borderRadius: '12px', background: 'linear-gradient(135deg,#60A5FA 0%,#2563EB 100%)', justifyContent: 'center', alignItems: 'center' }}&gt;&#10;                &lt;Text style={{ fontSize: '19px', fontWeight: 'bold', color: '#FFFFFF' }}&gt;旅&lt;/Text&gt;&#10;            &lt;/Box&gt;&#10;            &lt;Text style={{ fontSize: '16px', fontWeight: 600, color: '#FFFFFF', letterSpacing: '1px' }}&gt;可旅 Kelvoy&lt;/Text&gt;&#10;        &lt;/Box&gt;&#10;        &lt;Box style={{ flexDirection: 'column', gap: '18px' }}&gt;&#10;            &lt;Text style={{ fontSize: '27px', fontWeight: 'bold', color: '#FFFFFF', lineHeight: 1.45 }}&gt;&#10;                选一个角色，&lt;br /&gt;去一个真实的地方，&lt;br /&gt;&lt;span style={{ color: '#93C5FD' }}&gt;一期旅行 Vlog 自动生成。&lt;/span&gt;&#10;            &lt;/Text&gt;&#10;            &lt;Box style={{ width: '44px', height: '3px', borderRadius: '2px', background: 'linear-gradient(90deg,#60A5FA,#7C3AED)' }} /&gt;&#10;            &lt;Text style={{ fontSize: '16px', color: 'rgba(255,255,255,0.85)' }}&gt;可旅，让每一场旅行都有 vlog&lt;/Text&gt;&#10;        &lt;/Box&gt;&#10;        &lt;Box style={{ flexDirection: 'column', gap: '4px' }}&gt;&#10;            &lt;Text style={{ fontSize: '12px', color: 'rgba(255,255,255,0.6)' }}&gt;Kelvoy · AI 旅行 Vlog 生产工作台&lt;/Text&gt;&#10;            &lt;Text style={{ fontSize: '12px', color: 'rgba(255,255,255,0.6)' }}&gt;第三届 NVIDIA DGX Spark 黑客松&lt;/Text&gt;&#10;        &lt;/Box&gt;&#10;    &lt;/Box&gt;&#10;&#10;    &lt;Box style={{ position: 'absolute', bottom: '20px', left: '64px', right: '64px', flexDirection: 'row', justifyContent: 'space-between', alignItems: 'center' }}&gt;&#10;        &lt;Box style={{ flexDirection: 'row', alignItems: 'center', gap: '8px' }}&gt;&#10;            &lt;Box style={{ width: '18px', height: '18px', borderRadius: '5px', background: 'linear-gradient(135deg,#60A5FA,#2563EB)', justifyContent: 'center', alignItems: 'center' }}&gt;&#10;                &lt;Text style={{ fontSize: '10px', fontWeight: 'bold', color: '#FFFFFF' }}&gt;旅&lt;/Text&gt;&#10;            &lt;/Box&gt;&#10;            &lt;Text style={{ fontSize: '12px', color: '#8A97AB' }}&gt;可旅 Kelvoy · AI 旅行 Vlog 生产工作台&lt;/Text&gt;&#10;        &lt;/Box&gt;&#10;        &lt;Text style={{ fontSize: '12px', color: '#8A97AB' }}&gt;19 / 1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矩形 5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</p:spPr>
        <p:txBody>
          <a:bodyPr/>
          <a:p/>
        </p:txBody>
      </p:sp>
      <p:sp>
        <p:nvSpPr>
          <p:cNvPr id="527" name="矩形 526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609600" y="400050"/>
            <a:ext cx="8953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04 · </a:t>
            </a:r>
            <a:r>
              <a:rPr lang="zh-CN" sz="900" b="1" spc="15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现场演示</a:t>
            </a:r>
            <a:endParaRPr lang="zh-CN" sz="900" b="1" spc="15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10334625" y="409575"/>
            <a:ext cx="12477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225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TEAM &amp; THANKS</a:t>
            </a:r>
            <a:endParaRPr lang="en-US" sz="825" spc="225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0" name="文本框 529" descr="{&quot;isTemplate&quot;:true,&quot;type&quot;:&quot;text&quot;}"/>
          <p:cNvSpPr txBox="1"/>
          <p:nvPr/>
        </p:nvSpPr>
        <p:spPr>
          <a:xfrm>
            <a:off x="609600" y="647700"/>
            <a:ext cx="21621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Kelvoy </a:t>
            </a:r>
            <a:r>
              <a:rPr lang="zh-CN"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项目组</a:t>
            </a:r>
            <a:endParaRPr lang="zh-CN" sz="25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1" name="圆角矩形 530"/>
          <p:cNvSpPr/>
          <p:nvPr/>
        </p:nvSpPr>
        <p:spPr>
          <a:xfrm>
            <a:off x="609600" y="1104900"/>
            <a:ext cx="4191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532" name="圆角矩形 531"/>
          <p:cNvSpPr/>
          <p:nvPr/>
        </p:nvSpPr>
        <p:spPr>
          <a:xfrm>
            <a:off x="609600" y="1428750"/>
            <a:ext cx="60960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533" name="圆角矩形 532"/>
          <p:cNvSpPr/>
          <p:nvPr/>
        </p:nvSpPr>
        <p:spPr>
          <a:xfrm>
            <a:off x="800100" y="158115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2563EB">
              <a:alpha val="10196"/>
            </a:srgbClr>
          </a:solidFill>
          <a:ln w="12700">
            <a:solidFill>
              <a:srgbClr val="2563EB">
                <a:alpha val="33333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4" name="文本框 533" descr="{&quot;isTemplate&quot;:true,&quot;type&quot;:&quot;text&quot;}"/>
          <p:cNvSpPr txBox="1"/>
          <p:nvPr/>
        </p:nvSpPr>
        <p:spPr>
          <a:xfrm>
            <a:off x="933450" y="1695450"/>
            <a:ext cx="142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张</a:t>
            </a:r>
            <a:endParaRPr lang="zh-CN" sz="11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5" name="文本框 534" descr="{&quot;isTemplate&quot;:true,&quot;type&quot;:&quot;text&quot;}"/>
          <p:cNvSpPr txBox="1"/>
          <p:nvPr/>
        </p:nvSpPr>
        <p:spPr>
          <a:xfrm>
            <a:off x="1352550" y="1695450"/>
            <a:ext cx="161925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张小白（张辉）</a:t>
            </a:r>
            <a:endParaRPr lang="zh-CN" sz="116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6" name="文本框 535" descr="{&quot;isTemplate&quot;:true,&quot;type&quot;:&quot;text&quot;}"/>
          <p:cNvSpPr txBox="1"/>
          <p:nvPr/>
        </p:nvSpPr>
        <p:spPr>
          <a:xfrm>
            <a:off x="3124200" y="1676400"/>
            <a:ext cx="33909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队长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项目策划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· PRD ·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环境部署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演示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7" name="圆角矩形 536"/>
          <p:cNvSpPr/>
          <p:nvPr/>
        </p:nvSpPr>
        <p:spPr>
          <a:xfrm>
            <a:off x="609600" y="2228850"/>
            <a:ext cx="60960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538" name="圆角矩形 537"/>
          <p:cNvSpPr/>
          <p:nvPr/>
        </p:nvSpPr>
        <p:spPr>
          <a:xfrm>
            <a:off x="800100" y="238125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7C3AED">
              <a:alpha val="10196"/>
            </a:srgbClr>
          </a:solidFill>
          <a:ln w="12700">
            <a:solidFill>
              <a:srgbClr val="7C3AED">
                <a:alpha val="33333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9" name="文本框 538" descr="{&quot;isTemplate&quot;:true,&quot;type&quot;:&quot;text&quot;}"/>
          <p:cNvSpPr txBox="1"/>
          <p:nvPr/>
        </p:nvSpPr>
        <p:spPr>
          <a:xfrm>
            <a:off x="933450" y="2495550"/>
            <a:ext cx="142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小</a:t>
            </a:r>
            <a:endParaRPr lang="zh-CN" sz="1125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0" name="文本框 539" descr="{&quot;isTemplate&quot;:true,&quot;type&quot;:&quot;text&quot;}"/>
          <p:cNvSpPr txBox="1"/>
          <p:nvPr/>
        </p:nvSpPr>
        <p:spPr>
          <a:xfrm>
            <a:off x="1352550" y="2495550"/>
            <a:ext cx="161925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小腾子</a:t>
            </a:r>
            <a:endParaRPr lang="zh-CN" sz="116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1" name="文本框 540" descr="{&quot;isTemplate&quot;:true,&quot;type&quot;:&quot;text&quot;}"/>
          <p:cNvSpPr txBox="1"/>
          <p:nvPr/>
        </p:nvSpPr>
        <p:spPr>
          <a:xfrm>
            <a:off x="3124200" y="2476500"/>
            <a:ext cx="33909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原型设计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· DEMO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视频录制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2" name="圆角矩形 541"/>
          <p:cNvSpPr/>
          <p:nvPr/>
        </p:nvSpPr>
        <p:spPr>
          <a:xfrm>
            <a:off x="609600" y="3028950"/>
            <a:ext cx="60960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543" name="圆角矩形 542"/>
          <p:cNvSpPr/>
          <p:nvPr/>
        </p:nvSpPr>
        <p:spPr>
          <a:xfrm>
            <a:off x="800100" y="318135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F59E0B">
              <a:alpha val="10196"/>
            </a:srgbClr>
          </a:solidFill>
          <a:ln w="12700">
            <a:solidFill>
              <a:srgbClr val="F59E0B">
                <a:alpha val="33333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4" name="文本框 543" descr="{&quot;isTemplate&quot;:true,&quot;type&quot;:&quot;text&quot;}"/>
          <p:cNvSpPr txBox="1"/>
          <p:nvPr/>
        </p:nvSpPr>
        <p:spPr>
          <a:xfrm>
            <a:off x="933450" y="3295650"/>
            <a:ext cx="142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般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5" name="文本框 544" descr="{&quot;isTemplate&quot;:true,&quot;type&quot;:&quot;text&quot;}"/>
          <p:cNvSpPr txBox="1"/>
          <p:nvPr/>
        </p:nvSpPr>
        <p:spPr>
          <a:xfrm>
            <a:off x="1352550" y="3295650"/>
            <a:ext cx="161925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般度五子</a:t>
            </a:r>
            <a:endParaRPr lang="zh-CN" sz="116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6" name="文本框 545" descr="{&quot;isTemplate&quot;:true,&quot;type&quot;:&quot;text&quot;}"/>
          <p:cNvSpPr txBox="1"/>
          <p:nvPr/>
        </p:nvSpPr>
        <p:spPr>
          <a:xfrm>
            <a:off x="3124200" y="3276600"/>
            <a:ext cx="33909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ComfyUI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部署与开发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图像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视频管线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7" name="圆角矩形 546"/>
          <p:cNvSpPr/>
          <p:nvPr/>
        </p:nvSpPr>
        <p:spPr>
          <a:xfrm>
            <a:off x="609600" y="3829050"/>
            <a:ext cx="60960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sp>
        <p:nvSpPr>
          <p:cNvPr id="548" name="圆角矩形 547"/>
          <p:cNvSpPr/>
          <p:nvPr/>
        </p:nvSpPr>
        <p:spPr>
          <a:xfrm>
            <a:off x="800100" y="398145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10B981">
              <a:alpha val="10196"/>
            </a:srgbClr>
          </a:solidFill>
          <a:ln w="12700">
            <a:solidFill>
              <a:srgbClr val="10B981">
                <a:alpha val="33333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9" name="文本框 548" descr="{&quot;isTemplate&quot;:true,&quot;type&quot;:&quot;text&quot;}"/>
          <p:cNvSpPr txBox="1"/>
          <p:nvPr/>
        </p:nvSpPr>
        <p:spPr>
          <a:xfrm>
            <a:off x="933450" y="4095750"/>
            <a:ext cx="142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</a:rPr>
              <a:t>馄</a:t>
            </a:r>
            <a:endParaRPr lang="zh-CN" sz="1125" b="1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0" name="文本框 549" descr="{&quot;isTemplate&quot;:true,&quot;type&quot;:&quot;text&quot;}"/>
          <p:cNvSpPr txBox="1"/>
          <p:nvPr/>
        </p:nvSpPr>
        <p:spPr>
          <a:xfrm>
            <a:off x="1352550" y="4095750"/>
            <a:ext cx="161925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5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</a:rPr>
              <a:t>馄饨</a:t>
            </a:r>
            <a:endParaRPr lang="zh-CN" sz="1165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1" name="文本框 550" descr="{&quot;isTemplate&quot;:true,&quot;type&quot;:&quot;text&quot;}"/>
          <p:cNvSpPr txBox="1"/>
          <p:nvPr/>
        </p:nvSpPr>
        <p:spPr>
          <a:xfrm>
            <a:off x="3124200" y="4076700"/>
            <a:ext cx="33909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Web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前后台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审片台</a:t>
            </a:r>
            <a:r>
              <a:rPr lang="en-US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>
                <a:solidFill>
                  <a:srgbClr val="5B6B84"/>
                </a:solidFill>
                <a:latin typeface="微软雅黑" panose="020B0503020204020204" charset="-122"/>
                <a:ea typeface="微软雅黑" panose="020B0503020204020204" charset="-122"/>
              </a:rPr>
              <a:t>积分系统</a:t>
            </a:r>
            <a:endParaRPr lang="zh-CN" sz="940">
              <a:solidFill>
                <a:srgbClr val="5B6B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2" name="圆角矩形 551"/>
          <p:cNvSpPr/>
          <p:nvPr/>
        </p:nvSpPr>
        <p:spPr>
          <a:xfrm>
            <a:off x="609600" y="4400550"/>
            <a:ext cx="6096000" cy="113347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</p:spPr>
        <p:txBody>
          <a:bodyPr/>
          <a:p/>
        </p:txBody>
      </p:sp>
      <p:pic>
        <p:nvPicPr>
          <p:cNvPr id="553" name="图片 55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4600575"/>
            <a:ext cx="133350" cy="133350"/>
          </a:xfrm>
          <a:prstGeom prst="rect">
            <a:avLst/>
          </a:prstGeom>
        </p:spPr>
      </p:pic>
      <p:sp>
        <p:nvSpPr>
          <p:cNvPr id="554" name="文本框 553" descr="{&quot;isTemplate&quot;:true,&quot;type&quot;:&quot;text&quot;}"/>
          <p:cNvSpPr txBox="1"/>
          <p:nvPr/>
        </p:nvSpPr>
        <p:spPr>
          <a:xfrm>
            <a:off x="1066800" y="4591050"/>
            <a:ext cx="1743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开源协议：</a:t>
            </a:r>
            <a:r>
              <a:rPr lang="en-US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Apache License 2.0</a:t>
            </a:r>
            <a:endParaRPr lang="en-US" sz="975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55" name="图片 55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4857750"/>
            <a:ext cx="133350" cy="133350"/>
          </a:xfrm>
          <a:prstGeom prst="rect">
            <a:avLst/>
          </a:prstGeom>
        </p:spPr>
      </p:pic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1066800" y="4848225"/>
            <a:ext cx="2466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仓库：</a:t>
            </a:r>
            <a:r>
              <a:rPr lang="en-US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github.com/zhanghui-china/Kelvoy</a:t>
            </a:r>
            <a:endParaRPr lang="en-US" sz="975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57" name="图片 55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" y="5124450"/>
            <a:ext cx="133350" cy="133350"/>
          </a:xfrm>
          <a:prstGeom prst="rect">
            <a:avLst/>
          </a:prstGeom>
        </p:spPr>
      </p:pic>
      <p:sp>
        <p:nvSpPr>
          <p:cNvPr id="558" name="文本框 557" descr="{&quot;isTemplate&quot;:true,&quot;type&quot;:&quot;text&quot;}"/>
          <p:cNvSpPr txBox="1"/>
          <p:nvPr/>
        </p:nvSpPr>
        <p:spPr>
          <a:xfrm>
            <a:off x="1066800" y="5105400"/>
            <a:ext cx="54102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感谢</a:t>
            </a:r>
            <a:r>
              <a:rPr lang="en-US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 NVIDIA DGX Spark </a:t>
            </a:r>
            <a:r>
              <a:rPr lang="zh-CN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黑客松</a:t>
            </a:r>
            <a:r>
              <a:rPr lang="en-US" sz="975">
                <a:solidFill>
                  <a:srgbClr val="42536B"/>
                </a:solidFill>
                <a:latin typeface="微软雅黑" panose="020B0503020204020204" charset="-122"/>
                <a:ea typeface="微软雅黑" panose="020B0503020204020204" charset="-122"/>
              </a:rPr>
              <a:t> · StepFun · Qwen-Image · MiniMax · ComfyUI · FFmpeg</a:t>
            </a:r>
            <a:endParaRPr lang="en-US" sz="975">
              <a:solidFill>
                <a:srgbClr val="425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9" name="圆角矩形 558"/>
          <p:cNvSpPr/>
          <p:nvPr/>
        </p:nvSpPr>
        <p:spPr>
          <a:xfrm>
            <a:off x="7200900" y="1428750"/>
            <a:ext cx="4381500" cy="4552950"/>
          </a:xfrm>
          <a:prstGeom prst="roundRect">
            <a:avLst>
              <a:gd name="adj" fmla="val 3913"/>
            </a:avLst>
          </a:prstGeom>
          <a:gradFill>
            <a:gsLst>
              <a:gs pos="0">
                <a:srgbClr val="0A1128"/>
              </a:gs>
              <a:gs pos="50000">
                <a:srgbClr val="16233F"/>
              </a:gs>
              <a:gs pos="100000">
                <a:srgbClr val="312E81"/>
              </a:gs>
            </a:gsLst>
            <a:lin ang="3600000" scaled="1"/>
          </a:gradFill>
          <a:effectLst>
            <a:outerShdw blurRad="323850" dist="114300" dir="5400000">
              <a:srgbClr val="0F172A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60" name="圆角矩形 559"/>
          <p:cNvSpPr/>
          <p:nvPr/>
        </p:nvSpPr>
        <p:spPr>
          <a:xfrm>
            <a:off x="7562850" y="1771650"/>
            <a:ext cx="381000" cy="381000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60A5FA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561" name="文本框 560" descr="{&quot;isTemplate&quot;:true,&quot;type&quot;:&quot;text&quot;}"/>
          <p:cNvSpPr txBox="1"/>
          <p:nvPr/>
        </p:nvSpPr>
        <p:spPr>
          <a:xfrm>
            <a:off x="7667625" y="1857375"/>
            <a:ext cx="1809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旅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2" name="文本框 561" descr="{&quot;isTemplate&quot;:true,&quot;type&quot;:&quot;text&quot;}"/>
          <p:cNvSpPr txBox="1"/>
          <p:nvPr/>
        </p:nvSpPr>
        <p:spPr>
          <a:xfrm>
            <a:off x="8058150" y="1866900"/>
            <a:ext cx="952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1200" b="1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Kelvoy</a:t>
            </a:r>
            <a:endParaRPr lang="en-US" sz="1200" b="1" spc="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3" name="文本框 562" descr="{&quot;isTemplate&quot;:true,&quot;type&quot;:&quot;text&quot;}"/>
          <p:cNvSpPr txBox="1"/>
          <p:nvPr/>
        </p:nvSpPr>
        <p:spPr>
          <a:xfrm>
            <a:off x="7562850" y="2781300"/>
            <a:ext cx="3657600" cy="1343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选一个角色，</a:t>
            </a:r>
            <a:endParaRPr lang="zh-CN"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5000"/>
              </a:lnSpc>
            </a:pPr>
            <a:r>
              <a:rPr lang="zh-CN"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去一个真实的地方，</a:t>
            </a:r>
            <a:endParaRPr lang="zh-CN"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5000"/>
              </a:lnSpc>
            </a:pPr>
            <a:r>
              <a:rPr lang="zh-CN" sz="2025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一期旅行</a:t>
            </a:r>
            <a:r>
              <a:rPr lang="en-US" sz="2025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2025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自动生成。</a:t>
            </a:r>
            <a:endParaRPr lang="zh-CN" sz="2025" b="1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4" name="圆角矩形 563"/>
          <p:cNvSpPr/>
          <p:nvPr/>
        </p:nvSpPr>
        <p:spPr>
          <a:xfrm>
            <a:off x="7562850" y="4295775"/>
            <a:ext cx="4191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60A5FA"/>
              </a:gs>
              <a:gs pos="100000">
                <a:srgbClr val="7C3AED"/>
              </a:gs>
            </a:gsLst>
            <a:lin ang="0" scaled="1"/>
          </a:gradFill>
        </p:spPr>
        <p:txBody>
          <a:bodyPr/>
          <a:p/>
        </p:txBody>
      </p:sp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7562850" y="4495800"/>
            <a:ext cx="3657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可旅，让每一场旅行都有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vlog</a:t>
            </a:r>
            <a:endParaRPr lang="en-US" sz="120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6" name="文本框 565" descr="{&quot;isTemplate&quot;:true,&quot;type&quot;:&quot;text&quot;}"/>
          <p:cNvSpPr txBox="1"/>
          <p:nvPr/>
        </p:nvSpPr>
        <p:spPr>
          <a:xfrm>
            <a:off x="7562850" y="5314950"/>
            <a:ext cx="3657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Kelvoy · AI </a:t>
            </a:r>
            <a:r>
              <a:rPr lang="zh-CN" sz="90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0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0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00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7" name="文本框 566" descr="{&quot;isTemplate&quot;:true,&quot;type&quot;:&quot;text&quot;}"/>
          <p:cNvSpPr txBox="1"/>
          <p:nvPr/>
        </p:nvSpPr>
        <p:spPr>
          <a:xfrm>
            <a:off x="7562850" y="5495925"/>
            <a:ext cx="3657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第三届</a:t>
            </a:r>
            <a:r>
              <a:rPr lang="en-US" sz="90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NVIDIA DGX Spark </a:t>
            </a:r>
            <a:r>
              <a:rPr lang="zh-CN" sz="90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黑客松</a:t>
            </a:r>
            <a:endParaRPr lang="zh-CN" sz="900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8" name="圆角矩形 567"/>
          <p:cNvSpPr/>
          <p:nvPr/>
        </p:nvSpPr>
        <p:spPr>
          <a:xfrm>
            <a:off x="609600" y="6496050"/>
            <a:ext cx="171450" cy="171450"/>
          </a:xfrm>
          <a:prstGeom prst="roundRect">
            <a:avLst>
              <a:gd name="adj" fmla="val 27778"/>
            </a:avLst>
          </a:prstGeom>
          <a:gradFill>
            <a:gsLst>
              <a:gs pos="0">
                <a:srgbClr val="60A5FA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569" name="文本框 568" descr="{&quot;isTemplate&quot;:true,&quot;type&quot;:&quot;text&quot;}"/>
          <p:cNvSpPr txBox="1"/>
          <p:nvPr/>
        </p:nvSpPr>
        <p:spPr>
          <a:xfrm>
            <a:off x="647700" y="6524625"/>
            <a:ext cx="952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旅</a:t>
            </a:r>
            <a:endParaRPr lang="zh-CN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857250" y="6515100"/>
            <a:ext cx="1990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可旅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Kelvoy · AI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旅行</a:t>
            </a: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 Vlog </a:t>
            </a:r>
            <a:r>
              <a:rPr lang="zh-CN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生产工作台</a:t>
            </a:r>
            <a:endParaRPr lang="zh-CN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1" name="文本框 570" descr="{&quot;isTemplate&quot;:true,&quot;type&quot;:&quot;text&quot;}"/>
          <p:cNvSpPr txBox="1"/>
          <p:nvPr/>
        </p:nvSpPr>
        <p:spPr>
          <a:xfrm>
            <a:off x="11191875" y="6515100"/>
            <a:ext cx="390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7AB"/>
                </a:solidFill>
                <a:latin typeface="微软雅黑" panose="020B0503020204020204" charset="-122"/>
                <a:ea typeface="微软雅黑" panose="020B0503020204020204" charset="-122"/>
              </a:rPr>
              <a:t>19 / 19</a:t>
            </a:r>
            <a:endParaRPr lang="en-US" sz="900">
              <a:solidFill>
                <a:srgbClr val="8A97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6179</Words>
  <Application>WPS 演示</Application>
  <PresentationFormat/>
  <Paragraphs>1004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zhanghui</cp:lastModifiedBy>
  <cp:revision>3</cp:revision>
  <dcterms:created xsi:type="dcterms:W3CDTF">2026-09-29T10:35:00Z</dcterms:created>
  <dcterms:modified xsi:type="dcterms:W3CDTF">2026-09-29T21:43:27Z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1B74FF7B37374D6394115EA4A00DAC85_13</vt:lpwstr>
  </property>
</Properties>
</file>